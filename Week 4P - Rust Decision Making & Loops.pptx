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27"/>
  </p:notesMasterIdLst>
  <p:sldIdLst>
    <p:sldId id="256" r:id="rId2"/>
    <p:sldId id="336" r:id="rId3"/>
    <p:sldId id="348" r:id="rId4"/>
    <p:sldId id="340" r:id="rId5"/>
    <p:sldId id="337" r:id="rId6"/>
    <p:sldId id="347" r:id="rId7"/>
    <p:sldId id="339" r:id="rId8"/>
    <p:sldId id="338" r:id="rId9"/>
    <p:sldId id="341" r:id="rId10"/>
    <p:sldId id="342" r:id="rId11"/>
    <p:sldId id="343" r:id="rId12"/>
    <p:sldId id="344" r:id="rId13"/>
    <p:sldId id="345" r:id="rId14"/>
    <p:sldId id="346" r:id="rId15"/>
    <p:sldId id="349" r:id="rId16"/>
    <p:sldId id="350" r:id="rId17"/>
    <p:sldId id="351" r:id="rId18"/>
    <p:sldId id="352" r:id="rId19"/>
    <p:sldId id="353" r:id="rId20"/>
    <p:sldId id="354" r:id="rId21"/>
    <p:sldId id="355" r:id="rId22"/>
    <p:sldId id="356" r:id="rId23"/>
    <p:sldId id="305" r:id="rId24"/>
    <p:sldId id="357" r:id="rId25"/>
    <p:sldId id="358" r:id="rId26"/>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003300"/>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AD6A89-2738-08E7-1424-94C4A95F1B41}" v="5" dt="2025-10-22T15:24:58.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71EEBF-8B78-459D-A605-E714EB1B777E}" type="doc">
      <dgm:prSet loTypeId="urn:microsoft.com/office/officeart/2005/8/layout/target3" loCatId="list" qsTypeId="urn:microsoft.com/office/officeart/2005/8/quickstyle/simple1" qsCatId="simple" csTypeId="urn:microsoft.com/office/officeart/2005/8/colors/accent1_2" csCatId="accent1" phldr="1"/>
      <dgm:spPr/>
      <dgm:t>
        <a:bodyPr/>
        <a:lstStyle/>
        <a:p>
          <a:endParaRPr lang="en-US"/>
        </a:p>
      </dgm:t>
    </dgm:pt>
    <dgm:pt modelId="{3570C419-E875-4A30-AA9C-174F09B913BE}">
      <dgm:prSet phldrT="[Text]"/>
      <dgm:spPr/>
      <dgm:t>
        <a:bodyPr/>
        <a:lstStyle/>
        <a:p>
          <a:r>
            <a:rPr lang="en-US" b="1" i="0"/>
            <a:t>Import the </a:t>
          </a:r>
          <a:r>
            <a:rPr lang="en-US" b="1" i="0" err="1">
              <a:solidFill>
                <a:srgbClr val="FF0000"/>
              </a:solidFill>
            </a:rPr>
            <a:t>std</a:t>
          </a:r>
          <a:r>
            <a:rPr lang="en-US" b="1" i="0">
              <a:solidFill>
                <a:srgbClr val="FF0000"/>
              </a:solidFill>
            </a:rPr>
            <a:t>::</a:t>
          </a:r>
          <a:r>
            <a:rPr lang="en-US" b="1" i="0" err="1">
              <a:solidFill>
                <a:srgbClr val="FF0000"/>
              </a:solidFill>
            </a:rPr>
            <a:t>io</a:t>
          </a:r>
          <a:r>
            <a:rPr lang="en-US" b="1" i="0"/>
            <a:t> crate</a:t>
          </a:r>
          <a:endParaRPr lang="en-US"/>
        </a:p>
      </dgm:t>
    </dgm:pt>
    <dgm:pt modelId="{43ABC761-335D-47E1-BC66-EC6B3ECE5040}" type="parTrans" cxnId="{B9444009-4A02-40DF-8833-0D4F7EBC204B}">
      <dgm:prSet/>
      <dgm:spPr/>
      <dgm:t>
        <a:bodyPr/>
        <a:lstStyle/>
        <a:p>
          <a:endParaRPr lang="en-US"/>
        </a:p>
      </dgm:t>
    </dgm:pt>
    <dgm:pt modelId="{E7E7207C-4992-482B-A16E-EB1DCB7EC2D8}" type="sibTrans" cxnId="{B9444009-4A02-40DF-8833-0D4F7EBC204B}">
      <dgm:prSet/>
      <dgm:spPr/>
      <dgm:t>
        <a:bodyPr/>
        <a:lstStyle/>
        <a:p>
          <a:endParaRPr lang="en-US"/>
        </a:p>
      </dgm:t>
    </dgm:pt>
    <dgm:pt modelId="{71362BDE-2566-493A-BDF7-9784913E61E5}">
      <dgm:prSet/>
      <dgm:spPr/>
      <dgm:t>
        <a:bodyPr/>
        <a:lstStyle/>
        <a:p>
          <a:r>
            <a:rPr lang="en-US" b="1" i="0"/>
            <a:t>Generate a mutable String variable</a:t>
          </a:r>
          <a:endParaRPr lang="en-US" b="0" i="0"/>
        </a:p>
      </dgm:t>
    </dgm:pt>
    <dgm:pt modelId="{5CEC37C3-29BD-498D-80A9-85DE5B4F5397}" type="parTrans" cxnId="{14B6CFC9-6AEF-4694-91A9-5BA2367753CC}">
      <dgm:prSet/>
      <dgm:spPr/>
      <dgm:t>
        <a:bodyPr/>
        <a:lstStyle/>
        <a:p>
          <a:endParaRPr lang="en-US"/>
        </a:p>
      </dgm:t>
    </dgm:pt>
    <dgm:pt modelId="{C907DF41-A061-4D5E-A16D-07429B9EDB8D}" type="sibTrans" cxnId="{14B6CFC9-6AEF-4694-91A9-5BA2367753CC}">
      <dgm:prSet/>
      <dgm:spPr/>
      <dgm:t>
        <a:bodyPr/>
        <a:lstStyle/>
        <a:p>
          <a:endParaRPr lang="en-US"/>
        </a:p>
      </dgm:t>
    </dgm:pt>
    <dgm:pt modelId="{13D60AAB-24C2-4FA8-A162-A673B59AED79}">
      <dgm:prSet/>
      <dgm:spPr/>
      <dgm:t>
        <a:bodyPr/>
        <a:lstStyle/>
        <a:p>
          <a:r>
            <a:rPr lang="en-US" b="1" i="0"/>
            <a:t>Generate a variable </a:t>
          </a:r>
          <a:r>
            <a:rPr lang="en-US" b="1" i="0" err="1">
              <a:solidFill>
                <a:srgbClr val="FF0000"/>
              </a:solidFill>
            </a:rPr>
            <a:t>stdin</a:t>
          </a:r>
          <a:r>
            <a:rPr lang="en-US" b="1" i="0"/>
            <a:t> with an instance of </a:t>
          </a:r>
          <a:r>
            <a:rPr lang="en-US" b="1" i="0" err="1">
              <a:solidFill>
                <a:schemeClr val="accent2"/>
              </a:solidFill>
            </a:rPr>
            <a:t>io</a:t>
          </a:r>
          <a:r>
            <a:rPr lang="en-US" b="1" i="0">
              <a:solidFill>
                <a:schemeClr val="accent2"/>
              </a:solidFill>
            </a:rPr>
            <a:t>::</a:t>
          </a:r>
          <a:r>
            <a:rPr lang="en-US" b="1" i="0" err="1">
              <a:solidFill>
                <a:schemeClr val="accent2"/>
              </a:solidFill>
            </a:rPr>
            <a:t>stdin</a:t>
          </a:r>
          <a:r>
            <a:rPr lang="en-US" b="1" i="0">
              <a:solidFill>
                <a:schemeClr val="accent2"/>
              </a:solidFill>
            </a:rPr>
            <a:t>()</a:t>
          </a:r>
          <a:endParaRPr lang="en-US" b="0" i="0">
            <a:solidFill>
              <a:schemeClr val="accent2"/>
            </a:solidFill>
          </a:endParaRPr>
        </a:p>
      </dgm:t>
    </dgm:pt>
    <dgm:pt modelId="{E4D55A22-6924-45C7-9B07-21AC5A0CD4E4}" type="parTrans" cxnId="{1C9A64B9-BF64-4895-98CA-824505DC2166}">
      <dgm:prSet/>
      <dgm:spPr/>
      <dgm:t>
        <a:bodyPr/>
        <a:lstStyle/>
        <a:p>
          <a:endParaRPr lang="en-US"/>
        </a:p>
      </dgm:t>
    </dgm:pt>
    <dgm:pt modelId="{A6B985D0-2286-4810-8C72-FA2D80AF26A3}" type="sibTrans" cxnId="{1C9A64B9-BF64-4895-98CA-824505DC2166}">
      <dgm:prSet/>
      <dgm:spPr/>
      <dgm:t>
        <a:bodyPr/>
        <a:lstStyle/>
        <a:p>
          <a:endParaRPr lang="en-US"/>
        </a:p>
      </dgm:t>
    </dgm:pt>
    <dgm:pt modelId="{1B969E4D-6F19-4875-82E6-7FC7D23735FE}">
      <dgm:prSet/>
      <dgm:spPr/>
      <dgm:t>
        <a:bodyPr/>
        <a:lstStyle/>
        <a:p>
          <a:r>
            <a:rPr lang="en-US" b="1" i="0"/>
            <a:t>Trigger the method </a:t>
          </a:r>
          <a:r>
            <a:rPr lang="en-US" b="1" i="0">
              <a:solidFill>
                <a:srgbClr val="FF0000"/>
              </a:solidFill>
            </a:rPr>
            <a:t>.</a:t>
          </a:r>
          <a:r>
            <a:rPr lang="en-US" b="1" i="0" err="1">
              <a:solidFill>
                <a:srgbClr val="FF0000"/>
              </a:solidFill>
            </a:rPr>
            <a:t>read_line</a:t>
          </a:r>
          <a:r>
            <a:rPr lang="en-US" b="1" i="0">
              <a:solidFill>
                <a:srgbClr val="FF0000"/>
              </a:solidFill>
            </a:rPr>
            <a:t>()</a:t>
          </a:r>
          <a:r>
            <a:rPr lang="en-US" b="1" i="0"/>
            <a:t> from </a:t>
          </a:r>
          <a:r>
            <a:rPr lang="en-US" b="1" i="0" err="1">
              <a:solidFill>
                <a:srgbClr val="FF0000"/>
              </a:solidFill>
            </a:rPr>
            <a:t>stdin</a:t>
          </a:r>
          <a:endParaRPr lang="en-US" b="0" i="0">
            <a:solidFill>
              <a:srgbClr val="FF0000"/>
            </a:solidFill>
          </a:endParaRPr>
        </a:p>
      </dgm:t>
    </dgm:pt>
    <dgm:pt modelId="{B8755EF1-7CAB-47AB-A853-74D38A14AC23}" type="parTrans" cxnId="{DEEC274B-7A4C-4109-B6FC-C1D351D6DDD7}">
      <dgm:prSet/>
      <dgm:spPr/>
      <dgm:t>
        <a:bodyPr/>
        <a:lstStyle/>
        <a:p>
          <a:endParaRPr lang="en-US"/>
        </a:p>
      </dgm:t>
    </dgm:pt>
    <dgm:pt modelId="{8B77E583-EAE4-4DB7-B09F-030B5031C660}" type="sibTrans" cxnId="{DEEC274B-7A4C-4109-B6FC-C1D351D6DDD7}">
      <dgm:prSet/>
      <dgm:spPr/>
      <dgm:t>
        <a:bodyPr/>
        <a:lstStyle/>
        <a:p>
          <a:endParaRPr lang="en-US"/>
        </a:p>
      </dgm:t>
    </dgm:pt>
    <dgm:pt modelId="{1D2FA4E1-FC44-450D-B949-72FA07065D97}">
      <dgm:prSet/>
      <dgm:spPr/>
      <dgm:t>
        <a:bodyPr/>
        <a:lstStyle/>
        <a:p>
          <a:r>
            <a:rPr lang="en-US" b="1" i="0"/>
            <a:t>Run your code: read the user input</a:t>
          </a:r>
          <a:endParaRPr lang="en-US" b="0" i="0"/>
        </a:p>
      </dgm:t>
    </dgm:pt>
    <dgm:pt modelId="{EF63E751-91F6-47D2-9BB6-72C1488B58A8}" type="parTrans" cxnId="{BEF6502D-3303-4429-957A-9B9023B26503}">
      <dgm:prSet/>
      <dgm:spPr/>
      <dgm:t>
        <a:bodyPr/>
        <a:lstStyle/>
        <a:p>
          <a:endParaRPr lang="en-US"/>
        </a:p>
      </dgm:t>
    </dgm:pt>
    <dgm:pt modelId="{C970ABDF-9BA3-419A-8BCE-F0B49C7E6DA6}" type="sibTrans" cxnId="{BEF6502D-3303-4429-957A-9B9023B26503}">
      <dgm:prSet/>
      <dgm:spPr/>
      <dgm:t>
        <a:bodyPr/>
        <a:lstStyle/>
        <a:p>
          <a:endParaRPr lang="en-US"/>
        </a:p>
      </dgm:t>
    </dgm:pt>
    <dgm:pt modelId="{B1323536-2999-444A-83C8-B56DB48A8DCB}" type="pres">
      <dgm:prSet presAssocID="{BB71EEBF-8B78-459D-A605-E714EB1B777E}" presName="Name0" presStyleCnt="0">
        <dgm:presLayoutVars>
          <dgm:chMax val="7"/>
          <dgm:dir/>
          <dgm:animLvl val="lvl"/>
          <dgm:resizeHandles val="exact"/>
        </dgm:presLayoutVars>
      </dgm:prSet>
      <dgm:spPr/>
    </dgm:pt>
    <dgm:pt modelId="{949F1A00-9006-4FEE-9501-3D51EC0DE9E6}" type="pres">
      <dgm:prSet presAssocID="{3570C419-E875-4A30-AA9C-174F09B913BE}" presName="circle1" presStyleLbl="node1" presStyleIdx="0" presStyleCnt="5"/>
      <dgm:spPr/>
    </dgm:pt>
    <dgm:pt modelId="{2DAFD44C-59A8-4C30-AF6E-5E5FEF33ACD9}" type="pres">
      <dgm:prSet presAssocID="{3570C419-E875-4A30-AA9C-174F09B913BE}" presName="space" presStyleCnt="0"/>
      <dgm:spPr/>
    </dgm:pt>
    <dgm:pt modelId="{B9E781E2-5CFA-42E0-A99A-3FC985867A8E}" type="pres">
      <dgm:prSet presAssocID="{3570C419-E875-4A30-AA9C-174F09B913BE}" presName="rect1" presStyleLbl="alignAcc1" presStyleIdx="0" presStyleCnt="5"/>
      <dgm:spPr/>
    </dgm:pt>
    <dgm:pt modelId="{7222771D-E7BF-4D10-A50F-B0AB93EB2E60}" type="pres">
      <dgm:prSet presAssocID="{71362BDE-2566-493A-BDF7-9784913E61E5}" presName="vertSpace2" presStyleLbl="node1" presStyleIdx="0" presStyleCnt="5"/>
      <dgm:spPr/>
    </dgm:pt>
    <dgm:pt modelId="{F5C630EE-A522-416B-BB60-90DEED99CA49}" type="pres">
      <dgm:prSet presAssocID="{71362BDE-2566-493A-BDF7-9784913E61E5}" presName="circle2" presStyleLbl="node1" presStyleIdx="1" presStyleCnt="5"/>
      <dgm:spPr/>
    </dgm:pt>
    <dgm:pt modelId="{FCAD2939-F740-47AE-99F2-4F680576E494}" type="pres">
      <dgm:prSet presAssocID="{71362BDE-2566-493A-BDF7-9784913E61E5}" presName="rect2" presStyleLbl="alignAcc1" presStyleIdx="1" presStyleCnt="5"/>
      <dgm:spPr/>
    </dgm:pt>
    <dgm:pt modelId="{BC32D17C-44DB-4AD5-AD48-AD543A13A2D1}" type="pres">
      <dgm:prSet presAssocID="{13D60AAB-24C2-4FA8-A162-A673B59AED79}" presName="vertSpace3" presStyleLbl="node1" presStyleIdx="1" presStyleCnt="5"/>
      <dgm:spPr/>
    </dgm:pt>
    <dgm:pt modelId="{0424121F-E505-49B0-9C1B-0ACAFFD797DC}" type="pres">
      <dgm:prSet presAssocID="{13D60AAB-24C2-4FA8-A162-A673B59AED79}" presName="circle3" presStyleLbl="node1" presStyleIdx="2" presStyleCnt="5"/>
      <dgm:spPr/>
    </dgm:pt>
    <dgm:pt modelId="{9D0ADDF7-9817-4DB2-AB9E-F3A6BEC19729}" type="pres">
      <dgm:prSet presAssocID="{13D60AAB-24C2-4FA8-A162-A673B59AED79}" presName="rect3" presStyleLbl="alignAcc1" presStyleIdx="2" presStyleCnt="5"/>
      <dgm:spPr/>
    </dgm:pt>
    <dgm:pt modelId="{E57E8F95-88E2-477B-849A-591FBC38E4D6}" type="pres">
      <dgm:prSet presAssocID="{1B969E4D-6F19-4875-82E6-7FC7D23735FE}" presName="vertSpace4" presStyleLbl="node1" presStyleIdx="2" presStyleCnt="5"/>
      <dgm:spPr/>
    </dgm:pt>
    <dgm:pt modelId="{8E90949B-ACF0-4111-8AC8-C226113EE581}" type="pres">
      <dgm:prSet presAssocID="{1B969E4D-6F19-4875-82E6-7FC7D23735FE}" presName="circle4" presStyleLbl="node1" presStyleIdx="3" presStyleCnt="5"/>
      <dgm:spPr/>
    </dgm:pt>
    <dgm:pt modelId="{C65CAE10-FAD1-4E8A-B3EE-9DCD2A0186C2}" type="pres">
      <dgm:prSet presAssocID="{1B969E4D-6F19-4875-82E6-7FC7D23735FE}" presName="rect4" presStyleLbl="alignAcc1" presStyleIdx="3" presStyleCnt="5"/>
      <dgm:spPr/>
    </dgm:pt>
    <dgm:pt modelId="{BE9B42AF-CAF5-42EE-9EC8-7F08A8228AED}" type="pres">
      <dgm:prSet presAssocID="{1D2FA4E1-FC44-450D-B949-72FA07065D97}" presName="vertSpace5" presStyleLbl="node1" presStyleIdx="3" presStyleCnt="5"/>
      <dgm:spPr/>
    </dgm:pt>
    <dgm:pt modelId="{36D68D8F-FEF4-463B-BC81-A05EAD163AA3}" type="pres">
      <dgm:prSet presAssocID="{1D2FA4E1-FC44-450D-B949-72FA07065D97}" presName="circle5" presStyleLbl="node1" presStyleIdx="4" presStyleCnt="5"/>
      <dgm:spPr/>
    </dgm:pt>
    <dgm:pt modelId="{0036FF65-0173-47DB-9277-8521D5BDA61D}" type="pres">
      <dgm:prSet presAssocID="{1D2FA4E1-FC44-450D-B949-72FA07065D97}" presName="rect5" presStyleLbl="alignAcc1" presStyleIdx="4" presStyleCnt="5"/>
      <dgm:spPr/>
    </dgm:pt>
    <dgm:pt modelId="{98F470AD-A4B1-4F11-8D25-6816C851386B}" type="pres">
      <dgm:prSet presAssocID="{3570C419-E875-4A30-AA9C-174F09B913BE}" presName="rect1ParTxNoCh" presStyleLbl="alignAcc1" presStyleIdx="4" presStyleCnt="5">
        <dgm:presLayoutVars>
          <dgm:chMax val="1"/>
          <dgm:bulletEnabled val="1"/>
        </dgm:presLayoutVars>
      </dgm:prSet>
      <dgm:spPr/>
    </dgm:pt>
    <dgm:pt modelId="{8BB8D662-B23A-430F-B0EA-4C75C3858AA8}" type="pres">
      <dgm:prSet presAssocID="{71362BDE-2566-493A-BDF7-9784913E61E5}" presName="rect2ParTxNoCh" presStyleLbl="alignAcc1" presStyleIdx="4" presStyleCnt="5">
        <dgm:presLayoutVars>
          <dgm:chMax val="1"/>
          <dgm:bulletEnabled val="1"/>
        </dgm:presLayoutVars>
      </dgm:prSet>
      <dgm:spPr/>
    </dgm:pt>
    <dgm:pt modelId="{2C63D0BD-3D18-470D-86FB-B73BB931EDB8}" type="pres">
      <dgm:prSet presAssocID="{13D60AAB-24C2-4FA8-A162-A673B59AED79}" presName="rect3ParTxNoCh" presStyleLbl="alignAcc1" presStyleIdx="4" presStyleCnt="5">
        <dgm:presLayoutVars>
          <dgm:chMax val="1"/>
          <dgm:bulletEnabled val="1"/>
        </dgm:presLayoutVars>
      </dgm:prSet>
      <dgm:spPr/>
    </dgm:pt>
    <dgm:pt modelId="{105D9307-0AEF-4280-B2B5-75F5E4D7212F}" type="pres">
      <dgm:prSet presAssocID="{1B969E4D-6F19-4875-82E6-7FC7D23735FE}" presName="rect4ParTxNoCh" presStyleLbl="alignAcc1" presStyleIdx="4" presStyleCnt="5">
        <dgm:presLayoutVars>
          <dgm:chMax val="1"/>
          <dgm:bulletEnabled val="1"/>
        </dgm:presLayoutVars>
      </dgm:prSet>
      <dgm:spPr/>
    </dgm:pt>
    <dgm:pt modelId="{C392EA90-656A-43AA-8533-E00BC5163076}" type="pres">
      <dgm:prSet presAssocID="{1D2FA4E1-FC44-450D-B949-72FA07065D97}" presName="rect5ParTxNoCh" presStyleLbl="alignAcc1" presStyleIdx="4" presStyleCnt="5">
        <dgm:presLayoutVars>
          <dgm:chMax val="1"/>
          <dgm:bulletEnabled val="1"/>
        </dgm:presLayoutVars>
      </dgm:prSet>
      <dgm:spPr/>
    </dgm:pt>
  </dgm:ptLst>
  <dgm:cxnLst>
    <dgm:cxn modelId="{1A93EA00-3189-4DB6-8A51-0C2F951C0F86}" type="presOf" srcId="{1D2FA4E1-FC44-450D-B949-72FA07065D97}" destId="{0036FF65-0173-47DB-9277-8521D5BDA61D}" srcOrd="0" destOrd="0" presId="urn:microsoft.com/office/officeart/2005/8/layout/target3"/>
    <dgm:cxn modelId="{B9444009-4A02-40DF-8833-0D4F7EBC204B}" srcId="{BB71EEBF-8B78-459D-A605-E714EB1B777E}" destId="{3570C419-E875-4A30-AA9C-174F09B913BE}" srcOrd="0" destOrd="0" parTransId="{43ABC761-335D-47E1-BC66-EC6B3ECE5040}" sibTransId="{E7E7207C-4992-482B-A16E-EB1DCB7EC2D8}"/>
    <dgm:cxn modelId="{34DA851D-720D-4EDC-8DBB-47D10A61A6AB}" type="presOf" srcId="{3570C419-E875-4A30-AA9C-174F09B913BE}" destId="{B9E781E2-5CFA-42E0-A99A-3FC985867A8E}" srcOrd="0" destOrd="0" presId="urn:microsoft.com/office/officeart/2005/8/layout/target3"/>
    <dgm:cxn modelId="{BEF6502D-3303-4429-957A-9B9023B26503}" srcId="{BB71EEBF-8B78-459D-A605-E714EB1B777E}" destId="{1D2FA4E1-FC44-450D-B949-72FA07065D97}" srcOrd="4" destOrd="0" parTransId="{EF63E751-91F6-47D2-9BB6-72C1488B58A8}" sibTransId="{C970ABDF-9BA3-419A-8BCE-F0B49C7E6DA6}"/>
    <dgm:cxn modelId="{758DF22E-B5CD-4C94-9E22-9CFF78173219}" type="presOf" srcId="{13D60AAB-24C2-4FA8-A162-A673B59AED79}" destId="{2C63D0BD-3D18-470D-86FB-B73BB931EDB8}" srcOrd="1" destOrd="0" presId="urn:microsoft.com/office/officeart/2005/8/layout/target3"/>
    <dgm:cxn modelId="{DEEC274B-7A4C-4109-B6FC-C1D351D6DDD7}" srcId="{BB71EEBF-8B78-459D-A605-E714EB1B777E}" destId="{1B969E4D-6F19-4875-82E6-7FC7D23735FE}" srcOrd="3" destOrd="0" parTransId="{B8755EF1-7CAB-47AB-A853-74D38A14AC23}" sibTransId="{8B77E583-EAE4-4DB7-B09F-030B5031C660}"/>
    <dgm:cxn modelId="{EDA3C371-FE83-4E0D-9B31-9E6865F48F32}" type="presOf" srcId="{BB71EEBF-8B78-459D-A605-E714EB1B777E}" destId="{B1323536-2999-444A-83C8-B56DB48A8DCB}" srcOrd="0" destOrd="0" presId="urn:microsoft.com/office/officeart/2005/8/layout/target3"/>
    <dgm:cxn modelId="{D2107255-B5D4-42AD-A3D9-A54D671638A2}" type="presOf" srcId="{71362BDE-2566-493A-BDF7-9784913E61E5}" destId="{FCAD2939-F740-47AE-99F2-4F680576E494}" srcOrd="0" destOrd="0" presId="urn:microsoft.com/office/officeart/2005/8/layout/target3"/>
    <dgm:cxn modelId="{468C509C-DEFE-44A1-8442-E4B765F58C28}" type="presOf" srcId="{13D60AAB-24C2-4FA8-A162-A673B59AED79}" destId="{9D0ADDF7-9817-4DB2-AB9E-F3A6BEC19729}" srcOrd="0" destOrd="0" presId="urn:microsoft.com/office/officeart/2005/8/layout/target3"/>
    <dgm:cxn modelId="{1C9A64B9-BF64-4895-98CA-824505DC2166}" srcId="{BB71EEBF-8B78-459D-A605-E714EB1B777E}" destId="{13D60AAB-24C2-4FA8-A162-A673B59AED79}" srcOrd="2" destOrd="0" parTransId="{E4D55A22-6924-45C7-9B07-21AC5A0CD4E4}" sibTransId="{A6B985D0-2286-4810-8C72-FA2D80AF26A3}"/>
    <dgm:cxn modelId="{410222C3-BC3C-41D9-943C-9981A930417A}" type="presOf" srcId="{3570C419-E875-4A30-AA9C-174F09B913BE}" destId="{98F470AD-A4B1-4F11-8D25-6816C851386B}" srcOrd="1" destOrd="0" presId="urn:microsoft.com/office/officeart/2005/8/layout/target3"/>
    <dgm:cxn modelId="{8ABF2BC5-9BD7-4469-BB1E-2B7AAA3D7E41}" type="presOf" srcId="{1B969E4D-6F19-4875-82E6-7FC7D23735FE}" destId="{C65CAE10-FAD1-4E8A-B3EE-9DCD2A0186C2}" srcOrd="0" destOrd="0" presId="urn:microsoft.com/office/officeart/2005/8/layout/target3"/>
    <dgm:cxn modelId="{14B6CFC9-6AEF-4694-91A9-5BA2367753CC}" srcId="{BB71EEBF-8B78-459D-A605-E714EB1B777E}" destId="{71362BDE-2566-493A-BDF7-9784913E61E5}" srcOrd="1" destOrd="0" parTransId="{5CEC37C3-29BD-498D-80A9-85DE5B4F5397}" sibTransId="{C907DF41-A061-4D5E-A16D-07429B9EDB8D}"/>
    <dgm:cxn modelId="{6AB1A3D1-772B-494A-9D76-754F1CE59E9F}" type="presOf" srcId="{1B969E4D-6F19-4875-82E6-7FC7D23735FE}" destId="{105D9307-0AEF-4280-B2B5-75F5E4D7212F}" srcOrd="1" destOrd="0" presId="urn:microsoft.com/office/officeart/2005/8/layout/target3"/>
    <dgm:cxn modelId="{FF7E52EE-0DC1-4EBC-8BCC-3A214266033F}" type="presOf" srcId="{1D2FA4E1-FC44-450D-B949-72FA07065D97}" destId="{C392EA90-656A-43AA-8533-E00BC5163076}" srcOrd="1" destOrd="0" presId="urn:microsoft.com/office/officeart/2005/8/layout/target3"/>
    <dgm:cxn modelId="{FBE997FE-66EE-41D0-B9B3-B0B726426CDC}" type="presOf" srcId="{71362BDE-2566-493A-BDF7-9784913E61E5}" destId="{8BB8D662-B23A-430F-B0EA-4C75C3858AA8}" srcOrd="1" destOrd="0" presId="urn:microsoft.com/office/officeart/2005/8/layout/target3"/>
    <dgm:cxn modelId="{FB7BB1A5-6E5F-42C8-A673-1DD7EEC8DF7E}" type="presParOf" srcId="{B1323536-2999-444A-83C8-B56DB48A8DCB}" destId="{949F1A00-9006-4FEE-9501-3D51EC0DE9E6}" srcOrd="0" destOrd="0" presId="urn:microsoft.com/office/officeart/2005/8/layout/target3"/>
    <dgm:cxn modelId="{201C3620-2225-4B2D-B838-896D6C095E7A}" type="presParOf" srcId="{B1323536-2999-444A-83C8-B56DB48A8DCB}" destId="{2DAFD44C-59A8-4C30-AF6E-5E5FEF33ACD9}" srcOrd="1" destOrd="0" presId="urn:microsoft.com/office/officeart/2005/8/layout/target3"/>
    <dgm:cxn modelId="{E7CB4A9C-D5FF-4CC0-B9C9-AD512323FB06}" type="presParOf" srcId="{B1323536-2999-444A-83C8-B56DB48A8DCB}" destId="{B9E781E2-5CFA-42E0-A99A-3FC985867A8E}" srcOrd="2" destOrd="0" presId="urn:microsoft.com/office/officeart/2005/8/layout/target3"/>
    <dgm:cxn modelId="{F4B13519-89AF-4723-A70B-B07074F9C7CA}" type="presParOf" srcId="{B1323536-2999-444A-83C8-B56DB48A8DCB}" destId="{7222771D-E7BF-4D10-A50F-B0AB93EB2E60}" srcOrd="3" destOrd="0" presId="urn:microsoft.com/office/officeart/2005/8/layout/target3"/>
    <dgm:cxn modelId="{9227A2F5-E866-4358-8C45-EE650EDFB1C9}" type="presParOf" srcId="{B1323536-2999-444A-83C8-B56DB48A8DCB}" destId="{F5C630EE-A522-416B-BB60-90DEED99CA49}" srcOrd="4" destOrd="0" presId="urn:microsoft.com/office/officeart/2005/8/layout/target3"/>
    <dgm:cxn modelId="{A1E26B3C-83D0-46A5-A073-05396C75C76E}" type="presParOf" srcId="{B1323536-2999-444A-83C8-B56DB48A8DCB}" destId="{FCAD2939-F740-47AE-99F2-4F680576E494}" srcOrd="5" destOrd="0" presId="urn:microsoft.com/office/officeart/2005/8/layout/target3"/>
    <dgm:cxn modelId="{F6B2A251-3640-4E1D-A7A6-E1990C9FCA99}" type="presParOf" srcId="{B1323536-2999-444A-83C8-B56DB48A8DCB}" destId="{BC32D17C-44DB-4AD5-AD48-AD543A13A2D1}" srcOrd="6" destOrd="0" presId="urn:microsoft.com/office/officeart/2005/8/layout/target3"/>
    <dgm:cxn modelId="{AC14FD82-EE52-45FC-9CB2-10AB2C5566FD}" type="presParOf" srcId="{B1323536-2999-444A-83C8-B56DB48A8DCB}" destId="{0424121F-E505-49B0-9C1B-0ACAFFD797DC}" srcOrd="7" destOrd="0" presId="urn:microsoft.com/office/officeart/2005/8/layout/target3"/>
    <dgm:cxn modelId="{0C2A4891-FD1B-44CB-8AB2-EF7218B4B65E}" type="presParOf" srcId="{B1323536-2999-444A-83C8-B56DB48A8DCB}" destId="{9D0ADDF7-9817-4DB2-AB9E-F3A6BEC19729}" srcOrd="8" destOrd="0" presId="urn:microsoft.com/office/officeart/2005/8/layout/target3"/>
    <dgm:cxn modelId="{FAD06F7D-A167-454C-9F5A-1015B7F80DB0}" type="presParOf" srcId="{B1323536-2999-444A-83C8-B56DB48A8DCB}" destId="{E57E8F95-88E2-477B-849A-591FBC38E4D6}" srcOrd="9" destOrd="0" presId="urn:microsoft.com/office/officeart/2005/8/layout/target3"/>
    <dgm:cxn modelId="{4D1B0EC8-8908-4F4C-B5C5-0F051D379DE1}" type="presParOf" srcId="{B1323536-2999-444A-83C8-B56DB48A8DCB}" destId="{8E90949B-ACF0-4111-8AC8-C226113EE581}" srcOrd="10" destOrd="0" presId="urn:microsoft.com/office/officeart/2005/8/layout/target3"/>
    <dgm:cxn modelId="{85D55525-5D56-4941-8783-3FA930E94CBE}" type="presParOf" srcId="{B1323536-2999-444A-83C8-B56DB48A8DCB}" destId="{C65CAE10-FAD1-4E8A-B3EE-9DCD2A0186C2}" srcOrd="11" destOrd="0" presId="urn:microsoft.com/office/officeart/2005/8/layout/target3"/>
    <dgm:cxn modelId="{496B06BD-4EF8-4FA4-87A3-3F663B4AF4A7}" type="presParOf" srcId="{B1323536-2999-444A-83C8-B56DB48A8DCB}" destId="{BE9B42AF-CAF5-42EE-9EC8-7F08A8228AED}" srcOrd="12" destOrd="0" presId="urn:microsoft.com/office/officeart/2005/8/layout/target3"/>
    <dgm:cxn modelId="{DF6CAEE5-2881-41FE-91FF-B2B2EBE8E8CA}" type="presParOf" srcId="{B1323536-2999-444A-83C8-B56DB48A8DCB}" destId="{36D68D8F-FEF4-463B-BC81-A05EAD163AA3}" srcOrd="13" destOrd="0" presId="urn:microsoft.com/office/officeart/2005/8/layout/target3"/>
    <dgm:cxn modelId="{8247D1C8-2993-4BF5-9D1C-B6C257C6A672}" type="presParOf" srcId="{B1323536-2999-444A-83C8-B56DB48A8DCB}" destId="{0036FF65-0173-47DB-9277-8521D5BDA61D}" srcOrd="14" destOrd="0" presId="urn:microsoft.com/office/officeart/2005/8/layout/target3"/>
    <dgm:cxn modelId="{6D34DEB1-5A6E-4A35-98E2-AD4C057CB3B0}" type="presParOf" srcId="{B1323536-2999-444A-83C8-B56DB48A8DCB}" destId="{98F470AD-A4B1-4F11-8D25-6816C851386B}" srcOrd="15" destOrd="0" presId="urn:microsoft.com/office/officeart/2005/8/layout/target3"/>
    <dgm:cxn modelId="{699F1B2E-E110-476C-B109-6488A9C20839}" type="presParOf" srcId="{B1323536-2999-444A-83C8-B56DB48A8DCB}" destId="{8BB8D662-B23A-430F-B0EA-4C75C3858AA8}" srcOrd="16" destOrd="0" presId="urn:microsoft.com/office/officeart/2005/8/layout/target3"/>
    <dgm:cxn modelId="{9152ED5A-4E0B-4DF7-B9B8-ED91DEF6C45E}" type="presParOf" srcId="{B1323536-2999-444A-83C8-B56DB48A8DCB}" destId="{2C63D0BD-3D18-470D-86FB-B73BB931EDB8}" srcOrd="17" destOrd="0" presId="urn:microsoft.com/office/officeart/2005/8/layout/target3"/>
    <dgm:cxn modelId="{CDB72683-D4F1-42C8-8E76-E85321489917}" type="presParOf" srcId="{B1323536-2999-444A-83C8-B56DB48A8DCB}" destId="{105D9307-0AEF-4280-B2B5-75F5E4D7212F}" srcOrd="18" destOrd="0" presId="urn:microsoft.com/office/officeart/2005/8/layout/target3"/>
    <dgm:cxn modelId="{EAE0FD8C-4B56-4D23-A68B-4B44A0BAB8AC}" type="presParOf" srcId="{B1323536-2999-444A-83C8-B56DB48A8DCB}" destId="{C392EA90-656A-43AA-8533-E00BC5163076}" srcOrd="19"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41D2BC-BA8B-4C6B-AD98-5CF393D54B72}"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CF5C8518-5A36-4D75-AE72-628EC321F9AB}">
      <dgm:prSet phldrT="[Text]"/>
      <dgm:spPr/>
      <dgm:t>
        <a:bodyPr/>
        <a:lstStyle/>
        <a:p>
          <a:pPr algn="l"/>
          <a:r>
            <a:rPr lang="en-US" b="0" i="0"/>
            <a:t>Decision-making structures require that the programmer specify one or more conditions to be evaluated or tested by the program, along with a statement or statements to be executed if the condition is determined to be true, and optionally, other statements to be executed if the condition is determined to be false.</a:t>
          </a:r>
          <a:endParaRPr lang="en-US"/>
        </a:p>
      </dgm:t>
    </dgm:pt>
    <dgm:pt modelId="{15579457-9153-4345-A4FB-64FBB2BDF589}" type="parTrans" cxnId="{D8F92ECA-C5BD-4F94-84EF-D30ABD5A0363}">
      <dgm:prSet/>
      <dgm:spPr/>
      <dgm:t>
        <a:bodyPr/>
        <a:lstStyle/>
        <a:p>
          <a:pPr algn="l"/>
          <a:endParaRPr lang="en-US"/>
        </a:p>
      </dgm:t>
    </dgm:pt>
    <dgm:pt modelId="{764286CA-A8A0-4055-B3DA-D62FAC9714E9}" type="sibTrans" cxnId="{D8F92ECA-C5BD-4F94-84EF-D30ABD5A0363}">
      <dgm:prSet/>
      <dgm:spPr/>
      <dgm:t>
        <a:bodyPr/>
        <a:lstStyle/>
        <a:p>
          <a:pPr algn="l"/>
          <a:endParaRPr lang="en-US"/>
        </a:p>
      </dgm:t>
    </dgm:pt>
    <dgm:pt modelId="{4A8E383B-A0D9-4F63-8C6B-9C57FF55CA78}" type="pres">
      <dgm:prSet presAssocID="{A341D2BC-BA8B-4C6B-AD98-5CF393D54B72}" presName="Name0" presStyleCnt="0">
        <dgm:presLayoutVars>
          <dgm:dir/>
          <dgm:resizeHandles val="exact"/>
        </dgm:presLayoutVars>
      </dgm:prSet>
      <dgm:spPr/>
    </dgm:pt>
    <dgm:pt modelId="{A4A8DB31-64D2-483D-8740-8322C54E0C81}" type="pres">
      <dgm:prSet presAssocID="{CF5C8518-5A36-4D75-AE72-628EC321F9AB}" presName="node" presStyleLbl="node1" presStyleIdx="0" presStyleCnt="1">
        <dgm:presLayoutVars>
          <dgm:bulletEnabled val="1"/>
        </dgm:presLayoutVars>
      </dgm:prSet>
      <dgm:spPr/>
    </dgm:pt>
  </dgm:ptLst>
  <dgm:cxnLst>
    <dgm:cxn modelId="{7E5FCF1C-88D9-44C6-96AA-9C920602C4CA}" type="presOf" srcId="{CF5C8518-5A36-4D75-AE72-628EC321F9AB}" destId="{A4A8DB31-64D2-483D-8740-8322C54E0C81}" srcOrd="0" destOrd="0" presId="urn:microsoft.com/office/officeart/2005/8/layout/hList6"/>
    <dgm:cxn modelId="{6489674E-E837-4257-9921-9ED47E1AEA9C}" type="presOf" srcId="{A341D2BC-BA8B-4C6B-AD98-5CF393D54B72}" destId="{4A8E383B-A0D9-4F63-8C6B-9C57FF55CA78}" srcOrd="0" destOrd="0" presId="urn:microsoft.com/office/officeart/2005/8/layout/hList6"/>
    <dgm:cxn modelId="{D8F92ECA-C5BD-4F94-84EF-D30ABD5A0363}" srcId="{A341D2BC-BA8B-4C6B-AD98-5CF393D54B72}" destId="{CF5C8518-5A36-4D75-AE72-628EC321F9AB}" srcOrd="0" destOrd="0" parTransId="{15579457-9153-4345-A4FB-64FBB2BDF589}" sibTransId="{764286CA-A8A0-4055-B3DA-D62FAC9714E9}"/>
    <dgm:cxn modelId="{31E9EED0-88DF-4A40-934C-0EC3322EF68F}" type="presParOf" srcId="{4A8E383B-A0D9-4F63-8C6B-9C57FF55CA78}" destId="{A4A8DB31-64D2-483D-8740-8322C54E0C81}"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3F0D0F-B130-4155-9747-EA254E2849D5}"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8DF63FE8-FD1F-4912-A459-AF3D00F068D9}">
      <dgm:prSet phldrT="[Text]"/>
      <dgm:spPr/>
      <dgm:t>
        <a:bodyPr/>
        <a:lstStyle/>
        <a:p>
          <a:pPr algn="l"/>
          <a:r>
            <a:rPr lang="en-US" b="0" i="0"/>
            <a:t>A loop statement allows us to execute a statement or group of statements multiple times. Programming languages provide various control structures that allow for more complicated execution paths. There may be instances, where a block of code needs to be executed repeatedly. In general, programming instructions are executed sequentially: The first statement in a function is executed first, followed by the second, and so on.</a:t>
          </a:r>
          <a:endParaRPr lang="en-US"/>
        </a:p>
      </dgm:t>
    </dgm:pt>
    <dgm:pt modelId="{26D8238E-B389-4169-8015-569E9D015084}" type="parTrans" cxnId="{CB3D9751-6315-4E86-A691-993F9FAE574C}">
      <dgm:prSet/>
      <dgm:spPr/>
      <dgm:t>
        <a:bodyPr/>
        <a:lstStyle/>
        <a:p>
          <a:pPr algn="l"/>
          <a:endParaRPr lang="en-US"/>
        </a:p>
      </dgm:t>
    </dgm:pt>
    <dgm:pt modelId="{72AEB014-827D-437F-AC7D-ACF26B43F4B8}" type="sibTrans" cxnId="{CB3D9751-6315-4E86-A691-993F9FAE574C}">
      <dgm:prSet/>
      <dgm:spPr/>
      <dgm:t>
        <a:bodyPr/>
        <a:lstStyle/>
        <a:p>
          <a:pPr algn="l"/>
          <a:endParaRPr lang="en-US"/>
        </a:p>
      </dgm:t>
    </dgm:pt>
    <dgm:pt modelId="{D7C35AF9-C291-4EEA-85F8-0CDBF240D06B}" type="pres">
      <dgm:prSet presAssocID="{C23F0D0F-B130-4155-9747-EA254E2849D5}" presName="Name0" presStyleCnt="0">
        <dgm:presLayoutVars>
          <dgm:dir/>
          <dgm:resizeHandles val="exact"/>
        </dgm:presLayoutVars>
      </dgm:prSet>
      <dgm:spPr/>
    </dgm:pt>
    <dgm:pt modelId="{EAFAB41A-6B3B-41FE-B302-504D6241A580}" type="pres">
      <dgm:prSet presAssocID="{8DF63FE8-FD1F-4912-A459-AF3D00F068D9}" presName="node" presStyleLbl="node1" presStyleIdx="0" presStyleCnt="1">
        <dgm:presLayoutVars>
          <dgm:bulletEnabled val="1"/>
        </dgm:presLayoutVars>
      </dgm:prSet>
      <dgm:spPr/>
    </dgm:pt>
  </dgm:ptLst>
  <dgm:cxnLst>
    <dgm:cxn modelId="{4335FB1C-D22D-404F-96A3-0E79E24F7317}" type="presOf" srcId="{C23F0D0F-B130-4155-9747-EA254E2849D5}" destId="{D7C35AF9-C291-4EEA-85F8-0CDBF240D06B}" srcOrd="0" destOrd="0" presId="urn:microsoft.com/office/officeart/2005/8/layout/hList6"/>
    <dgm:cxn modelId="{CB3D9751-6315-4E86-A691-993F9FAE574C}" srcId="{C23F0D0F-B130-4155-9747-EA254E2849D5}" destId="{8DF63FE8-FD1F-4912-A459-AF3D00F068D9}" srcOrd="0" destOrd="0" parTransId="{26D8238E-B389-4169-8015-569E9D015084}" sibTransId="{72AEB014-827D-437F-AC7D-ACF26B43F4B8}"/>
    <dgm:cxn modelId="{D0F4E781-FCA1-460C-8255-7A97B8E1666D}" type="presOf" srcId="{8DF63FE8-FD1F-4912-A459-AF3D00F068D9}" destId="{EAFAB41A-6B3B-41FE-B302-504D6241A580}" srcOrd="0" destOrd="0" presId="urn:microsoft.com/office/officeart/2005/8/layout/hList6"/>
    <dgm:cxn modelId="{E0A5EF48-6045-434D-87EB-8102080E7191}" type="presParOf" srcId="{D7C35AF9-C291-4EEA-85F8-0CDBF240D06B}" destId="{EAFAB41A-6B3B-41FE-B302-504D6241A580}"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A7ABBF-C9DE-4789-B628-6C539F32CF66}" type="doc">
      <dgm:prSet loTypeId="urn:microsoft.com/office/officeart/2005/8/layout/gear1" loCatId="cycle" qsTypeId="urn:microsoft.com/office/officeart/2005/8/quickstyle/simple2" qsCatId="simple" csTypeId="urn:microsoft.com/office/officeart/2005/8/colors/accent1_2" csCatId="accent1" phldr="1"/>
      <dgm:spPr/>
    </dgm:pt>
    <dgm:pt modelId="{3607303E-459A-4235-83AE-2A6FD98C9948}">
      <dgm:prSet phldrT="[Text]"/>
      <dgm:spPr/>
      <dgm:t>
        <a:bodyPr/>
        <a:lstStyle/>
        <a:p>
          <a:r>
            <a:rPr lang="en-US"/>
            <a:t>Definite Loop</a:t>
          </a:r>
        </a:p>
      </dgm:t>
    </dgm:pt>
    <dgm:pt modelId="{620DAF22-C6F2-4A83-983D-29FC344A91D7}" type="parTrans" cxnId="{96BE13FC-1390-4433-B3FD-29F8FF01BC04}">
      <dgm:prSet/>
      <dgm:spPr/>
      <dgm:t>
        <a:bodyPr/>
        <a:lstStyle/>
        <a:p>
          <a:endParaRPr lang="en-US"/>
        </a:p>
      </dgm:t>
    </dgm:pt>
    <dgm:pt modelId="{10ECC0B8-4652-4CB1-A4B4-6CDD20DF615F}" type="sibTrans" cxnId="{96BE13FC-1390-4433-B3FD-29F8FF01BC04}">
      <dgm:prSet/>
      <dgm:spPr/>
      <dgm:t>
        <a:bodyPr/>
        <a:lstStyle/>
        <a:p>
          <a:endParaRPr lang="en-US"/>
        </a:p>
      </dgm:t>
    </dgm:pt>
    <dgm:pt modelId="{24CC0A65-9A42-42C9-B81A-B5C6930B9F9D}">
      <dgm:prSet phldrT="[Text]"/>
      <dgm:spPr/>
      <dgm:t>
        <a:bodyPr/>
        <a:lstStyle/>
        <a:p>
          <a:r>
            <a:rPr lang="en-US"/>
            <a:t>While</a:t>
          </a:r>
        </a:p>
      </dgm:t>
    </dgm:pt>
    <dgm:pt modelId="{07D4A77B-2BA1-4123-894D-2D12C83E64D5}" type="parTrans" cxnId="{F147D583-7445-47C6-BDDB-6A8186641CFD}">
      <dgm:prSet/>
      <dgm:spPr/>
      <dgm:t>
        <a:bodyPr/>
        <a:lstStyle/>
        <a:p>
          <a:endParaRPr lang="en-US"/>
        </a:p>
      </dgm:t>
    </dgm:pt>
    <dgm:pt modelId="{E70C513D-0751-4DB0-9D1C-FCFB1AB513A0}" type="sibTrans" cxnId="{F147D583-7445-47C6-BDDB-6A8186641CFD}">
      <dgm:prSet/>
      <dgm:spPr/>
      <dgm:t>
        <a:bodyPr/>
        <a:lstStyle/>
        <a:p>
          <a:endParaRPr lang="en-US"/>
        </a:p>
      </dgm:t>
    </dgm:pt>
    <dgm:pt modelId="{2CAE49A1-3186-44E8-96A7-70B863136FE4}">
      <dgm:prSet phldrT="[Text]"/>
      <dgm:spPr/>
      <dgm:t>
        <a:bodyPr/>
        <a:lstStyle/>
        <a:p>
          <a:r>
            <a:rPr lang="en-US"/>
            <a:t>Loop</a:t>
          </a:r>
        </a:p>
      </dgm:t>
    </dgm:pt>
    <dgm:pt modelId="{7A575C99-906D-4A6D-927B-1945F43675A0}" type="parTrans" cxnId="{1DA680BC-BB94-4D27-9AC9-5CD3BB123244}">
      <dgm:prSet/>
      <dgm:spPr/>
      <dgm:t>
        <a:bodyPr/>
        <a:lstStyle/>
        <a:p>
          <a:endParaRPr lang="en-US"/>
        </a:p>
      </dgm:t>
    </dgm:pt>
    <dgm:pt modelId="{D05350B1-6D62-4E98-8A38-20A65528CFA4}" type="sibTrans" cxnId="{1DA680BC-BB94-4D27-9AC9-5CD3BB123244}">
      <dgm:prSet/>
      <dgm:spPr/>
      <dgm:t>
        <a:bodyPr/>
        <a:lstStyle/>
        <a:p>
          <a:endParaRPr lang="en-US"/>
        </a:p>
      </dgm:t>
    </dgm:pt>
    <dgm:pt modelId="{6956947B-AEAD-4E00-A9CD-9D8A1B26F072}">
      <dgm:prSet phldrT="[Text]"/>
      <dgm:spPr/>
      <dgm:t>
        <a:bodyPr/>
        <a:lstStyle/>
        <a:p>
          <a:r>
            <a:rPr lang="en-US"/>
            <a:t>For</a:t>
          </a:r>
        </a:p>
      </dgm:t>
    </dgm:pt>
    <dgm:pt modelId="{46FC4220-8983-45D4-8A62-D989BAD7C37A}" type="parTrans" cxnId="{31FC91E3-AE00-4CB4-9D26-65E952E785C6}">
      <dgm:prSet/>
      <dgm:spPr/>
      <dgm:t>
        <a:bodyPr/>
        <a:lstStyle/>
        <a:p>
          <a:endParaRPr lang="en-US"/>
        </a:p>
      </dgm:t>
    </dgm:pt>
    <dgm:pt modelId="{4EFDD1D8-9D8E-4497-B82C-31A5C8D13E7E}" type="sibTrans" cxnId="{31FC91E3-AE00-4CB4-9D26-65E952E785C6}">
      <dgm:prSet/>
      <dgm:spPr/>
      <dgm:t>
        <a:bodyPr/>
        <a:lstStyle/>
        <a:p>
          <a:endParaRPr lang="en-US"/>
        </a:p>
      </dgm:t>
    </dgm:pt>
    <dgm:pt modelId="{38A841B0-78FB-46F3-B971-2B23FEDCA2E0}">
      <dgm:prSet phldrT="[Text]"/>
      <dgm:spPr/>
      <dgm:t>
        <a:bodyPr/>
        <a:lstStyle/>
        <a:p>
          <a:r>
            <a:rPr lang="en-US"/>
            <a:t>Indefinite Loop</a:t>
          </a:r>
        </a:p>
      </dgm:t>
    </dgm:pt>
    <dgm:pt modelId="{3A92F7A8-6F9D-4EB7-8847-066BDDD92D49}" type="parTrans" cxnId="{A75A77F9-42CC-470B-AA9A-CB66726497C3}">
      <dgm:prSet/>
      <dgm:spPr/>
      <dgm:t>
        <a:bodyPr/>
        <a:lstStyle/>
        <a:p>
          <a:endParaRPr lang="en-US"/>
        </a:p>
      </dgm:t>
    </dgm:pt>
    <dgm:pt modelId="{9CCF81F5-E6ED-482F-A5FD-50D748C691C7}" type="sibTrans" cxnId="{A75A77F9-42CC-470B-AA9A-CB66726497C3}">
      <dgm:prSet/>
      <dgm:spPr/>
      <dgm:t>
        <a:bodyPr/>
        <a:lstStyle/>
        <a:p>
          <a:endParaRPr lang="en-US"/>
        </a:p>
      </dgm:t>
    </dgm:pt>
    <dgm:pt modelId="{90EC3D3B-F36C-4F74-9B59-5E122D0ADD0F}" type="pres">
      <dgm:prSet presAssocID="{F0A7ABBF-C9DE-4789-B628-6C539F32CF66}" presName="composite" presStyleCnt="0">
        <dgm:presLayoutVars>
          <dgm:chMax val="3"/>
          <dgm:animLvl val="lvl"/>
          <dgm:resizeHandles val="exact"/>
        </dgm:presLayoutVars>
      </dgm:prSet>
      <dgm:spPr/>
    </dgm:pt>
    <dgm:pt modelId="{D94FBC1C-38D6-4C79-AFBE-2E48BA77EFE4}" type="pres">
      <dgm:prSet presAssocID="{3607303E-459A-4235-83AE-2A6FD98C9948}" presName="gear1" presStyleLbl="node1" presStyleIdx="0" presStyleCnt="2">
        <dgm:presLayoutVars>
          <dgm:chMax val="1"/>
          <dgm:bulletEnabled val="1"/>
        </dgm:presLayoutVars>
      </dgm:prSet>
      <dgm:spPr/>
    </dgm:pt>
    <dgm:pt modelId="{4DEFEDAA-F3B3-440C-B2A1-9F9FC2760C42}" type="pres">
      <dgm:prSet presAssocID="{3607303E-459A-4235-83AE-2A6FD98C9948}" presName="gear1srcNode" presStyleLbl="node1" presStyleIdx="0" presStyleCnt="2"/>
      <dgm:spPr/>
    </dgm:pt>
    <dgm:pt modelId="{3B705FA0-19A7-4C47-8E9C-6D976D05FAD9}" type="pres">
      <dgm:prSet presAssocID="{3607303E-459A-4235-83AE-2A6FD98C9948}" presName="gear1dstNode" presStyleLbl="node1" presStyleIdx="0" presStyleCnt="2"/>
      <dgm:spPr/>
    </dgm:pt>
    <dgm:pt modelId="{3E62E274-7EF0-49D7-AEFF-B87BC2CDD1C3}" type="pres">
      <dgm:prSet presAssocID="{3607303E-459A-4235-83AE-2A6FD98C9948}" presName="gear1ch" presStyleLbl="fgAcc1" presStyleIdx="0" presStyleCnt="2">
        <dgm:presLayoutVars>
          <dgm:chMax val="0"/>
          <dgm:bulletEnabled val="1"/>
        </dgm:presLayoutVars>
      </dgm:prSet>
      <dgm:spPr/>
    </dgm:pt>
    <dgm:pt modelId="{900766E4-9697-40BA-AD03-8E4FC88A0581}" type="pres">
      <dgm:prSet presAssocID="{38A841B0-78FB-46F3-B971-2B23FEDCA2E0}" presName="gear2" presStyleLbl="node1" presStyleIdx="1" presStyleCnt="2">
        <dgm:presLayoutVars>
          <dgm:chMax val="1"/>
          <dgm:bulletEnabled val="1"/>
        </dgm:presLayoutVars>
      </dgm:prSet>
      <dgm:spPr/>
    </dgm:pt>
    <dgm:pt modelId="{B904BD93-E47C-4B49-8CD9-0A198EC4E677}" type="pres">
      <dgm:prSet presAssocID="{38A841B0-78FB-46F3-B971-2B23FEDCA2E0}" presName="gear2srcNode" presStyleLbl="node1" presStyleIdx="1" presStyleCnt="2"/>
      <dgm:spPr/>
    </dgm:pt>
    <dgm:pt modelId="{91759EC3-35CD-4C72-AE4B-D797FD06B05E}" type="pres">
      <dgm:prSet presAssocID="{38A841B0-78FB-46F3-B971-2B23FEDCA2E0}" presName="gear2dstNode" presStyleLbl="node1" presStyleIdx="1" presStyleCnt="2"/>
      <dgm:spPr/>
    </dgm:pt>
    <dgm:pt modelId="{B76129B7-29DF-46C1-AE4B-5EF434454B4D}" type="pres">
      <dgm:prSet presAssocID="{38A841B0-78FB-46F3-B971-2B23FEDCA2E0}" presName="gear2ch" presStyleLbl="fgAcc1" presStyleIdx="1" presStyleCnt="2">
        <dgm:presLayoutVars>
          <dgm:chMax val="0"/>
          <dgm:bulletEnabled val="1"/>
        </dgm:presLayoutVars>
      </dgm:prSet>
      <dgm:spPr/>
    </dgm:pt>
    <dgm:pt modelId="{6A85F6FE-8157-42F7-B44C-226D4B18EA67}" type="pres">
      <dgm:prSet presAssocID="{10ECC0B8-4652-4CB1-A4B4-6CDD20DF615F}" presName="connector1" presStyleLbl="sibTrans2D1" presStyleIdx="0" presStyleCnt="2"/>
      <dgm:spPr/>
    </dgm:pt>
    <dgm:pt modelId="{9294EF54-4D1C-437D-B162-3F8860D5A6E9}" type="pres">
      <dgm:prSet presAssocID="{9CCF81F5-E6ED-482F-A5FD-50D748C691C7}" presName="connector2" presStyleLbl="sibTrans2D1" presStyleIdx="1" presStyleCnt="2"/>
      <dgm:spPr/>
    </dgm:pt>
  </dgm:ptLst>
  <dgm:cxnLst>
    <dgm:cxn modelId="{A842F713-B0F4-4D66-93E0-8EF66B22C39E}" type="presOf" srcId="{38A841B0-78FB-46F3-B971-2B23FEDCA2E0}" destId="{900766E4-9697-40BA-AD03-8E4FC88A0581}" srcOrd="0" destOrd="0" presId="urn:microsoft.com/office/officeart/2005/8/layout/gear1"/>
    <dgm:cxn modelId="{B893E61E-5CDD-4D7C-9333-1B1D49000225}" type="presOf" srcId="{3607303E-459A-4235-83AE-2A6FD98C9948}" destId="{3B705FA0-19A7-4C47-8E9C-6D976D05FAD9}" srcOrd="2" destOrd="0" presId="urn:microsoft.com/office/officeart/2005/8/layout/gear1"/>
    <dgm:cxn modelId="{8F99C233-0DA3-451C-8703-627295C55B9C}" type="presOf" srcId="{3607303E-459A-4235-83AE-2A6FD98C9948}" destId="{4DEFEDAA-F3B3-440C-B2A1-9F9FC2760C42}" srcOrd="1" destOrd="0" presId="urn:microsoft.com/office/officeart/2005/8/layout/gear1"/>
    <dgm:cxn modelId="{9E37DD33-3640-4BF9-B2BC-F470E5B80C3E}" type="presOf" srcId="{3607303E-459A-4235-83AE-2A6FD98C9948}" destId="{D94FBC1C-38D6-4C79-AFBE-2E48BA77EFE4}" srcOrd="0" destOrd="0" presId="urn:microsoft.com/office/officeart/2005/8/layout/gear1"/>
    <dgm:cxn modelId="{ACDC4665-7A36-4F5B-A4B5-CB94540B15F3}" type="presOf" srcId="{10ECC0B8-4652-4CB1-A4B4-6CDD20DF615F}" destId="{6A85F6FE-8157-42F7-B44C-226D4B18EA67}" srcOrd="0" destOrd="0" presId="urn:microsoft.com/office/officeart/2005/8/layout/gear1"/>
    <dgm:cxn modelId="{9070684A-A73D-4B05-A60A-504679969F55}" type="presOf" srcId="{F0A7ABBF-C9DE-4789-B628-6C539F32CF66}" destId="{90EC3D3B-F36C-4F74-9B59-5E122D0ADD0F}" srcOrd="0" destOrd="0" presId="urn:microsoft.com/office/officeart/2005/8/layout/gear1"/>
    <dgm:cxn modelId="{6B947D6A-BBD8-4DA8-A877-087B9F434CD5}" type="presOf" srcId="{9CCF81F5-E6ED-482F-A5FD-50D748C691C7}" destId="{9294EF54-4D1C-437D-B162-3F8860D5A6E9}" srcOrd="0" destOrd="0" presId="urn:microsoft.com/office/officeart/2005/8/layout/gear1"/>
    <dgm:cxn modelId="{F147D583-7445-47C6-BDDB-6A8186641CFD}" srcId="{38A841B0-78FB-46F3-B971-2B23FEDCA2E0}" destId="{24CC0A65-9A42-42C9-B81A-B5C6930B9F9D}" srcOrd="0" destOrd="0" parTransId="{07D4A77B-2BA1-4123-894D-2D12C83E64D5}" sibTransId="{E70C513D-0751-4DB0-9D1C-FCFB1AB513A0}"/>
    <dgm:cxn modelId="{C572E793-D874-4DE9-B3A9-DE2AD8020337}" type="presOf" srcId="{24CC0A65-9A42-42C9-B81A-B5C6930B9F9D}" destId="{B76129B7-29DF-46C1-AE4B-5EF434454B4D}" srcOrd="0" destOrd="0" presId="urn:microsoft.com/office/officeart/2005/8/layout/gear1"/>
    <dgm:cxn modelId="{E7001C9B-3D90-4B33-BE43-D5E4FC5C3E68}" type="presOf" srcId="{6956947B-AEAD-4E00-A9CD-9D8A1B26F072}" destId="{3E62E274-7EF0-49D7-AEFF-B87BC2CDD1C3}" srcOrd="0" destOrd="0" presId="urn:microsoft.com/office/officeart/2005/8/layout/gear1"/>
    <dgm:cxn modelId="{1DA680BC-BB94-4D27-9AC9-5CD3BB123244}" srcId="{38A841B0-78FB-46F3-B971-2B23FEDCA2E0}" destId="{2CAE49A1-3186-44E8-96A7-70B863136FE4}" srcOrd="1" destOrd="0" parTransId="{7A575C99-906D-4A6D-927B-1945F43675A0}" sibTransId="{D05350B1-6D62-4E98-8A38-20A65528CFA4}"/>
    <dgm:cxn modelId="{6B35C9C1-0FD3-4D51-83E6-1C1811AE390C}" type="presOf" srcId="{2CAE49A1-3186-44E8-96A7-70B863136FE4}" destId="{B76129B7-29DF-46C1-AE4B-5EF434454B4D}" srcOrd="0" destOrd="1" presId="urn:microsoft.com/office/officeart/2005/8/layout/gear1"/>
    <dgm:cxn modelId="{D5887CD0-808E-4C13-9F3E-AAD6D46A1FF0}" type="presOf" srcId="{38A841B0-78FB-46F3-B971-2B23FEDCA2E0}" destId="{B904BD93-E47C-4B49-8CD9-0A198EC4E677}" srcOrd="1" destOrd="0" presId="urn:microsoft.com/office/officeart/2005/8/layout/gear1"/>
    <dgm:cxn modelId="{C3B0A4D1-3E41-49B6-9A6F-E8E94C5AB560}" type="presOf" srcId="{38A841B0-78FB-46F3-B971-2B23FEDCA2E0}" destId="{91759EC3-35CD-4C72-AE4B-D797FD06B05E}" srcOrd="2" destOrd="0" presId="urn:microsoft.com/office/officeart/2005/8/layout/gear1"/>
    <dgm:cxn modelId="{31FC91E3-AE00-4CB4-9D26-65E952E785C6}" srcId="{3607303E-459A-4235-83AE-2A6FD98C9948}" destId="{6956947B-AEAD-4E00-A9CD-9D8A1B26F072}" srcOrd="0" destOrd="0" parTransId="{46FC4220-8983-45D4-8A62-D989BAD7C37A}" sibTransId="{4EFDD1D8-9D8E-4497-B82C-31A5C8D13E7E}"/>
    <dgm:cxn modelId="{A75A77F9-42CC-470B-AA9A-CB66726497C3}" srcId="{F0A7ABBF-C9DE-4789-B628-6C539F32CF66}" destId="{38A841B0-78FB-46F3-B971-2B23FEDCA2E0}" srcOrd="1" destOrd="0" parTransId="{3A92F7A8-6F9D-4EB7-8847-066BDDD92D49}" sibTransId="{9CCF81F5-E6ED-482F-A5FD-50D748C691C7}"/>
    <dgm:cxn modelId="{96BE13FC-1390-4433-B3FD-29F8FF01BC04}" srcId="{F0A7ABBF-C9DE-4789-B628-6C539F32CF66}" destId="{3607303E-459A-4235-83AE-2A6FD98C9948}" srcOrd="0" destOrd="0" parTransId="{620DAF22-C6F2-4A83-983D-29FC344A91D7}" sibTransId="{10ECC0B8-4652-4CB1-A4B4-6CDD20DF615F}"/>
    <dgm:cxn modelId="{B10068EF-6B72-4B70-B9AD-6D41EB29CFBE}" type="presParOf" srcId="{90EC3D3B-F36C-4F74-9B59-5E122D0ADD0F}" destId="{D94FBC1C-38D6-4C79-AFBE-2E48BA77EFE4}" srcOrd="0" destOrd="0" presId="urn:microsoft.com/office/officeart/2005/8/layout/gear1"/>
    <dgm:cxn modelId="{75A67E94-9BC4-4C2C-9428-D541F0AF6CA7}" type="presParOf" srcId="{90EC3D3B-F36C-4F74-9B59-5E122D0ADD0F}" destId="{4DEFEDAA-F3B3-440C-B2A1-9F9FC2760C42}" srcOrd="1" destOrd="0" presId="urn:microsoft.com/office/officeart/2005/8/layout/gear1"/>
    <dgm:cxn modelId="{EA87BF0F-FC53-4A69-A017-78554562E30B}" type="presParOf" srcId="{90EC3D3B-F36C-4F74-9B59-5E122D0ADD0F}" destId="{3B705FA0-19A7-4C47-8E9C-6D976D05FAD9}" srcOrd="2" destOrd="0" presId="urn:microsoft.com/office/officeart/2005/8/layout/gear1"/>
    <dgm:cxn modelId="{29B119B2-7687-42F4-9EDE-51E63903252A}" type="presParOf" srcId="{90EC3D3B-F36C-4F74-9B59-5E122D0ADD0F}" destId="{3E62E274-7EF0-49D7-AEFF-B87BC2CDD1C3}" srcOrd="3" destOrd="0" presId="urn:microsoft.com/office/officeart/2005/8/layout/gear1"/>
    <dgm:cxn modelId="{FD71E616-5757-4A0F-97CF-52314EF488C0}" type="presParOf" srcId="{90EC3D3B-F36C-4F74-9B59-5E122D0ADD0F}" destId="{900766E4-9697-40BA-AD03-8E4FC88A0581}" srcOrd="4" destOrd="0" presId="urn:microsoft.com/office/officeart/2005/8/layout/gear1"/>
    <dgm:cxn modelId="{889EC717-6E8F-47AE-B68B-A1652A3B429D}" type="presParOf" srcId="{90EC3D3B-F36C-4F74-9B59-5E122D0ADD0F}" destId="{B904BD93-E47C-4B49-8CD9-0A198EC4E677}" srcOrd="5" destOrd="0" presId="urn:microsoft.com/office/officeart/2005/8/layout/gear1"/>
    <dgm:cxn modelId="{CE34CCD7-DB30-492C-AE93-787D093E039A}" type="presParOf" srcId="{90EC3D3B-F36C-4F74-9B59-5E122D0ADD0F}" destId="{91759EC3-35CD-4C72-AE4B-D797FD06B05E}" srcOrd="6" destOrd="0" presId="urn:microsoft.com/office/officeart/2005/8/layout/gear1"/>
    <dgm:cxn modelId="{1F6A0355-546D-4BD8-9087-AE3A0807E1F4}" type="presParOf" srcId="{90EC3D3B-F36C-4F74-9B59-5E122D0ADD0F}" destId="{B76129B7-29DF-46C1-AE4B-5EF434454B4D}" srcOrd="7" destOrd="0" presId="urn:microsoft.com/office/officeart/2005/8/layout/gear1"/>
    <dgm:cxn modelId="{BF86B1AC-7B1F-48A9-B557-8AD305205EB6}" type="presParOf" srcId="{90EC3D3B-F36C-4F74-9B59-5E122D0ADD0F}" destId="{6A85F6FE-8157-42F7-B44C-226D4B18EA67}" srcOrd="8" destOrd="0" presId="urn:microsoft.com/office/officeart/2005/8/layout/gear1"/>
    <dgm:cxn modelId="{9F72FB18-6090-47B1-95EE-F7B521F4F384}" type="presParOf" srcId="{90EC3D3B-F36C-4F74-9B59-5E122D0ADD0F}" destId="{9294EF54-4D1C-437D-B162-3F8860D5A6E9}" srcOrd="9"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9F1A00-9006-4FEE-9501-3D51EC0DE9E6}">
      <dsp:nvSpPr>
        <dsp:cNvPr id="0" name=""/>
        <dsp:cNvSpPr/>
      </dsp:nvSpPr>
      <dsp:spPr>
        <a:xfrm>
          <a:off x="0" y="0"/>
          <a:ext cx="4717142" cy="471714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E781E2-5CFA-42E0-A99A-3FC985867A8E}">
      <dsp:nvSpPr>
        <dsp:cNvPr id="0" name=""/>
        <dsp:cNvSpPr/>
      </dsp:nvSpPr>
      <dsp:spPr>
        <a:xfrm>
          <a:off x="2358571" y="0"/>
          <a:ext cx="5992948" cy="471714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i="0" kern="1200"/>
            <a:t>Import the </a:t>
          </a:r>
          <a:r>
            <a:rPr lang="en-US" sz="2200" b="1" i="0" kern="1200" err="1">
              <a:solidFill>
                <a:srgbClr val="FF0000"/>
              </a:solidFill>
            </a:rPr>
            <a:t>std</a:t>
          </a:r>
          <a:r>
            <a:rPr lang="en-US" sz="2200" b="1" i="0" kern="1200">
              <a:solidFill>
                <a:srgbClr val="FF0000"/>
              </a:solidFill>
            </a:rPr>
            <a:t>::</a:t>
          </a:r>
          <a:r>
            <a:rPr lang="en-US" sz="2200" b="1" i="0" kern="1200" err="1">
              <a:solidFill>
                <a:srgbClr val="FF0000"/>
              </a:solidFill>
            </a:rPr>
            <a:t>io</a:t>
          </a:r>
          <a:r>
            <a:rPr lang="en-US" sz="2200" b="1" i="0" kern="1200"/>
            <a:t> crate</a:t>
          </a:r>
          <a:endParaRPr lang="en-US" sz="2200" kern="1200"/>
        </a:p>
      </dsp:txBody>
      <dsp:txXfrm>
        <a:off x="2358571" y="0"/>
        <a:ext cx="5992948" cy="754742"/>
      </dsp:txXfrm>
    </dsp:sp>
    <dsp:sp modelId="{F5C630EE-A522-416B-BB60-90DEED99CA49}">
      <dsp:nvSpPr>
        <dsp:cNvPr id="0" name=""/>
        <dsp:cNvSpPr/>
      </dsp:nvSpPr>
      <dsp:spPr>
        <a:xfrm>
          <a:off x="495300" y="754742"/>
          <a:ext cx="3726542" cy="372654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AD2939-F740-47AE-99F2-4F680576E494}">
      <dsp:nvSpPr>
        <dsp:cNvPr id="0" name=""/>
        <dsp:cNvSpPr/>
      </dsp:nvSpPr>
      <dsp:spPr>
        <a:xfrm>
          <a:off x="2358571" y="754742"/>
          <a:ext cx="5992948" cy="372654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i="0" kern="1200"/>
            <a:t>Generate a mutable String variable</a:t>
          </a:r>
          <a:endParaRPr lang="en-US" sz="2200" b="0" i="0" kern="1200"/>
        </a:p>
      </dsp:txBody>
      <dsp:txXfrm>
        <a:off x="2358571" y="754742"/>
        <a:ext cx="5992948" cy="754742"/>
      </dsp:txXfrm>
    </dsp:sp>
    <dsp:sp modelId="{0424121F-E505-49B0-9C1B-0ACAFFD797DC}">
      <dsp:nvSpPr>
        <dsp:cNvPr id="0" name=""/>
        <dsp:cNvSpPr/>
      </dsp:nvSpPr>
      <dsp:spPr>
        <a:xfrm>
          <a:off x="990600" y="1509485"/>
          <a:ext cx="2735942" cy="273594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0ADDF7-9817-4DB2-AB9E-F3A6BEC19729}">
      <dsp:nvSpPr>
        <dsp:cNvPr id="0" name=""/>
        <dsp:cNvSpPr/>
      </dsp:nvSpPr>
      <dsp:spPr>
        <a:xfrm>
          <a:off x="2358571" y="1509485"/>
          <a:ext cx="5992948" cy="273594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i="0" kern="1200"/>
            <a:t>Generate a variable </a:t>
          </a:r>
          <a:r>
            <a:rPr lang="en-US" sz="2200" b="1" i="0" kern="1200" err="1">
              <a:solidFill>
                <a:srgbClr val="FF0000"/>
              </a:solidFill>
            </a:rPr>
            <a:t>stdin</a:t>
          </a:r>
          <a:r>
            <a:rPr lang="en-US" sz="2200" b="1" i="0" kern="1200"/>
            <a:t> with an instance of </a:t>
          </a:r>
          <a:r>
            <a:rPr lang="en-US" sz="2200" b="1" i="0" kern="1200" err="1">
              <a:solidFill>
                <a:schemeClr val="accent2"/>
              </a:solidFill>
            </a:rPr>
            <a:t>io</a:t>
          </a:r>
          <a:r>
            <a:rPr lang="en-US" sz="2200" b="1" i="0" kern="1200">
              <a:solidFill>
                <a:schemeClr val="accent2"/>
              </a:solidFill>
            </a:rPr>
            <a:t>::</a:t>
          </a:r>
          <a:r>
            <a:rPr lang="en-US" sz="2200" b="1" i="0" kern="1200" err="1">
              <a:solidFill>
                <a:schemeClr val="accent2"/>
              </a:solidFill>
            </a:rPr>
            <a:t>stdin</a:t>
          </a:r>
          <a:r>
            <a:rPr lang="en-US" sz="2200" b="1" i="0" kern="1200">
              <a:solidFill>
                <a:schemeClr val="accent2"/>
              </a:solidFill>
            </a:rPr>
            <a:t>()</a:t>
          </a:r>
          <a:endParaRPr lang="en-US" sz="2200" b="0" i="0" kern="1200">
            <a:solidFill>
              <a:schemeClr val="accent2"/>
            </a:solidFill>
          </a:endParaRPr>
        </a:p>
      </dsp:txBody>
      <dsp:txXfrm>
        <a:off x="2358571" y="1509485"/>
        <a:ext cx="5992948" cy="754742"/>
      </dsp:txXfrm>
    </dsp:sp>
    <dsp:sp modelId="{8E90949B-ACF0-4111-8AC8-C226113EE581}">
      <dsp:nvSpPr>
        <dsp:cNvPr id="0" name=""/>
        <dsp:cNvSpPr/>
      </dsp:nvSpPr>
      <dsp:spPr>
        <a:xfrm>
          <a:off x="1485900" y="2264228"/>
          <a:ext cx="1745342" cy="174534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5CAE10-FAD1-4E8A-B3EE-9DCD2A0186C2}">
      <dsp:nvSpPr>
        <dsp:cNvPr id="0" name=""/>
        <dsp:cNvSpPr/>
      </dsp:nvSpPr>
      <dsp:spPr>
        <a:xfrm>
          <a:off x="2358571" y="2264228"/>
          <a:ext cx="5992948" cy="174534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i="0" kern="1200"/>
            <a:t>Trigger the method </a:t>
          </a:r>
          <a:r>
            <a:rPr lang="en-US" sz="2200" b="1" i="0" kern="1200">
              <a:solidFill>
                <a:srgbClr val="FF0000"/>
              </a:solidFill>
            </a:rPr>
            <a:t>.</a:t>
          </a:r>
          <a:r>
            <a:rPr lang="en-US" sz="2200" b="1" i="0" kern="1200" err="1">
              <a:solidFill>
                <a:srgbClr val="FF0000"/>
              </a:solidFill>
            </a:rPr>
            <a:t>read_line</a:t>
          </a:r>
          <a:r>
            <a:rPr lang="en-US" sz="2200" b="1" i="0" kern="1200">
              <a:solidFill>
                <a:srgbClr val="FF0000"/>
              </a:solidFill>
            </a:rPr>
            <a:t>()</a:t>
          </a:r>
          <a:r>
            <a:rPr lang="en-US" sz="2200" b="1" i="0" kern="1200"/>
            <a:t> from </a:t>
          </a:r>
          <a:r>
            <a:rPr lang="en-US" sz="2200" b="1" i="0" kern="1200" err="1">
              <a:solidFill>
                <a:srgbClr val="FF0000"/>
              </a:solidFill>
            </a:rPr>
            <a:t>stdin</a:t>
          </a:r>
          <a:endParaRPr lang="en-US" sz="2200" b="0" i="0" kern="1200">
            <a:solidFill>
              <a:srgbClr val="FF0000"/>
            </a:solidFill>
          </a:endParaRPr>
        </a:p>
      </dsp:txBody>
      <dsp:txXfrm>
        <a:off x="2358571" y="2264228"/>
        <a:ext cx="5992948" cy="754742"/>
      </dsp:txXfrm>
    </dsp:sp>
    <dsp:sp modelId="{36D68D8F-FEF4-463B-BC81-A05EAD163AA3}">
      <dsp:nvSpPr>
        <dsp:cNvPr id="0" name=""/>
        <dsp:cNvSpPr/>
      </dsp:nvSpPr>
      <dsp:spPr>
        <a:xfrm>
          <a:off x="1981200" y="3018971"/>
          <a:ext cx="754742" cy="75474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36FF65-0173-47DB-9277-8521D5BDA61D}">
      <dsp:nvSpPr>
        <dsp:cNvPr id="0" name=""/>
        <dsp:cNvSpPr/>
      </dsp:nvSpPr>
      <dsp:spPr>
        <a:xfrm>
          <a:off x="2358571" y="3018971"/>
          <a:ext cx="5992948" cy="75474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i="0" kern="1200"/>
            <a:t>Run your code: read the user input</a:t>
          </a:r>
          <a:endParaRPr lang="en-US" sz="2200" b="0" i="0" kern="1200"/>
        </a:p>
      </dsp:txBody>
      <dsp:txXfrm>
        <a:off x="2358571" y="3018971"/>
        <a:ext cx="5992948" cy="7547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A8DB31-64D2-483D-8740-8322C54E0C81}">
      <dsp:nvSpPr>
        <dsp:cNvPr id="0" name=""/>
        <dsp:cNvSpPr/>
      </dsp:nvSpPr>
      <dsp:spPr>
        <a:xfrm rot="16200000">
          <a:off x="1492613" y="-1492613"/>
          <a:ext cx="4556397" cy="754162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0" rIns="168672" bIns="0" numCol="1" spcCol="1270" anchor="ctr" anchorCtr="0">
          <a:noAutofit/>
        </a:bodyPr>
        <a:lstStyle/>
        <a:p>
          <a:pPr marL="0" lvl="0" indent="0" algn="l" defTabSz="1200150">
            <a:lnSpc>
              <a:spcPct val="90000"/>
            </a:lnSpc>
            <a:spcBef>
              <a:spcPct val="0"/>
            </a:spcBef>
            <a:spcAft>
              <a:spcPct val="35000"/>
            </a:spcAft>
            <a:buNone/>
          </a:pPr>
          <a:r>
            <a:rPr lang="en-US" sz="2700" b="0" i="0" kern="1200"/>
            <a:t>Decision-making structures require that the programmer specify one or more conditions to be evaluated or tested by the program, along with a statement or statements to be executed if the condition is determined to be true, and optionally, other statements to be executed if the condition is determined to be false.</a:t>
          </a:r>
          <a:endParaRPr lang="en-US" sz="2700" kern="1200"/>
        </a:p>
      </dsp:txBody>
      <dsp:txXfrm rot="5400000">
        <a:off x="0" y="911279"/>
        <a:ext cx="7541623" cy="27338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AB41A-6B3B-41FE-B302-504D6241A580}">
      <dsp:nvSpPr>
        <dsp:cNvPr id="0" name=""/>
        <dsp:cNvSpPr/>
      </dsp:nvSpPr>
      <dsp:spPr>
        <a:xfrm rot="16200000">
          <a:off x="1770742" y="-1770742"/>
          <a:ext cx="4923246" cy="8464731"/>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0" tIns="0" rIns="162719" bIns="0" numCol="1" spcCol="1270" anchor="ctr" anchorCtr="0">
          <a:noAutofit/>
        </a:bodyPr>
        <a:lstStyle/>
        <a:p>
          <a:pPr marL="0" lvl="0" indent="0" algn="l" defTabSz="1155700">
            <a:lnSpc>
              <a:spcPct val="90000"/>
            </a:lnSpc>
            <a:spcBef>
              <a:spcPct val="0"/>
            </a:spcBef>
            <a:spcAft>
              <a:spcPct val="35000"/>
            </a:spcAft>
            <a:buNone/>
          </a:pPr>
          <a:r>
            <a:rPr lang="en-US" sz="2600" b="0" i="0" kern="1200"/>
            <a:t>A loop statement allows us to execute a statement or group of statements multiple times. Programming languages provide various control structures that allow for more complicated execution paths. There may be instances, where a block of code needs to be executed repeatedly. In general, programming instructions are executed sequentially: The first statement in a function is executed first, followed by the second, and so on.</a:t>
          </a:r>
          <a:endParaRPr lang="en-US" sz="2600" kern="1200"/>
        </a:p>
      </dsp:txBody>
      <dsp:txXfrm rot="5400000">
        <a:off x="0" y="984649"/>
        <a:ext cx="8464731" cy="29539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4FBC1C-38D6-4C79-AFBE-2E48BA77EFE4}">
      <dsp:nvSpPr>
        <dsp:cNvPr id="0" name=""/>
        <dsp:cNvSpPr/>
      </dsp:nvSpPr>
      <dsp:spPr>
        <a:xfrm>
          <a:off x="4351890" y="1815084"/>
          <a:ext cx="2852275" cy="2852275"/>
        </a:xfrm>
        <a:prstGeom prst="gear9">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Definite Loop</a:t>
          </a:r>
        </a:p>
      </dsp:txBody>
      <dsp:txXfrm>
        <a:off x="4925324" y="2483216"/>
        <a:ext cx="1705407" cy="1466128"/>
      </dsp:txXfrm>
    </dsp:sp>
    <dsp:sp modelId="{3E62E274-7EF0-49D7-AEFF-B87BC2CDD1C3}">
      <dsp:nvSpPr>
        <dsp:cNvPr id="0" name=""/>
        <dsp:cNvSpPr/>
      </dsp:nvSpPr>
      <dsp:spPr>
        <a:xfrm>
          <a:off x="3988873" y="3578308"/>
          <a:ext cx="1815084" cy="10890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en-US" sz="1500" kern="1200"/>
            <a:t>For</a:t>
          </a:r>
        </a:p>
      </dsp:txBody>
      <dsp:txXfrm>
        <a:off x="4020770" y="3610205"/>
        <a:ext cx="1751290" cy="1025256"/>
      </dsp:txXfrm>
    </dsp:sp>
    <dsp:sp modelId="{900766E4-9697-40BA-AD03-8E4FC88A0581}">
      <dsp:nvSpPr>
        <dsp:cNvPr id="0" name=""/>
        <dsp:cNvSpPr/>
      </dsp:nvSpPr>
      <dsp:spPr>
        <a:xfrm>
          <a:off x="2692384" y="1140910"/>
          <a:ext cx="2074382" cy="2074382"/>
        </a:xfrm>
        <a:prstGeom prst="gear6">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Indefinite Loop</a:t>
          </a:r>
        </a:p>
      </dsp:txBody>
      <dsp:txXfrm>
        <a:off x="3214616" y="1666298"/>
        <a:ext cx="1029918" cy="1023606"/>
      </dsp:txXfrm>
    </dsp:sp>
    <dsp:sp modelId="{B76129B7-29DF-46C1-AE4B-5EF434454B4D}">
      <dsp:nvSpPr>
        <dsp:cNvPr id="0" name=""/>
        <dsp:cNvSpPr/>
      </dsp:nvSpPr>
      <dsp:spPr>
        <a:xfrm>
          <a:off x="3781435" y="726033"/>
          <a:ext cx="1815084" cy="10890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en-US" sz="1500" kern="1200"/>
            <a:t>While</a:t>
          </a:r>
        </a:p>
        <a:p>
          <a:pPr marL="114300" lvl="1" indent="-114300" algn="l" defTabSz="666750">
            <a:lnSpc>
              <a:spcPct val="90000"/>
            </a:lnSpc>
            <a:spcBef>
              <a:spcPct val="0"/>
            </a:spcBef>
            <a:spcAft>
              <a:spcPct val="15000"/>
            </a:spcAft>
            <a:buChar char="•"/>
          </a:pPr>
          <a:r>
            <a:rPr lang="en-US" sz="1500" kern="1200"/>
            <a:t>Loop</a:t>
          </a:r>
        </a:p>
      </dsp:txBody>
      <dsp:txXfrm>
        <a:off x="3813332" y="757930"/>
        <a:ext cx="1751290" cy="1025256"/>
      </dsp:txXfrm>
    </dsp:sp>
    <dsp:sp modelId="{6A85F6FE-8157-42F7-B44C-226D4B18EA67}">
      <dsp:nvSpPr>
        <dsp:cNvPr id="0" name=""/>
        <dsp:cNvSpPr/>
      </dsp:nvSpPr>
      <dsp:spPr>
        <a:xfrm>
          <a:off x="4513721" y="1313223"/>
          <a:ext cx="3508298" cy="3508298"/>
        </a:xfrm>
        <a:prstGeom prst="circularArrow">
          <a:avLst>
            <a:gd name="adj1" fmla="val 4878"/>
            <a:gd name="adj2" fmla="val 312630"/>
            <a:gd name="adj3" fmla="val 3210449"/>
            <a:gd name="adj4" fmla="val 15131510"/>
            <a:gd name="adj5" fmla="val 5691"/>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 modelId="{9294EF54-4D1C-437D-B162-3F8860D5A6E9}">
      <dsp:nvSpPr>
        <dsp:cNvPr id="0" name=""/>
        <dsp:cNvSpPr/>
      </dsp:nvSpPr>
      <dsp:spPr>
        <a:xfrm>
          <a:off x="2325015" y="677672"/>
          <a:ext cx="2652615" cy="2652615"/>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79330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3495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934349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171083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2690230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255495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031129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718689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169550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259073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087243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550929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831823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21973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188358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7016644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031081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166831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148610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4890633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38748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186178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9570417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p:nvPr/>
        </p:nvSpPr>
        <p:spPr>
          <a:xfrm rot="10800000" flipH="1">
            <a:off x="0" y="-2"/>
            <a:ext cx="9144000" cy="4953001"/>
          </a:xfrm>
          <a:prstGeom prst="rect">
            <a:avLst/>
          </a:prstGeom>
          <a:solidFill>
            <a:srgbClr val="000F2E"/>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2"/>
          <p:cNvSpPr txBox="1">
            <a:spLocks noGrp="1"/>
          </p:cNvSpPr>
          <p:nvPr>
            <p:ph type="ctrTitle"/>
          </p:nvPr>
        </p:nvSpPr>
        <p:spPr>
          <a:xfrm>
            <a:off x="685800" y="1371600"/>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lt1"/>
              </a:buClr>
              <a:buSzPts val="4400"/>
              <a:buFont typeface="Calibri"/>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2"/>
          <p:cNvSpPr txBox="1">
            <a:spLocks noGrp="1"/>
          </p:cNvSpPr>
          <p:nvPr>
            <p:ph type="subTitle" idx="1"/>
          </p:nvPr>
        </p:nvSpPr>
        <p:spPr>
          <a:xfrm>
            <a:off x="1371600" y="3127375"/>
            <a:ext cx="6400800" cy="1216025"/>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lt1"/>
              </a:buClr>
              <a:buSzPts val="3200"/>
              <a:buNone/>
              <a:defRPr b="1">
                <a:solidFill>
                  <a:schemeClr val="lt1"/>
                </a:solidFill>
              </a:defRPr>
            </a:lvl1pPr>
            <a:lvl2pPr lvl="1" algn="ctr">
              <a:spcBef>
                <a:spcPts val="560"/>
              </a:spcBef>
              <a:spcAft>
                <a:spcPts val="0"/>
              </a:spcAft>
              <a:buClr>
                <a:srgbClr val="888A9C"/>
              </a:buClr>
              <a:buSzPts val="2800"/>
              <a:buNone/>
              <a:defRPr>
                <a:solidFill>
                  <a:srgbClr val="888A9C"/>
                </a:solidFill>
              </a:defRPr>
            </a:lvl2pPr>
            <a:lvl3pPr lvl="2" algn="ctr">
              <a:spcBef>
                <a:spcPts val="480"/>
              </a:spcBef>
              <a:spcAft>
                <a:spcPts val="0"/>
              </a:spcAft>
              <a:buClr>
                <a:srgbClr val="888A9C"/>
              </a:buClr>
              <a:buSzPts val="2400"/>
              <a:buNone/>
              <a:defRPr>
                <a:solidFill>
                  <a:srgbClr val="888A9C"/>
                </a:solidFill>
              </a:defRPr>
            </a:lvl3pPr>
            <a:lvl4pPr lvl="3" algn="ctr">
              <a:spcBef>
                <a:spcPts val="400"/>
              </a:spcBef>
              <a:spcAft>
                <a:spcPts val="0"/>
              </a:spcAft>
              <a:buClr>
                <a:srgbClr val="888A9C"/>
              </a:buClr>
              <a:buSzPts val="2000"/>
              <a:buNone/>
              <a:defRPr>
                <a:solidFill>
                  <a:srgbClr val="888A9C"/>
                </a:solidFill>
              </a:defRPr>
            </a:lvl4pPr>
            <a:lvl5pPr lvl="4" algn="ctr">
              <a:spcBef>
                <a:spcPts val="400"/>
              </a:spcBef>
              <a:spcAft>
                <a:spcPts val="0"/>
              </a:spcAft>
              <a:buClr>
                <a:srgbClr val="888A9C"/>
              </a:buClr>
              <a:buSzPts val="2000"/>
              <a:buNone/>
              <a:defRPr>
                <a:solidFill>
                  <a:srgbClr val="888A9C"/>
                </a:solidFill>
              </a:defRPr>
            </a:lvl5pPr>
            <a:lvl6pPr lvl="5" algn="ctr">
              <a:spcBef>
                <a:spcPts val="400"/>
              </a:spcBef>
              <a:spcAft>
                <a:spcPts val="0"/>
              </a:spcAft>
              <a:buClr>
                <a:srgbClr val="888A9C"/>
              </a:buClr>
              <a:buSzPts val="2000"/>
              <a:buNone/>
              <a:defRPr>
                <a:solidFill>
                  <a:srgbClr val="888A9C"/>
                </a:solidFill>
              </a:defRPr>
            </a:lvl6pPr>
            <a:lvl7pPr lvl="6" algn="ctr">
              <a:spcBef>
                <a:spcPts val="400"/>
              </a:spcBef>
              <a:spcAft>
                <a:spcPts val="0"/>
              </a:spcAft>
              <a:buClr>
                <a:srgbClr val="888A9C"/>
              </a:buClr>
              <a:buSzPts val="2000"/>
              <a:buNone/>
              <a:defRPr>
                <a:solidFill>
                  <a:srgbClr val="888A9C"/>
                </a:solidFill>
              </a:defRPr>
            </a:lvl7pPr>
            <a:lvl8pPr lvl="7" algn="ctr">
              <a:spcBef>
                <a:spcPts val="400"/>
              </a:spcBef>
              <a:spcAft>
                <a:spcPts val="0"/>
              </a:spcAft>
              <a:buClr>
                <a:srgbClr val="888A9C"/>
              </a:buClr>
              <a:buSzPts val="2000"/>
              <a:buNone/>
              <a:defRPr>
                <a:solidFill>
                  <a:srgbClr val="888A9C"/>
                </a:solidFill>
              </a:defRPr>
            </a:lvl8pPr>
            <a:lvl9pPr lvl="8" algn="ctr">
              <a:spcBef>
                <a:spcPts val="400"/>
              </a:spcBef>
              <a:spcAft>
                <a:spcPts val="0"/>
              </a:spcAft>
              <a:buClr>
                <a:srgbClr val="888A9C"/>
              </a:buClr>
              <a:buSzPts val="2000"/>
              <a:buNone/>
              <a:defRPr>
                <a:solidFill>
                  <a:srgbClr val="888A9C"/>
                </a:solidFill>
              </a:defRPr>
            </a:lvl9pPr>
          </a:lstStyle>
          <a:p>
            <a:r>
              <a:rPr lang="en-US"/>
              <a:t>Click to edit Master subtitle style</a:t>
            </a:r>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pic>
        <p:nvPicPr>
          <p:cNvPr id="22" name="Google Shape;22;p2"/>
          <p:cNvPicPr preferRelativeResize="0"/>
          <p:nvPr/>
        </p:nvPicPr>
        <p:blipFill rotWithShape="1">
          <a:blip r:embed="rId2">
            <a:alphaModFix/>
          </a:blip>
          <a:srcRect/>
          <a:stretch/>
        </p:blipFill>
        <p:spPr>
          <a:xfrm>
            <a:off x="3330414" y="5281369"/>
            <a:ext cx="2843999" cy="1104862"/>
          </a:xfrm>
          <a:prstGeom prst="rect">
            <a:avLst/>
          </a:prstGeom>
          <a:noFill/>
          <a:ln>
            <a:noFill/>
          </a:ln>
        </p:spPr>
      </p:pic>
      <p:sp>
        <p:nvSpPr>
          <p:cNvPr id="23" name="Google Shape;23;p2"/>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50274005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Title and Content">
    <p:bg>
      <p:bgRef idx="1001">
        <a:schemeClr val="bg1"/>
      </p:bgRef>
    </p:bg>
    <p:spTree>
      <p:nvGrpSpPr>
        <p:cNvPr id="1" name="Shape 24"/>
        <p:cNvGrpSpPr/>
        <p:nvPr/>
      </p:nvGrpSpPr>
      <p:grpSpPr>
        <a:xfrm>
          <a:off x="0" y="0"/>
          <a:ext cx="0" cy="0"/>
          <a:chOff x="0" y="0"/>
          <a:chExt cx="0" cy="0"/>
        </a:xfrm>
      </p:grpSpPr>
      <p:sp>
        <p:nvSpPr>
          <p:cNvPr id="25" name="Google Shape;25;p3"/>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3"/>
          <p:cNvSpPr/>
          <p:nvPr/>
        </p:nvSpPr>
        <p:spPr>
          <a:xfrm rot="10800000" flipH="1">
            <a:off x="-2458" y="11430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3"/>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3"/>
          <p:cNvSpPr txBox="1">
            <a:spLocks noGrp="1"/>
          </p:cNvSpPr>
          <p:nvPr>
            <p:ph type="body" idx="1"/>
          </p:nvPr>
        </p:nvSpPr>
        <p:spPr>
          <a:xfrm>
            <a:off x="457200" y="1524000"/>
            <a:ext cx="8229600" cy="4942175"/>
          </a:xfrm>
          <a:prstGeom prst="rect">
            <a:avLst/>
          </a:prstGeom>
          <a:noFill/>
          <a:ln>
            <a:noFill/>
          </a:ln>
        </p:spPr>
        <p:txBody>
          <a:bodyPr spcFirstLastPara="1" wrap="square" lIns="91425" tIns="45700" rIns="91425" bIns="45700" anchor="t" anchorCtr="0">
            <a:noAutofit/>
          </a:bodyPr>
          <a:lstStyle>
            <a:lvl1pPr marL="457200" lvl="0" indent="-342900" algn="l">
              <a:spcBef>
                <a:spcPts val="600"/>
              </a:spcBef>
              <a:spcAft>
                <a:spcPts val="0"/>
              </a:spcAft>
              <a:buClr>
                <a:schemeClr val="dk1"/>
              </a:buClr>
              <a:buSzPts val="1800"/>
              <a:buFont typeface="Calibri"/>
              <a:buChar char="•"/>
              <a:defRPr sz="3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29" name="Google Shape;29;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pic>
        <p:nvPicPr>
          <p:cNvPr id="30" name="Google Shape;30;p3"/>
          <p:cNvPicPr preferRelativeResize="0"/>
          <p:nvPr/>
        </p:nvPicPr>
        <p:blipFill rotWithShape="1">
          <a:blip r:embed="rId2">
            <a:alphaModFix/>
          </a:blip>
          <a:srcRect/>
          <a:stretch/>
        </p:blipFill>
        <p:spPr>
          <a:xfrm>
            <a:off x="4304167" y="6400800"/>
            <a:ext cx="365760" cy="405070"/>
          </a:xfrm>
          <a:prstGeom prst="rect">
            <a:avLst/>
          </a:prstGeom>
          <a:noFill/>
          <a:ln>
            <a:noFill/>
          </a:ln>
        </p:spPr>
      </p:pic>
      <p:pic>
        <p:nvPicPr>
          <p:cNvPr id="31" name="Google Shape;31;p3"/>
          <p:cNvPicPr preferRelativeResize="0"/>
          <p:nvPr/>
        </p:nvPicPr>
        <p:blipFill rotWithShape="1">
          <a:blip r:embed="rId3">
            <a:alphaModFix/>
          </a:blip>
          <a:srcRect/>
          <a:stretch/>
        </p:blipFill>
        <p:spPr>
          <a:xfrm>
            <a:off x="4364295" y="6466175"/>
            <a:ext cx="245505" cy="274320"/>
          </a:xfrm>
          <a:prstGeom prst="rect">
            <a:avLst/>
          </a:prstGeom>
          <a:noFill/>
          <a:ln>
            <a:noFill/>
          </a:ln>
        </p:spPr>
      </p:pic>
      <p:sp>
        <p:nvSpPr>
          <p:cNvPr id="32" name="Google Shape;32;p3"/>
          <p:cNvSpPr txBox="1">
            <a:spLocks noGrp="1"/>
          </p:cNvSpPr>
          <p:nvPr>
            <p:ph type="sldNum" idx="12"/>
          </p:nvPr>
        </p:nvSpPr>
        <p:spPr>
          <a:xfrm>
            <a:off x="4296547" y="6400800"/>
            <a:ext cx="3810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100" b="1" i="0" u="none" strike="noStrike" cap="none">
                <a:solidFill>
                  <a:srgbClr val="000F2E"/>
                </a:solidFill>
                <a:latin typeface="Calibri"/>
                <a:ea typeface="Calibri"/>
                <a:cs typeface="Calibri"/>
                <a:sym typeface="Calibri"/>
              </a:defRPr>
            </a:lvl1pPr>
            <a:lvl2pPr marL="0" lvl="1" indent="0" algn="ctr">
              <a:spcBef>
                <a:spcPts val="0"/>
              </a:spcBef>
              <a:buNone/>
              <a:defRPr sz="1100" b="1" i="0" u="none" strike="noStrike" cap="none">
                <a:solidFill>
                  <a:srgbClr val="000F2E"/>
                </a:solidFill>
                <a:latin typeface="Calibri"/>
                <a:ea typeface="Calibri"/>
                <a:cs typeface="Calibri"/>
                <a:sym typeface="Calibri"/>
              </a:defRPr>
            </a:lvl2pPr>
            <a:lvl3pPr marL="0" lvl="2" indent="0" algn="ctr">
              <a:spcBef>
                <a:spcPts val="0"/>
              </a:spcBef>
              <a:buNone/>
              <a:defRPr sz="1100" b="1" i="0" u="none" strike="noStrike" cap="none">
                <a:solidFill>
                  <a:srgbClr val="000F2E"/>
                </a:solidFill>
                <a:latin typeface="Calibri"/>
                <a:ea typeface="Calibri"/>
                <a:cs typeface="Calibri"/>
                <a:sym typeface="Calibri"/>
              </a:defRPr>
            </a:lvl3pPr>
            <a:lvl4pPr marL="0" lvl="3" indent="0" algn="ctr">
              <a:spcBef>
                <a:spcPts val="0"/>
              </a:spcBef>
              <a:buNone/>
              <a:defRPr sz="1100" b="1" i="0" u="none" strike="noStrike" cap="none">
                <a:solidFill>
                  <a:srgbClr val="000F2E"/>
                </a:solidFill>
                <a:latin typeface="Calibri"/>
                <a:ea typeface="Calibri"/>
                <a:cs typeface="Calibri"/>
                <a:sym typeface="Calibri"/>
              </a:defRPr>
            </a:lvl4pPr>
            <a:lvl5pPr marL="0" lvl="4" indent="0" algn="ctr">
              <a:spcBef>
                <a:spcPts val="0"/>
              </a:spcBef>
              <a:buNone/>
              <a:defRPr sz="1100" b="1" i="0" u="none" strike="noStrike" cap="none">
                <a:solidFill>
                  <a:srgbClr val="000F2E"/>
                </a:solidFill>
                <a:latin typeface="Calibri"/>
                <a:ea typeface="Calibri"/>
                <a:cs typeface="Calibri"/>
                <a:sym typeface="Calibri"/>
              </a:defRPr>
            </a:lvl5pPr>
            <a:lvl6pPr marL="0" lvl="5" indent="0" algn="ctr">
              <a:spcBef>
                <a:spcPts val="0"/>
              </a:spcBef>
              <a:buNone/>
              <a:defRPr sz="1100" b="1" i="0" u="none" strike="noStrike" cap="none">
                <a:solidFill>
                  <a:srgbClr val="000F2E"/>
                </a:solidFill>
                <a:latin typeface="Calibri"/>
                <a:ea typeface="Calibri"/>
                <a:cs typeface="Calibri"/>
                <a:sym typeface="Calibri"/>
              </a:defRPr>
            </a:lvl6pPr>
            <a:lvl7pPr marL="0" lvl="6" indent="0" algn="ctr">
              <a:spcBef>
                <a:spcPts val="0"/>
              </a:spcBef>
              <a:buNone/>
              <a:defRPr sz="1100" b="1" i="0" u="none" strike="noStrike" cap="none">
                <a:solidFill>
                  <a:srgbClr val="000F2E"/>
                </a:solidFill>
                <a:latin typeface="Calibri"/>
                <a:ea typeface="Calibri"/>
                <a:cs typeface="Calibri"/>
                <a:sym typeface="Calibri"/>
              </a:defRPr>
            </a:lvl7pPr>
            <a:lvl8pPr marL="0" lvl="7" indent="0" algn="ctr">
              <a:spcBef>
                <a:spcPts val="0"/>
              </a:spcBef>
              <a:buNone/>
              <a:defRPr sz="1100" b="1" i="0" u="none" strike="noStrike" cap="none">
                <a:solidFill>
                  <a:srgbClr val="000F2E"/>
                </a:solidFill>
                <a:latin typeface="Calibri"/>
                <a:ea typeface="Calibri"/>
                <a:cs typeface="Calibri"/>
                <a:sym typeface="Calibri"/>
              </a:defRPr>
            </a:lvl8pPr>
            <a:lvl9pPr marL="0" lvl="8" indent="0" algn="ctr">
              <a:spcBef>
                <a:spcPts val="0"/>
              </a:spcBef>
              <a:buNone/>
              <a:defRPr sz="1100" b="1" i="0" u="none" strike="noStrike" cap="none">
                <a:solidFill>
                  <a:srgbClr val="000F2E"/>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smtClean="0"/>
              <a:t>‹#›</a:t>
            </a:fld>
            <a:endParaRPr lang="en-US"/>
          </a:p>
        </p:txBody>
      </p:sp>
      <p:pic>
        <p:nvPicPr>
          <p:cNvPr id="2" name="Picture 1"/>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t="6274" r="49256"/>
          <a:stretch/>
        </p:blipFill>
        <p:spPr>
          <a:xfrm>
            <a:off x="6183389" y="1378424"/>
            <a:ext cx="2960611" cy="5468390"/>
          </a:xfrm>
          <a:prstGeom prst="rect">
            <a:avLst/>
          </a:prstGeom>
        </p:spPr>
      </p:pic>
    </p:spTree>
    <p:extLst>
      <p:ext uri="{BB962C8B-B14F-4D97-AF65-F5344CB8AC3E}">
        <p14:creationId xmlns:p14="http://schemas.microsoft.com/office/powerpoint/2010/main" val="27437762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A9C"/>
              </a:buClr>
              <a:buSzPts val="2000"/>
              <a:buNone/>
              <a:defRPr sz="2000">
                <a:solidFill>
                  <a:srgbClr val="888A9C"/>
                </a:solidFill>
              </a:defRPr>
            </a:lvl1pPr>
            <a:lvl2pPr marL="914400" lvl="1" indent="-228600" algn="l">
              <a:spcBef>
                <a:spcPts val="360"/>
              </a:spcBef>
              <a:spcAft>
                <a:spcPts val="0"/>
              </a:spcAft>
              <a:buClr>
                <a:srgbClr val="888A9C"/>
              </a:buClr>
              <a:buSzPts val="1800"/>
              <a:buNone/>
              <a:defRPr sz="1800">
                <a:solidFill>
                  <a:srgbClr val="888A9C"/>
                </a:solidFill>
              </a:defRPr>
            </a:lvl2pPr>
            <a:lvl3pPr marL="1371600" lvl="2" indent="-228600" algn="l">
              <a:spcBef>
                <a:spcPts val="320"/>
              </a:spcBef>
              <a:spcAft>
                <a:spcPts val="0"/>
              </a:spcAft>
              <a:buClr>
                <a:srgbClr val="888A9C"/>
              </a:buClr>
              <a:buSzPts val="1600"/>
              <a:buNone/>
              <a:defRPr sz="1600">
                <a:solidFill>
                  <a:srgbClr val="888A9C"/>
                </a:solidFill>
              </a:defRPr>
            </a:lvl3pPr>
            <a:lvl4pPr marL="1828800" lvl="3" indent="-228600" algn="l">
              <a:spcBef>
                <a:spcPts val="280"/>
              </a:spcBef>
              <a:spcAft>
                <a:spcPts val="0"/>
              </a:spcAft>
              <a:buClr>
                <a:srgbClr val="888A9C"/>
              </a:buClr>
              <a:buSzPts val="1400"/>
              <a:buNone/>
              <a:defRPr sz="1400">
                <a:solidFill>
                  <a:srgbClr val="888A9C"/>
                </a:solidFill>
              </a:defRPr>
            </a:lvl4pPr>
            <a:lvl5pPr marL="2286000" lvl="4" indent="-228600" algn="l">
              <a:spcBef>
                <a:spcPts val="280"/>
              </a:spcBef>
              <a:spcAft>
                <a:spcPts val="0"/>
              </a:spcAft>
              <a:buClr>
                <a:srgbClr val="888A9C"/>
              </a:buClr>
              <a:buSzPts val="1400"/>
              <a:buNone/>
              <a:defRPr sz="1400">
                <a:solidFill>
                  <a:srgbClr val="888A9C"/>
                </a:solidFill>
              </a:defRPr>
            </a:lvl5pPr>
            <a:lvl6pPr marL="2743200" lvl="5" indent="-228600" algn="l">
              <a:spcBef>
                <a:spcPts val="280"/>
              </a:spcBef>
              <a:spcAft>
                <a:spcPts val="0"/>
              </a:spcAft>
              <a:buClr>
                <a:srgbClr val="888A9C"/>
              </a:buClr>
              <a:buSzPts val="1400"/>
              <a:buNone/>
              <a:defRPr sz="1400">
                <a:solidFill>
                  <a:srgbClr val="888A9C"/>
                </a:solidFill>
              </a:defRPr>
            </a:lvl6pPr>
            <a:lvl7pPr marL="3200400" lvl="6" indent="-228600" algn="l">
              <a:spcBef>
                <a:spcPts val="280"/>
              </a:spcBef>
              <a:spcAft>
                <a:spcPts val="0"/>
              </a:spcAft>
              <a:buClr>
                <a:srgbClr val="888A9C"/>
              </a:buClr>
              <a:buSzPts val="1400"/>
              <a:buNone/>
              <a:defRPr sz="1400">
                <a:solidFill>
                  <a:srgbClr val="888A9C"/>
                </a:solidFill>
              </a:defRPr>
            </a:lvl7pPr>
            <a:lvl8pPr marL="3657600" lvl="7" indent="-228600" algn="l">
              <a:spcBef>
                <a:spcPts val="280"/>
              </a:spcBef>
              <a:spcAft>
                <a:spcPts val="0"/>
              </a:spcAft>
              <a:buClr>
                <a:srgbClr val="888A9C"/>
              </a:buClr>
              <a:buSzPts val="1400"/>
              <a:buNone/>
              <a:defRPr sz="1400">
                <a:solidFill>
                  <a:srgbClr val="888A9C"/>
                </a:solidFill>
              </a:defRPr>
            </a:lvl8pPr>
            <a:lvl9pPr marL="4114800" lvl="8" indent="-228600" algn="l">
              <a:spcBef>
                <a:spcPts val="280"/>
              </a:spcBef>
              <a:spcAft>
                <a:spcPts val="0"/>
              </a:spcAft>
              <a:buClr>
                <a:srgbClr val="888A9C"/>
              </a:buClr>
              <a:buSzPts val="1400"/>
              <a:buNone/>
              <a:defRPr sz="1400">
                <a:solidFill>
                  <a:srgbClr val="888A9C"/>
                </a:solidFill>
              </a:defRPr>
            </a:lvl9pPr>
          </a:lstStyle>
          <a:p>
            <a:pPr lvl="0"/>
            <a:r>
              <a:rPr lang="en-US"/>
              <a:t>Edit Master text styles</a:t>
            </a:r>
          </a:p>
        </p:txBody>
      </p:sp>
      <p:sp>
        <p:nvSpPr>
          <p:cNvPr id="36" name="Google Shape;3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7" name="Google Shape;3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8" name="Google Shape;3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4018840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1" name="Google Shape;4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2" name="Google Shape;4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3" name="Google Shape;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4" name="Google Shape;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5" name="Google Shape;4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7197424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8" name="Google Shape;4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49" name="Google Shape;4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0" name="Google Shape;5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51" name="Google Shape;5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2" name="Google Shape;5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3" name="Google Shape;5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4" name="Google Shape;5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577927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7" name="Google Shape;5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8" name="Google Shape;5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9" name="Google Shape;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303669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2" name="Google Shape;6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3" name="Google Shape;6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387170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6" name="Google Shape;6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pPr lvl="0"/>
            <a:r>
              <a:rPr lang="en-US"/>
              <a:t>Edit Master text styles</a:t>
            </a:r>
          </a:p>
        </p:txBody>
      </p:sp>
      <p:sp>
        <p:nvSpPr>
          <p:cNvPr id="67" name="Google Shape;6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68" name="Google Shape;6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9" name="Google Shape;6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0" name="Google Shape;7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1876887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3" name="Google Shape;7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74" name="Google Shape;7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75" name="Google Shape;7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6" name="Google Shape;7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7" name="Google Shape;7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3789674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1" name="Google Shape;8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2" name="Google Shape;8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3" name="Google Shape;8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1067224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6" name="Google Shape;8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7" name="Google Shape;8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8" name="Google Shape;8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9" name="Google Shape;8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7369225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953640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3"/>
          <p:cNvSpPr txBox="1">
            <a:spLocks noGrp="1"/>
          </p:cNvSpPr>
          <p:nvPr>
            <p:ph type="ctrTitle"/>
          </p:nvPr>
        </p:nvSpPr>
        <p:spPr>
          <a:xfrm>
            <a:off x="0" y="1065670"/>
            <a:ext cx="9144001" cy="1470025"/>
          </a:xfrm>
          <a:prstGeom prst="rect">
            <a:avLst/>
          </a:prstGeom>
          <a:noFill/>
          <a:ln>
            <a:noFill/>
          </a:ln>
        </p:spPr>
        <p:txBody>
          <a:bodyPr spcFirstLastPara="1" wrap="square" lIns="91425" tIns="45700" rIns="91425" bIns="45700" anchor="ctr" anchorCtr="0">
            <a:noAutofit/>
          </a:bodyPr>
          <a:lstStyle/>
          <a:p>
            <a:r>
              <a:rPr lang="en-US" sz="4000"/>
              <a:t>Rust - Decision Making &amp; Loops</a:t>
            </a:r>
            <a:endParaRPr sz="4000"/>
          </a:p>
        </p:txBody>
      </p:sp>
      <p:sp>
        <p:nvSpPr>
          <p:cNvPr id="100" name="Google Shape;100;p13"/>
          <p:cNvSpPr txBox="1">
            <a:spLocks noGrp="1"/>
          </p:cNvSpPr>
          <p:nvPr>
            <p:ph type="subTitle" idx="1"/>
          </p:nvPr>
        </p:nvSpPr>
        <p:spPr>
          <a:xfrm>
            <a:off x="1371600" y="2535695"/>
            <a:ext cx="6400800" cy="1216025"/>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b="1" i="1"/>
              <a:t>Week 4</a:t>
            </a:r>
            <a:endParaRP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How to Read User Input in Rust </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a:t>
            </a:fld>
            <a:endParaRPr/>
          </a:p>
        </p:txBody>
      </p:sp>
      <p:graphicFrame>
        <p:nvGraphicFramePr>
          <p:cNvPr id="5" name="Diagram 4"/>
          <p:cNvGraphicFramePr/>
          <p:nvPr>
            <p:extLst>
              <p:ext uri="{D42A27DB-BD31-4B8C-83A1-F6EECF244321}">
                <p14:modId xmlns:p14="http://schemas.microsoft.com/office/powerpoint/2010/main" val="4199354231"/>
              </p:ext>
            </p:extLst>
          </p:nvPr>
        </p:nvGraphicFramePr>
        <p:xfrm>
          <a:off x="120787" y="1489528"/>
          <a:ext cx="8351520" cy="4717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966941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Rust - Standard Input</a:t>
            </a:r>
          </a:p>
        </p:txBody>
      </p:sp>
      <p:pic>
        <p:nvPicPr>
          <p:cNvPr id="4" name="Picture 3"/>
          <p:cNvPicPr>
            <a:picLocks noChangeAspect="1"/>
          </p:cNvPicPr>
          <p:nvPr/>
        </p:nvPicPr>
        <p:blipFill rotWithShape="1">
          <a:blip r:embed="rId3"/>
          <a:srcRect l="17772" t="9018" r="27905" b="35804"/>
          <a:stretch/>
        </p:blipFill>
        <p:spPr>
          <a:xfrm>
            <a:off x="623455" y="1855612"/>
            <a:ext cx="7958842" cy="4545188"/>
          </a:xfrm>
          <a:prstGeom prst="rect">
            <a:avLst/>
          </a:prstGeom>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3</a:t>
            </a:fld>
            <a:endParaRPr/>
          </a:p>
        </p:txBody>
      </p:sp>
      <p:sp>
        <p:nvSpPr>
          <p:cNvPr id="7" name="Rounded Rectangle 6"/>
          <p:cNvSpPr/>
          <p:nvPr/>
        </p:nvSpPr>
        <p:spPr>
          <a:xfrm>
            <a:off x="623455" y="1426958"/>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a:t>Practice 1: </a:t>
            </a:r>
            <a:r>
              <a:rPr lang="en-US" sz="1600" b="1" i="1">
                <a:solidFill>
                  <a:srgbClr val="FFFF00"/>
                </a:solidFill>
              </a:rPr>
              <a:t>week-4/practice_1/src/main.rs</a:t>
            </a:r>
          </a:p>
        </p:txBody>
      </p:sp>
    </p:spTree>
    <p:extLst>
      <p:ext uri="{BB962C8B-B14F-4D97-AF65-F5344CB8AC3E}">
        <p14:creationId xmlns:p14="http://schemas.microsoft.com/office/powerpoint/2010/main" val="2937886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8" name="Picture 7"/>
          <p:cNvPicPr>
            <a:picLocks noChangeAspect="1"/>
          </p:cNvPicPr>
          <p:nvPr/>
        </p:nvPicPr>
        <p:blipFill rotWithShape="1">
          <a:blip r:embed="rId3"/>
          <a:srcRect l="17471" t="9197" r="18576" b="22054"/>
          <a:stretch/>
        </p:blipFill>
        <p:spPr>
          <a:xfrm>
            <a:off x="326527" y="1371599"/>
            <a:ext cx="8321040" cy="5029201"/>
          </a:xfrm>
          <a:prstGeom prst="rect">
            <a:avLst/>
          </a:prstGeom>
        </p:spPr>
      </p:pic>
      <p:sp>
        <p:nvSpPr>
          <p:cNvPr id="2" name="Title 1"/>
          <p:cNvSpPr>
            <a:spLocks noGrp="1"/>
          </p:cNvSpPr>
          <p:nvPr>
            <p:ph type="title"/>
          </p:nvPr>
        </p:nvSpPr>
        <p:spPr/>
        <p:txBody>
          <a:bodyPr/>
          <a:lstStyle/>
          <a:p>
            <a:r>
              <a:rPr lang="en-GB" sz="4000"/>
              <a:t>Another Standard Input illustration:</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4</a:t>
            </a:fld>
            <a:endParaRPr/>
          </a:p>
        </p:txBody>
      </p:sp>
      <p:sp>
        <p:nvSpPr>
          <p:cNvPr id="7" name="Rounded Rectangle 6"/>
          <p:cNvSpPr/>
          <p:nvPr/>
        </p:nvSpPr>
        <p:spPr>
          <a:xfrm>
            <a:off x="3694092" y="1773405"/>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a:t>Practice 2: </a:t>
            </a:r>
            <a:r>
              <a:rPr lang="en-US" sz="1600" b="1" i="1">
                <a:solidFill>
                  <a:srgbClr val="FFFF00"/>
                </a:solidFill>
              </a:rPr>
              <a:t>week-4/practice_2/src/main.rs</a:t>
            </a:r>
          </a:p>
        </p:txBody>
      </p:sp>
    </p:spTree>
    <p:extLst>
      <p:ext uri="{BB962C8B-B14F-4D97-AF65-F5344CB8AC3E}">
        <p14:creationId xmlns:p14="http://schemas.microsoft.com/office/powerpoint/2010/main" val="270536892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Rust – Decision Making</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5</a:t>
            </a:fld>
            <a:endParaRPr/>
          </a:p>
        </p:txBody>
      </p:sp>
      <p:graphicFrame>
        <p:nvGraphicFramePr>
          <p:cNvPr id="21" name="Diagram 20"/>
          <p:cNvGraphicFramePr/>
          <p:nvPr>
            <p:extLst>
              <p:ext uri="{D42A27DB-BD31-4B8C-83A1-F6EECF244321}">
                <p14:modId xmlns:p14="http://schemas.microsoft.com/office/powerpoint/2010/main" val="546772252"/>
              </p:ext>
            </p:extLst>
          </p:nvPr>
        </p:nvGraphicFramePr>
        <p:xfrm>
          <a:off x="906735" y="1713773"/>
          <a:ext cx="7541623" cy="45563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537832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Rust – Decision Making</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6</a:t>
            </a:fld>
            <a:endParaRPr/>
          </a:p>
        </p:txBody>
      </p:sp>
      <p:sp>
        <p:nvSpPr>
          <p:cNvPr id="4" name="Flowchart: Decision 3"/>
          <p:cNvSpPr/>
          <p:nvPr/>
        </p:nvSpPr>
        <p:spPr>
          <a:xfrm>
            <a:off x="1955135" y="2022764"/>
            <a:ext cx="1911928" cy="170410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Condition</a:t>
            </a:r>
          </a:p>
        </p:txBody>
      </p:sp>
      <p:sp>
        <p:nvSpPr>
          <p:cNvPr id="5" name="Rectangle 4"/>
          <p:cNvSpPr/>
          <p:nvPr/>
        </p:nvSpPr>
        <p:spPr>
          <a:xfrm>
            <a:off x="1878934" y="4294909"/>
            <a:ext cx="2064327" cy="1094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Condition code</a:t>
            </a:r>
          </a:p>
        </p:txBody>
      </p:sp>
      <p:cxnSp>
        <p:nvCxnSpPr>
          <p:cNvPr id="8" name="Straight Arrow Connector 7"/>
          <p:cNvCxnSpPr>
            <a:endCxn id="4" idx="0"/>
          </p:cNvCxnSpPr>
          <p:nvPr/>
        </p:nvCxnSpPr>
        <p:spPr>
          <a:xfrm>
            <a:off x="2911099" y="1496291"/>
            <a:ext cx="0" cy="5264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911098" y="3726873"/>
            <a:ext cx="0" cy="5264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898879" y="5389418"/>
            <a:ext cx="0" cy="942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a:stCxn id="4" idx="3"/>
          </p:cNvCxnSpPr>
          <p:nvPr/>
        </p:nvCxnSpPr>
        <p:spPr>
          <a:xfrm>
            <a:off x="3867063" y="2874819"/>
            <a:ext cx="2478320" cy="3027221"/>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2911098" y="5902040"/>
            <a:ext cx="343428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811118" y="3737053"/>
            <a:ext cx="1196161" cy="523220"/>
          </a:xfrm>
          <a:prstGeom prst="rect">
            <a:avLst/>
          </a:prstGeom>
          <a:noFill/>
        </p:spPr>
        <p:txBody>
          <a:bodyPr wrap="none" rtlCol="0">
            <a:spAutoFit/>
          </a:bodyPr>
          <a:lstStyle/>
          <a:p>
            <a:r>
              <a:rPr lang="en-US" b="1"/>
              <a:t>If condition </a:t>
            </a:r>
          </a:p>
          <a:p>
            <a:r>
              <a:rPr lang="en-US" b="1"/>
              <a:t>is true</a:t>
            </a:r>
          </a:p>
        </p:txBody>
      </p:sp>
      <p:sp>
        <p:nvSpPr>
          <p:cNvPr id="22" name="TextBox 21"/>
          <p:cNvSpPr txBox="1"/>
          <p:nvPr/>
        </p:nvSpPr>
        <p:spPr>
          <a:xfrm>
            <a:off x="5106223" y="3933068"/>
            <a:ext cx="1196161" cy="523220"/>
          </a:xfrm>
          <a:prstGeom prst="rect">
            <a:avLst/>
          </a:prstGeom>
          <a:noFill/>
        </p:spPr>
        <p:txBody>
          <a:bodyPr wrap="none" rtlCol="0">
            <a:spAutoFit/>
          </a:bodyPr>
          <a:lstStyle/>
          <a:p>
            <a:r>
              <a:rPr lang="en-US" b="1"/>
              <a:t>If condition </a:t>
            </a:r>
          </a:p>
          <a:p>
            <a:r>
              <a:rPr lang="en-US" b="1"/>
              <a:t>is false</a:t>
            </a:r>
          </a:p>
        </p:txBody>
      </p:sp>
      <p:sp>
        <p:nvSpPr>
          <p:cNvPr id="14" name="Oval 13"/>
          <p:cNvSpPr/>
          <p:nvPr/>
        </p:nvSpPr>
        <p:spPr>
          <a:xfrm>
            <a:off x="2804464" y="1405311"/>
            <a:ext cx="237050" cy="2492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431920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Rust – Decision Making</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7</a:t>
            </a:fld>
            <a:endParaRPr/>
          </a:p>
        </p:txBody>
      </p:sp>
      <p:graphicFrame>
        <p:nvGraphicFramePr>
          <p:cNvPr id="3" name="Table 2"/>
          <p:cNvGraphicFramePr>
            <a:graphicFrameLocks noGrp="1"/>
          </p:cNvGraphicFramePr>
          <p:nvPr>
            <p:extLst>
              <p:ext uri="{D42A27DB-BD31-4B8C-83A1-F6EECF244321}">
                <p14:modId xmlns:p14="http://schemas.microsoft.com/office/powerpoint/2010/main" val="1204568508"/>
              </p:ext>
            </p:extLst>
          </p:nvPr>
        </p:nvGraphicFramePr>
        <p:xfrm>
          <a:off x="193963" y="1463336"/>
          <a:ext cx="8783781" cy="5016650"/>
        </p:xfrm>
        <a:graphic>
          <a:graphicData uri="http://schemas.openxmlformats.org/drawingml/2006/table">
            <a:tbl>
              <a:tblPr/>
              <a:tblGrid>
                <a:gridCol w="1052946">
                  <a:extLst>
                    <a:ext uri="{9D8B030D-6E8A-4147-A177-3AD203B41FA5}">
                      <a16:colId xmlns:a16="http://schemas.microsoft.com/office/drawing/2014/main" val="600462640"/>
                    </a:ext>
                  </a:extLst>
                </a:gridCol>
                <a:gridCol w="7730835">
                  <a:extLst>
                    <a:ext uri="{9D8B030D-6E8A-4147-A177-3AD203B41FA5}">
                      <a16:colId xmlns:a16="http://schemas.microsoft.com/office/drawing/2014/main" val="544068304"/>
                    </a:ext>
                  </a:extLst>
                </a:gridCol>
              </a:tblGrid>
              <a:tr h="540572">
                <a:tc>
                  <a:txBody>
                    <a:bodyPr/>
                    <a:lstStyle/>
                    <a:p>
                      <a:pPr algn="ctr" fontAlgn="t"/>
                      <a:r>
                        <a:rPr lang="en-US" sz="2000">
                          <a:effectLst/>
                        </a:rPr>
                        <a:t>Sr.No</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a:effectLst/>
                        </a:rPr>
                        <a:t>Statement &amp; 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291407145"/>
                  </a:ext>
                </a:extLst>
              </a:tr>
              <a:tr h="1171239">
                <a:tc>
                  <a:txBody>
                    <a:bodyPr/>
                    <a:lstStyle/>
                    <a:p>
                      <a:pPr algn="ctr" fontAlgn="t"/>
                      <a:r>
                        <a:rPr lang="en-US" sz="200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2000" b="1">
                          <a:solidFill>
                            <a:srgbClr val="000000"/>
                          </a:solidFill>
                          <a:effectLst/>
                        </a:rPr>
                        <a:t>if statement</a:t>
                      </a:r>
                      <a:endParaRPr lang="en-US" sz="2000">
                        <a:solidFill>
                          <a:srgbClr val="000000"/>
                        </a:solidFill>
                        <a:effectLst/>
                      </a:endParaRPr>
                    </a:p>
                    <a:p>
                      <a:pPr algn="just" fontAlgn="t"/>
                      <a:r>
                        <a:rPr lang="en-US" sz="2000">
                          <a:solidFill>
                            <a:srgbClr val="000000"/>
                          </a:solidFill>
                          <a:effectLst/>
                        </a:rPr>
                        <a:t>An </a:t>
                      </a:r>
                      <a:r>
                        <a:rPr lang="en-US" sz="2000" i="1">
                          <a:solidFill>
                            <a:srgbClr val="000000"/>
                          </a:solidFill>
                          <a:effectLst/>
                        </a:rPr>
                        <a:t>if</a:t>
                      </a:r>
                      <a:r>
                        <a:rPr lang="en-US" sz="2000">
                          <a:solidFill>
                            <a:srgbClr val="000000"/>
                          </a:solidFill>
                          <a:effectLst/>
                        </a:rPr>
                        <a:t> statement consists of a Boolean expression followed by one or more statements.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83938775"/>
                  </a:ext>
                </a:extLst>
              </a:tr>
              <a:tr h="1171239">
                <a:tc>
                  <a:txBody>
                    <a:bodyPr/>
                    <a:lstStyle/>
                    <a:p>
                      <a:pPr algn="ctr" fontAlgn="t"/>
                      <a:r>
                        <a:rPr lang="en-US" sz="2000">
                          <a:effectLst/>
                        </a:rPr>
                        <a:t>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2000" b="1">
                          <a:solidFill>
                            <a:srgbClr val="000000"/>
                          </a:solidFill>
                          <a:effectLst/>
                        </a:rPr>
                        <a:t>if...else statement</a:t>
                      </a:r>
                      <a:endParaRPr lang="en-US" sz="2000">
                        <a:solidFill>
                          <a:srgbClr val="000000"/>
                        </a:solidFill>
                        <a:effectLst/>
                      </a:endParaRPr>
                    </a:p>
                    <a:p>
                      <a:pPr algn="just" fontAlgn="t"/>
                      <a:r>
                        <a:rPr lang="en-US" sz="2000">
                          <a:solidFill>
                            <a:srgbClr val="000000"/>
                          </a:solidFill>
                          <a:effectLst/>
                        </a:rPr>
                        <a:t>An </a:t>
                      </a:r>
                      <a:r>
                        <a:rPr lang="en-US" sz="2000" i="1">
                          <a:solidFill>
                            <a:srgbClr val="000000"/>
                          </a:solidFill>
                          <a:effectLst/>
                        </a:rPr>
                        <a:t>if</a:t>
                      </a:r>
                      <a:r>
                        <a:rPr lang="en-US" sz="2000">
                          <a:solidFill>
                            <a:srgbClr val="000000"/>
                          </a:solidFill>
                          <a:effectLst/>
                        </a:rPr>
                        <a:t> statement can be followed by an optional </a:t>
                      </a:r>
                      <a:r>
                        <a:rPr lang="en-US" sz="2000" i="1">
                          <a:solidFill>
                            <a:srgbClr val="000000"/>
                          </a:solidFill>
                          <a:effectLst/>
                        </a:rPr>
                        <a:t>else</a:t>
                      </a:r>
                      <a:r>
                        <a:rPr lang="en-US" sz="2000">
                          <a:solidFill>
                            <a:srgbClr val="000000"/>
                          </a:solidFill>
                          <a:effectLst/>
                        </a:rPr>
                        <a:t> statement, which executes when the Boolean expression is false.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81209170"/>
                  </a:ext>
                </a:extLst>
              </a:tr>
              <a:tr h="855905">
                <a:tc>
                  <a:txBody>
                    <a:bodyPr/>
                    <a:lstStyle/>
                    <a:p>
                      <a:pPr algn="ctr" fontAlgn="t"/>
                      <a:r>
                        <a:rPr lang="en-US" sz="2000">
                          <a:effectLst/>
                        </a:rPr>
                        <a:t>3</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2000" b="1">
                          <a:solidFill>
                            <a:srgbClr val="000000"/>
                          </a:solidFill>
                          <a:effectLst/>
                        </a:rPr>
                        <a:t>else...if and nested ifstatement</a:t>
                      </a:r>
                      <a:endParaRPr lang="en-US" sz="2000">
                        <a:solidFill>
                          <a:srgbClr val="000000"/>
                        </a:solidFill>
                        <a:effectLst/>
                      </a:endParaRPr>
                    </a:p>
                    <a:p>
                      <a:pPr algn="just" fontAlgn="t"/>
                      <a:r>
                        <a:rPr lang="en-US" sz="2000">
                          <a:solidFill>
                            <a:srgbClr val="000000"/>
                          </a:solidFill>
                          <a:effectLst/>
                        </a:rPr>
                        <a:t>You can use one </a:t>
                      </a:r>
                      <a:r>
                        <a:rPr lang="en-US" sz="2000" i="1">
                          <a:solidFill>
                            <a:srgbClr val="000000"/>
                          </a:solidFill>
                          <a:effectLst/>
                        </a:rPr>
                        <a:t>if</a:t>
                      </a:r>
                      <a:r>
                        <a:rPr lang="en-US" sz="2000">
                          <a:solidFill>
                            <a:srgbClr val="000000"/>
                          </a:solidFill>
                          <a:effectLst/>
                        </a:rPr>
                        <a:t> or </a:t>
                      </a:r>
                      <a:r>
                        <a:rPr lang="en-US" sz="2000" i="1">
                          <a:solidFill>
                            <a:srgbClr val="000000"/>
                          </a:solidFill>
                          <a:effectLst/>
                        </a:rPr>
                        <a:t>else if</a:t>
                      </a:r>
                      <a:r>
                        <a:rPr lang="en-US" sz="2000">
                          <a:solidFill>
                            <a:srgbClr val="000000"/>
                          </a:solidFill>
                          <a:effectLst/>
                        </a:rPr>
                        <a:t> statement inside another </a:t>
                      </a:r>
                      <a:r>
                        <a:rPr lang="en-US" sz="2000" i="1">
                          <a:solidFill>
                            <a:srgbClr val="000000"/>
                          </a:solidFill>
                          <a:effectLst/>
                        </a:rPr>
                        <a:t>if</a:t>
                      </a:r>
                      <a:r>
                        <a:rPr lang="en-US" sz="2000">
                          <a:solidFill>
                            <a:srgbClr val="000000"/>
                          </a:solidFill>
                          <a:effectLst/>
                        </a:rPr>
                        <a:t> or </a:t>
                      </a:r>
                      <a:r>
                        <a:rPr lang="en-US" sz="2000" i="1">
                          <a:solidFill>
                            <a:srgbClr val="000000"/>
                          </a:solidFill>
                          <a:effectLst/>
                        </a:rPr>
                        <a:t>else if</a:t>
                      </a:r>
                      <a:r>
                        <a:rPr lang="en-US" sz="2000">
                          <a:solidFill>
                            <a:srgbClr val="000000"/>
                          </a:solidFill>
                          <a:effectLst/>
                        </a:rPr>
                        <a:t> statement(s).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16785661"/>
                  </a:ext>
                </a:extLst>
              </a:tr>
              <a:tr h="855905">
                <a:tc>
                  <a:txBody>
                    <a:bodyPr/>
                    <a:lstStyle/>
                    <a:p>
                      <a:pPr algn="ctr" fontAlgn="t"/>
                      <a:r>
                        <a:rPr lang="en-US" sz="2000">
                          <a:effectLst/>
                        </a:rPr>
                        <a:t>4</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2000" b="1">
                          <a:solidFill>
                            <a:srgbClr val="000000"/>
                          </a:solidFill>
                          <a:effectLst/>
                        </a:rPr>
                        <a:t>match statement</a:t>
                      </a:r>
                      <a:endParaRPr lang="en-US" sz="2000">
                        <a:solidFill>
                          <a:srgbClr val="000000"/>
                        </a:solidFill>
                        <a:effectLst/>
                      </a:endParaRPr>
                    </a:p>
                    <a:p>
                      <a:pPr algn="just" fontAlgn="t"/>
                      <a:r>
                        <a:rPr lang="en-US" sz="2000">
                          <a:solidFill>
                            <a:srgbClr val="000000"/>
                          </a:solidFill>
                          <a:effectLst/>
                        </a:rPr>
                        <a:t>A </a:t>
                      </a:r>
                      <a:r>
                        <a:rPr lang="en-US" sz="2000" i="1">
                          <a:solidFill>
                            <a:srgbClr val="000000"/>
                          </a:solidFill>
                          <a:effectLst/>
                        </a:rPr>
                        <a:t>match</a:t>
                      </a:r>
                      <a:r>
                        <a:rPr lang="en-US" sz="2000">
                          <a:solidFill>
                            <a:srgbClr val="000000"/>
                          </a:solidFill>
                          <a:effectLst/>
                        </a:rPr>
                        <a:t> statement allows a variable to be tested against a list of values.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826087558"/>
                  </a:ext>
                </a:extLst>
              </a:tr>
            </a:tbl>
          </a:graphicData>
        </a:graphic>
      </p:graphicFrame>
    </p:spTree>
    <p:extLst>
      <p:ext uri="{BB962C8B-B14F-4D97-AF65-F5344CB8AC3E}">
        <p14:creationId xmlns:p14="http://schemas.microsoft.com/office/powerpoint/2010/main" val="160782865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Rust – If Statement</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8</a:t>
            </a:fld>
            <a:endParaRPr/>
          </a:p>
        </p:txBody>
      </p:sp>
      <p:sp>
        <p:nvSpPr>
          <p:cNvPr id="7" name="Rounded Rectangle 6"/>
          <p:cNvSpPr/>
          <p:nvPr/>
        </p:nvSpPr>
        <p:spPr>
          <a:xfrm>
            <a:off x="714894" y="1518397"/>
            <a:ext cx="7606145" cy="780665"/>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2000"/>
              <a:t>The</a:t>
            </a:r>
            <a:r>
              <a:rPr lang="en-US" sz="2000">
                <a:solidFill>
                  <a:srgbClr val="FFFF00"/>
                </a:solidFill>
              </a:rPr>
              <a:t> </a:t>
            </a:r>
            <a:r>
              <a:rPr lang="en-US" sz="2000" i="1">
                <a:solidFill>
                  <a:srgbClr val="FFFF00"/>
                </a:solidFill>
              </a:rPr>
              <a:t>if…else</a:t>
            </a:r>
            <a:r>
              <a:rPr lang="en-US" sz="2000"/>
              <a:t> construct evaluates a condition before a block of code is executed.</a:t>
            </a:r>
            <a:endParaRPr lang="en-US" sz="2400" b="1" i="1">
              <a:solidFill>
                <a:srgbClr val="FFFF00"/>
              </a:solidFill>
            </a:endParaRPr>
          </a:p>
        </p:txBody>
      </p:sp>
      <p:sp>
        <p:nvSpPr>
          <p:cNvPr id="8" name="Rounded Rectangle 7"/>
          <p:cNvSpPr/>
          <p:nvPr/>
        </p:nvSpPr>
        <p:spPr>
          <a:xfrm>
            <a:off x="687282" y="2644636"/>
            <a:ext cx="7661367" cy="1514364"/>
          </a:xfrm>
          <a:prstGeom prst="roundRect">
            <a:avLst/>
          </a:prstGeom>
          <a:solidFill>
            <a:schemeClr val="bg1">
              <a:lumMod val="95000"/>
            </a:schemeClr>
          </a:solidFill>
          <a:ln>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rtlCol="0" anchor="ctr"/>
          <a:lstStyle/>
          <a:p>
            <a:r>
              <a:rPr lang="en-US" sz="2000"/>
              <a:t>Syntax:</a:t>
            </a:r>
          </a:p>
          <a:p>
            <a:endParaRPr lang="en-US" sz="2000"/>
          </a:p>
          <a:p>
            <a:pPr lvl="0"/>
            <a:r>
              <a:rPr lang="en-US" altLang="en-US" sz="1600">
                <a:solidFill>
                  <a:srgbClr val="000000"/>
                </a:solidFill>
                <a:latin typeface="Consolas" panose="020B0609020204030204" pitchFamily="49" charset="0"/>
              </a:rPr>
              <a:t>if </a:t>
            </a:r>
            <a:r>
              <a:rPr lang="en-US" altLang="en-US" sz="1600" err="1">
                <a:solidFill>
                  <a:srgbClr val="000000"/>
                </a:solidFill>
                <a:latin typeface="Consolas" panose="020B0609020204030204" pitchFamily="49" charset="0"/>
              </a:rPr>
              <a:t>boolean_expression</a:t>
            </a:r>
            <a:r>
              <a:rPr lang="en-US" altLang="en-US" sz="1600">
                <a:solidFill>
                  <a:srgbClr val="000000"/>
                </a:solidFill>
                <a:latin typeface="Consolas" panose="020B0609020204030204" pitchFamily="49" charset="0"/>
              </a:rPr>
              <a:t> { </a:t>
            </a:r>
          </a:p>
          <a:p>
            <a:pPr lvl="0"/>
            <a:r>
              <a:rPr lang="en-US" altLang="en-US" sz="1600">
                <a:solidFill>
                  <a:srgbClr val="000000"/>
                </a:solidFill>
                <a:latin typeface="Consolas" panose="020B0609020204030204" pitchFamily="49" charset="0"/>
              </a:rPr>
              <a:t>   // statement(s) will execute if the </a:t>
            </a:r>
            <a:r>
              <a:rPr lang="en-US" altLang="en-US" sz="1600" err="1">
                <a:solidFill>
                  <a:srgbClr val="000000"/>
                </a:solidFill>
                <a:latin typeface="Consolas" panose="020B0609020204030204" pitchFamily="49" charset="0"/>
              </a:rPr>
              <a:t>boolean</a:t>
            </a:r>
            <a:r>
              <a:rPr lang="en-US" altLang="en-US" sz="1600">
                <a:solidFill>
                  <a:srgbClr val="000000"/>
                </a:solidFill>
                <a:latin typeface="Consolas" panose="020B0609020204030204" pitchFamily="49" charset="0"/>
              </a:rPr>
              <a:t> expression is true </a:t>
            </a:r>
          </a:p>
          <a:p>
            <a:pPr lvl="0"/>
            <a:r>
              <a:rPr lang="en-US" altLang="en-US" sz="1600">
                <a:solidFill>
                  <a:srgbClr val="000000"/>
                </a:solidFill>
                <a:latin typeface="Consolas" panose="020B0609020204030204" pitchFamily="49" charset="0"/>
              </a:rPr>
              <a:t>}</a:t>
            </a:r>
            <a:r>
              <a:rPr lang="en-US" altLang="en-US" sz="1600">
                <a:solidFill>
                  <a:schemeClr val="tx1"/>
                </a:solidFill>
                <a:latin typeface="Consolas" panose="020B0609020204030204" pitchFamily="49" charset="0"/>
              </a:rPr>
              <a:t> </a:t>
            </a:r>
          </a:p>
          <a:p>
            <a:endParaRPr lang="en-US" sz="2200" b="1" i="1">
              <a:solidFill>
                <a:srgbClr val="FFFF00"/>
              </a:solidFill>
              <a:latin typeface="Consolas" panose="020B0609020204030204" pitchFamily="49" charset="0"/>
            </a:endParaRPr>
          </a:p>
        </p:txBody>
      </p:sp>
      <p:sp>
        <p:nvSpPr>
          <p:cNvPr id="10" name="Rounded Rectangle 9"/>
          <p:cNvSpPr/>
          <p:nvPr/>
        </p:nvSpPr>
        <p:spPr>
          <a:xfrm>
            <a:off x="768927" y="4259420"/>
            <a:ext cx="7606145" cy="2040960"/>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2000">
                <a:latin typeface="Nunito"/>
              </a:rPr>
              <a:t>If the Boolean expression evaluates to true, then the block of code inside the if statement will be executed. If the Boolean expression evaluates to false, then the first set of code after the end of the if statement (after the closing curly brace) will be executed.</a:t>
            </a:r>
            <a:endParaRPr lang="en-US" sz="2000"/>
          </a:p>
        </p:txBody>
      </p:sp>
    </p:spTree>
    <p:extLst>
      <p:ext uri="{BB962C8B-B14F-4D97-AF65-F5344CB8AC3E}">
        <p14:creationId xmlns:p14="http://schemas.microsoft.com/office/powerpoint/2010/main" val="127425654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If Statement illustration:</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9</a:t>
            </a:fld>
            <a:endParaRPr/>
          </a:p>
        </p:txBody>
      </p:sp>
      <p:pic>
        <p:nvPicPr>
          <p:cNvPr id="4" name="Picture 3"/>
          <p:cNvPicPr>
            <a:picLocks noChangeAspect="1"/>
          </p:cNvPicPr>
          <p:nvPr/>
        </p:nvPicPr>
        <p:blipFill rotWithShape="1">
          <a:blip r:embed="rId3"/>
          <a:srcRect l="17345" t="9197" r="26852" b="31161"/>
          <a:stretch/>
        </p:blipFill>
        <p:spPr>
          <a:xfrm>
            <a:off x="666206" y="1803360"/>
            <a:ext cx="7759337" cy="4662754"/>
          </a:xfrm>
          <a:prstGeom prst="rect">
            <a:avLst/>
          </a:prstGeom>
        </p:spPr>
      </p:pic>
      <p:sp>
        <p:nvSpPr>
          <p:cNvPr id="7" name="Rounded Rectangle 6"/>
          <p:cNvSpPr/>
          <p:nvPr/>
        </p:nvSpPr>
        <p:spPr>
          <a:xfrm>
            <a:off x="623455" y="1400832"/>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a:t>Practice 3: </a:t>
            </a:r>
            <a:r>
              <a:rPr lang="en-US" sz="1600" b="1" i="1">
                <a:solidFill>
                  <a:srgbClr val="FFFF00"/>
                </a:solidFill>
              </a:rPr>
              <a:t>week-4/practice_3/src/main.rs</a:t>
            </a:r>
          </a:p>
        </p:txBody>
      </p:sp>
    </p:spTree>
    <p:extLst>
      <p:ext uri="{BB962C8B-B14F-4D97-AF65-F5344CB8AC3E}">
        <p14:creationId xmlns:p14="http://schemas.microsoft.com/office/powerpoint/2010/main" val="38097183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Rust – If…else Statement</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10</a:t>
            </a:fld>
            <a:endParaRPr/>
          </a:p>
        </p:txBody>
      </p:sp>
      <p:sp>
        <p:nvSpPr>
          <p:cNvPr id="7" name="Rounded Rectangle 6"/>
          <p:cNvSpPr/>
          <p:nvPr/>
        </p:nvSpPr>
        <p:spPr>
          <a:xfrm>
            <a:off x="457200" y="1423240"/>
            <a:ext cx="7971907" cy="1034143"/>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2000"/>
              <a:t>An</a:t>
            </a:r>
            <a:r>
              <a:rPr lang="en-US" sz="2000">
                <a:solidFill>
                  <a:srgbClr val="FFFF00"/>
                </a:solidFill>
              </a:rPr>
              <a:t> </a:t>
            </a:r>
            <a:r>
              <a:rPr lang="en-US" sz="2000" b="1">
                <a:solidFill>
                  <a:srgbClr val="FFFF00"/>
                </a:solidFill>
              </a:rPr>
              <a:t>if</a:t>
            </a:r>
            <a:r>
              <a:rPr lang="en-US" sz="2000"/>
              <a:t> can be followed by an optional </a:t>
            </a:r>
            <a:r>
              <a:rPr lang="en-US" sz="2000" b="1">
                <a:solidFill>
                  <a:srgbClr val="FFFF00"/>
                </a:solidFill>
              </a:rPr>
              <a:t>else</a:t>
            </a:r>
            <a:r>
              <a:rPr lang="en-US" sz="2000"/>
              <a:t> block. The else block will execute if the Boolean expression tested by the if statement evaluates to false.</a:t>
            </a:r>
            <a:endParaRPr lang="en-US" sz="3600" b="1" i="1">
              <a:solidFill>
                <a:srgbClr val="FFFF00"/>
              </a:solidFill>
            </a:endParaRPr>
          </a:p>
        </p:txBody>
      </p:sp>
      <p:sp>
        <p:nvSpPr>
          <p:cNvPr id="8" name="Rounded Rectangle 7"/>
          <p:cNvSpPr/>
          <p:nvPr/>
        </p:nvSpPr>
        <p:spPr>
          <a:xfrm>
            <a:off x="493474" y="2815704"/>
            <a:ext cx="7606145" cy="1654899"/>
          </a:xfrm>
          <a:prstGeom prst="roundRect">
            <a:avLst/>
          </a:prstGeom>
          <a:noFill/>
          <a:ln>
            <a:noFill/>
          </a:ln>
        </p:spPr>
        <p:style>
          <a:lnRef idx="2">
            <a:schemeClr val="accent2"/>
          </a:lnRef>
          <a:fillRef idx="1">
            <a:schemeClr val="lt1"/>
          </a:fillRef>
          <a:effectRef idx="0">
            <a:schemeClr val="accent2"/>
          </a:effectRef>
          <a:fontRef idx="minor">
            <a:schemeClr val="dk1"/>
          </a:fontRef>
        </p:style>
        <p:txBody>
          <a:bodyPr rtlCol="0" anchor="ctr"/>
          <a:lstStyle/>
          <a:p>
            <a:r>
              <a:rPr lang="en-US" sz="2000"/>
              <a:t>Syntax:</a:t>
            </a:r>
          </a:p>
          <a:p>
            <a:endParaRPr lang="en-US" sz="2000"/>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if </a:t>
            </a:r>
            <a:r>
              <a:rPr lang="en-US" altLang="en-US" sz="1600" err="1">
                <a:solidFill>
                  <a:srgbClr val="000000"/>
                </a:solidFill>
                <a:latin typeface="Consolas" panose="020B0609020204030204" pitchFamily="49" charset="0"/>
              </a:rPr>
              <a:t>boolean_expression</a:t>
            </a:r>
            <a:r>
              <a:rPr lang="en-US" altLang="en-US" sz="1600">
                <a:solidFill>
                  <a:srgbClr val="000000"/>
                </a:solidFill>
                <a:latin typeface="Consolas" panose="020B0609020204030204" pitchFamily="49" charset="0"/>
              </a:rPr>
              <a:t> { </a:t>
            </a:r>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   // statement(s) will execute if the </a:t>
            </a:r>
            <a:r>
              <a:rPr lang="en-US" altLang="en-US" sz="1600" err="1">
                <a:solidFill>
                  <a:srgbClr val="000000"/>
                </a:solidFill>
                <a:latin typeface="Consolas" panose="020B0609020204030204" pitchFamily="49" charset="0"/>
              </a:rPr>
              <a:t>boolean</a:t>
            </a:r>
            <a:r>
              <a:rPr lang="en-US" altLang="en-US" sz="1600">
                <a:solidFill>
                  <a:srgbClr val="000000"/>
                </a:solidFill>
                <a:latin typeface="Consolas" panose="020B0609020204030204" pitchFamily="49" charset="0"/>
              </a:rPr>
              <a:t> expression is true } else { </a:t>
            </a:r>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   // statement(s) will execute if the </a:t>
            </a:r>
            <a:r>
              <a:rPr lang="en-US" altLang="en-US" sz="1600" err="1">
                <a:solidFill>
                  <a:srgbClr val="000000"/>
                </a:solidFill>
                <a:latin typeface="Consolas" panose="020B0609020204030204" pitchFamily="49" charset="0"/>
              </a:rPr>
              <a:t>boolean</a:t>
            </a:r>
            <a:r>
              <a:rPr lang="en-US" altLang="en-US" sz="1600">
                <a:solidFill>
                  <a:srgbClr val="000000"/>
                </a:solidFill>
                <a:latin typeface="Consolas" panose="020B0609020204030204" pitchFamily="49" charset="0"/>
              </a:rPr>
              <a:t> expression is false </a:t>
            </a:r>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a:t>
            </a:r>
            <a:r>
              <a:rPr lang="en-US" altLang="en-US" sz="1600">
                <a:solidFill>
                  <a:schemeClr val="tx1"/>
                </a:solidFill>
                <a:latin typeface="Consolas" panose="020B0609020204030204" pitchFamily="49" charset="0"/>
              </a:rPr>
              <a:t> </a:t>
            </a:r>
          </a:p>
          <a:p>
            <a:endParaRPr lang="en-US" sz="1800" b="1" i="1">
              <a:solidFill>
                <a:srgbClr val="FFFF00"/>
              </a:solidFill>
              <a:latin typeface="Consolas" panose="020B0609020204030204" pitchFamily="49" charset="0"/>
            </a:endParaRPr>
          </a:p>
        </p:txBody>
      </p:sp>
      <p:sp>
        <p:nvSpPr>
          <p:cNvPr id="10" name="Rounded Rectangle 9"/>
          <p:cNvSpPr/>
          <p:nvPr/>
        </p:nvSpPr>
        <p:spPr>
          <a:xfrm>
            <a:off x="457200" y="4637632"/>
            <a:ext cx="8098971" cy="1984919"/>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marL="342900" indent="-342900">
              <a:buFont typeface="Courier New" panose="02070309020205020404" pitchFamily="49" charset="0"/>
              <a:buChar char="o"/>
            </a:pPr>
            <a:r>
              <a:rPr lang="en-US" sz="2000"/>
              <a:t>The </a:t>
            </a:r>
            <a:r>
              <a:rPr lang="en-US" sz="2000" b="1">
                <a:solidFill>
                  <a:srgbClr val="FFFF00"/>
                </a:solidFill>
              </a:rPr>
              <a:t>if</a:t>
            </a:r>
            <a:r>
              <a:rPr lang="en-US" sz="2000"/>
              <a:t> block guards the conditional expression. The block associated with the </a:t>
            </a:r>
            <a:r>
              <a:rPr lang="en-US" sz="2000">
                <a:solidFill>
                  <a:srgbClr val="FFFF00"/>
                </a:solidFill>
              </a:rPr>
              <a:t>if</a:t>
            </a:r>
            <a:r>
              <a:rPr lang="en-US" sz="2000"/>
              <a:t> statement is executed if the Boolean expression evaluates to true.</a:t>
            </a:r>
          </a:p>
          <a:p>
            <a:pPr marL="342900" indent="-342900">
              <a:buFont typeface="Courier New" panose="02070309020205020404" pitchFamily="49" charset="0"/>
              <a:buChar char="o"/>
            </a:pPr>
            <a:r>
              <a:rPr lang="en-US" sz="2000"/>
              <a:t>The </a:t>
            </a:r>
            <a:r>
              <a:rPr lang="en-US" sz="2000">
                <a:solidFill>
                  <a:srgbClr val="FFFF00"/>
                </a:solidFill>
              </a:rPr>
              <a:t>if</a:t>
            </a:r>
            <a:r>
              <a:rPr lang="en-US" sz="2000"/>
              <a:t> block may be followed by an optional </a:t>
            </a:r>
            <a:r>
              <a:rPr lang="en-US" sz="2000">
                <a:solidFill>
                  <a:srgbClr val="FFFF00"/>
                </a:solidFill>
              </a:rPr>
              <a:t>else</a:t>
            </a:r>
            <a:r>
              <a:rPr lang="en-US" sz="2000"/>
              <a:t> statement. The instruction block associated with the else block is executed if the expression evaluates to false.</a:t>
            </a:r>
          </a:p>
        </p:txBody>
      </p:sp>
    </p:spTree>
    <p:extLst>
      <p:ext uri="{BB962C8B-B14F-4D97-AF65-F5344CB8AC3E}">
        <p14:creationId xmlns:p14="http://schemas.microsoft.com/office/powerpoint/2010/main" val="316467760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3" name="Picture 2"/>
          <p:cNvPicPr>
            <a:picLocks noChangeAspect="1"/>
          </p:cNvPicPr>
          <p:nvPr/>
        </p:nvPicPr>
        <p:blipFill rotWithShape="1">
          <a:blip r:embed="rId3"/>
          <a:srcRect l="17672" t="8839" r="30540" b="36518"/>
          <a:stretch/>
        </p:blipFill>
        <p:spPr>
          <a:xfrm>
            <a:off x="654188" y="1829486"/>
            <a:ext cx="7706042" cy="4571314"/>
          </a:xfrm>
          <a:prstGeom prst="rect">
            <a:avLst/>
          </a:prstGeom>
        </p:spPr>
      </p:pic>
      <p:sp>
        <p:nvSpPr>
          <p:cNvPr id="2" name="Title 1"/>
          <p:cNvSpPr>
            <a:spLocks noGrp="1"/>
          </p:cNvSpPr>
          <p:nvPr>
            <p:ph type="title"/>
          </p:nvPr>
        </p:nvSpPr>
        <p:spPr/>
        <p:txBody>
          <a:bodyPr/>
          <a:lstStyle/>
          <a:p>
            <a:r>
              <a:rPr lang="en-GB" sz="4000"/>
              <a:t>If…else Statement illustration:</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11</a:t>
            </a:fld>
            <a:endParaRPr/>
          </a:p>
        </p:txBody>
      </p:sp>
      <p:sp>
        <p:nvSpPr>
          <p:cNvPr id="7" name="Rounded Rectangle 6"/>
          <p:cNvSpPr/>
          <p:nvPr/>
        </p:nvSpPr>
        <p:spPr>
          <a:xfrm>
            <a:off x="623455" y="1400832"/>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a:t>Practice 4: </a:t>
            </a:r>
            <a:r>
              <a:rPr lang="en-US" sz="1600" b="1" i="1">
                <a:solidFill>
                  <a:srgbClr val="FFFF00"/>
                </a:solidFill>
              </a:rPr>
              <a:t>week-4/practice_4/src/main.rs</a:t>
            </a:r>
          </a:p>
        </p:txBody>
      </p:sp>
    </p:spTree>
    <p:extLst>
      <p:ext uri="{BB962C8B-B14F-4D97-AF65-F5344CB8AC3E}">
        <p14:creationId xmlns:p14="http://schemas.microsoft.com/office/powerpoint/2010/main" val="30197998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Nested If Statement</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12</a:t>
            </a:fld>
            <a:endParaRPr/>
          </a:p>
        </p:txBody>
      </p:sp>
      <p:sp>
        <p:nvSpPr>
          <p:cNvPr id="7" name="Rounded Rectangle 6"/>
          <p:cNvSpPr/>
          <p:nvPr/>
        </p:nvSpPr>
        <p:spPr>
          <a:xfrm>
            <a:off x="457200" y="1423241"/>
            <a:ext cx="7971907" cy="510062"/>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2000"/>
              <a:t>The </a:t>
            </a:r>
            <a:r>
              <a:rPr lang="en-US" sz="2000" b="1"/>
              <a:t>else…if</a:t>
            </a:r>
            <a:r>
              <a:rPr lang="en-US" sz="2000"/>
              <a:t> ladder is useful to test multiple conditions. </a:t>
            </a:r>
            <a:endParaRPr lang="en-US" sz="4800" b="1" i="1">
              <a:solidFill>
                <a:srgbClr val="FFFF00"/>
              </a:solidFill>
            </a:endParaRPr>
          </a:p>
        </p:txBody>
      </p:sp>
      <p:sp>
        <p:nvSpPr>
          <p:cNvPr id="8" name="Rounded Rectangle 7"/>
          <p:cNvSpPr/>
          <p:nvPr/>
        </p:nvSpPr>
        <p:spPr>
          <a:xfrm>
            <a:off x="529748" y="2489133"/>
            <a:ext cx="8062697" cy="1654899"/>
          </a:xfrm>
          <a:prstGeom prst="roundRect">
            <a:avLst/>
          </a:prstGeom>
          <a:noFill/>
          <a:ln>
            <a:noFill/>
          </a:ln>
        </p:spPr>
        <p:style>
          <a:lnRef idx="2">
            <a:schemeClr val="accent2"/>
          </a:lnRef>
          <a:fillRef idx="1">
            <a:schemeClr val="lt1"/>
          </a:fillRef>
          <a:effectRef idx="0">
            <a:schemeClr val="accent2"/>
          </a:effectRef>
          <a:fontRef idx="minor">
            <a:schemeClr val="dk1"/>
          </a:fontRef>
        </p:style>
        <p:txBody>
          <a:bodyPr rtlCol="0" anchor="ctr"/>
          <a:lstStyle/>
          <a:p>
            <a:r>
              <a:rPr lang="en-US" sz="2000"/>
              <a:t>Syntax:</a:t>
            </a:r>
          </a:p>
          <a:p>
            <a:endParaRPr lang="en-US" sz="2000"/>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if boolean_expression1 { </a:t>
            </a:r>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    //statements if the expression1 evaluates to true </a:t>
            </a:r>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 else if boolean_expression2 { </a:t>
            </a:r>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   //statements if the expression2 evaluates to true </a:t>
            </a:r>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 else { </a:t>
            </a:r>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   //statements if both expression1 and expression2 result to false </a:t>
            </a:r>
          </a:p>
          <a:p>
            <a:pPr lvl="0" eaLnBrk="0" fontAlgn="base" hangingPunct="0">
              <a:spcBef>
                <a:spcPct val="0"/>
              </a:spcBef>
              <a:spcAft>
                <a:spcPct val="0"/>
              </a:spcAft>
              <a:buClrTx/>
            </a:pPr>
            <a:r>
              <a:rPr lang="en-US" altLang="en-US" sz="1600">
                <a:solidFill>
                  <a:srgbClr val="000000"/>
                </a:solidFill>
                <a:latin typeface="Consolas" panose="020B0609020204030204" pitchFamily="49" charset="0"/>
              </a:rPr>
              <a:t>}</a:t>
            </a:r>
            <a:r>
              <a:rPr lang="en-US" altLang="en-US" sz="1600">
                <a:solidFill>
                  <a:schemeClr val="tx1"/>
                </a:solidFill>
                <a:latin typeface="Consolas" panose="020B0609020204030204" pitchFamily="49" charset="0"/>
              </a:rPr>
              <a:t> </a:t>
            </a:r>
          </a:p>
          <a:p>
            <a:endParaRPr lang="en-US" sz="1800" b="1" i="1">
              <a:solidFill>
                <a:srgbClr val="FFFF00"/>
              </a:solidFill>
              <a:latin typeface="Consolas" panose="020B0609020204030204" pitchFamily="49" charset="0"/>
            </a:endParaRPr>
          </a:p>
        </p:txBody>
      </p:sp>
      <p:sp>
        <p:nvSpPr>
          <p:cNvPr id="10" name="Rounded Rectangle 9"/>
          <p:cNvSpPr/>
          <p:nvPr/>
        </p:nvSpPr>
        <p:spPr>
          <a:xfrm>
            <a:off x="255805" y="4415881"/>
            <a:ext cx="8632390" cy="1984919"/>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800">
                <a:solidFill>
                  <a:schemeClr val="bg1"/>
                </a:solidFill>
              </a:rPr>
              <a:t>When using if…else…if and else statements, there are a few points to keep in mind.</a:t>
            </a:r>
          </a:p>
          <a:p>
            <a:pPr marL="342900" indent="-342900">
              <a:buClr>
                <a:schemeClr val="bg1"/>
              </a:buClr>
              <a:buFont typeface="Courier New" panose="02070309020205020404" pitchFamily="49" charset="0"/>
              <a:buChar char="o"/>
            </a:pPr>
            <a:r>
              <a:rPr lang="en-US" sz="1800">
                <a:solidFill>
                  <a:schemeClr val="bg1"/>
                </a:solidFill>
              </a:rPr>
              <a:t>An </a:t>
            </a:r>
            <a:r>
              <a:rPr lang="en-US" sz="1800">
                <a:solidFill>
                  <a:srgbClr val="FFFF00"/>
                </a:solidFill>
              </a:rPr>
              <a:t>if</a:t>
            </a:r>
            <a:r>
              <a:rPr lang="en-US" sz="1800">
                <a:solidFill>
                  <a:schemeClr val="bg1"/>
                </a:solidFill>
              </a:rPr>
              <a:t> can have zero or one </a:t>
            </a:r>
            <a:r>
              <a:rPr lang="en-US" sz="1800">
                <a:solidFill>
                  <a:srgbClr val="FFFF00"/>
                </a:solidFill>
              </a:rPr>
              <a:t>else's</a:t>
            </a:r>
            <a:r>
              <a:rPr lang="en-US" sz="1800">
                <a:solidFill>
                  <a:schemeClr val="bg1"/>
                </a:solidFill>
              </a:rPr>
              <a:t> and it must come after any </a:t>
            </a:r>
            <a:r>
              <a:rPr lang="en-US" sz="1800" err="1">
                <a:solidFill>
                  <a:srgbClr val="FFFF00"/>
                </a:solidFill>
              </a:rPr>
              <a:t>else..if</a:t>
            </a:r>
            <a:r>
              <a:rPr lang="en-US" sz="1800">
                <a:solidFill>
                  <a:srgbClr val="FFFF00"/>
                </a:solidFill>
              </a:rPr>
              <a:t>.</a:t>
            </a:r>
          </a:p>
          <a:p>
            <a:pPr marL="342900" indent="-342900">
              <a:buClr>
                <a:schemeClr val="bg1"/>
              </a:buClr>
              <a:buFont typeface="Courier New" panose="02070309020205020404" pitchFamily="49" charset="0"/>
              <a:buChar char="o"/>
            </a:pPr>
            <a:r>
              <a:rPr lang="en-US" sz="1800">
                <a:solidFill>
                  <a:schemeClr val="bg1"/>
                </a:solidFill>
              </a:rPr>
              <a:t>An </a:t>
            </a:r>
            <a:r>
              <a:rPr lang="en-US" sz="1800">
                <a:solidFill>
                  <a:srgbClr val="FFFF00"/>
                </a:solidFill>
              </a:rPr>
              <a:t>if</a:t>
            </a:r>
            <a:r>
              <a:rPr lang="en-US" sz="1800">
                <a:solidFill>
                  <a:schemeClr val="bg1"/>
                </a:solidFill>
              </a:rPr>
              <a:t> can have zero to many </a:t>
            </a:r>
            <a:r>
              <a:rPr lang="en-US" sz="1800" err="1">
                <a:solidFill>
                  <a:srgbClr val="FFFF00"/>
                </a:solidFill>
              </a:rPr>
              <a:t>else..if</a:t>
            </a:r>
            <a:r>
              <a:rPr lang="en-US" sz="1800">
                <a:solidFill>
                  <a:schemeClr val="bg1"/>
                </a:solidFill>
              </a:rPr>
              <a:t> and they must come before the </a:t>
            </a:r>
            <a:r>
              <a:rPr lang="en-US" sz="1800">
                <a:solidFill>
                  <a:srgbClr val="FFFF00"/>
                </a:solidFill>
              </a:rPr>
              <a:t>else</a:t>
            </a:r>
            <a:r>
              <a:rPr lang="en-US" sz="1800">
                <a:solidFill>
                  <a:schemeClr val="bg1"/>
                </a:solidFill>
              </a:rPr>
              <a:t>.</a:t>
            </a:r>
          </a:p>
          <a:p>
            <a:pPr marL="342900" indent="-342900">
              <a:buClr>
                <a:schemeClr val="bg1"/>
              </a:buClr>
              <a:buFont typeface="Courier New" panose="02070309020205020404" pitchFamily="49" charset="0"/>
              <a:buChar char="o"/>
            </a:pPr>
            <a:r>
              <a:rPr lang="en-US" sz="1800">
                <a:solidFill>
                  <a:schemeClr val="bg1"/>
                </a:solidFill>
              </a:rPr>
              <a:t>Once an </a:t>
            </a:r>
            <a:r>
              <a:rPr lang="en-US" sz="1800" err="1">
                <a:solidFill>
                  <a:srgbClr val="FFFF00"/>
                </a:solidFill>
              </a:rPr>
              <a:t>else..if</a:t>
            </a:r>
            <a:r>
              <a:rPr lang="en-US" sz="1800">
                <a:solidFill>
                  <a:srgbClr val="FFFF00"/>
                </a:solidFill>
              </a:rPr>
              <a:t> </a:t>
            </a:r>
            <a:r>
              <a:rPr lang="en-US" sz="1800">
                <a:solidFill>
                  <a:schemeClr val="bg1"/>
                </a:solidFill>
              </a:rPr>
              <a:t>succeeds, none of the remaining </a:t>
            </a:r>
            <a:r>
              <a:rPr lang="en-US" sz="1800" err="1">
                <a:solidFill>
                  <a:srgbClr val="FFFF00"/>
                </a:solidFill>
              </a:rPr>
              <a:t>else..if</a:t>
            </a:r>
            <a:r>
              <a:rPr lang="en-US" sz="1800">
                <a:solidFill>
                  <a:srgbClr val="FFFF00"/>
                </a:solidFill>
              </a:rPr>
              <a:t> </a:t>
            </a:r>
            <a:r>
              <a:rPr lang="en-US" sz="1800">
                <a:solidFill>
                  <a:schemeClr val="bg1"/>
                </a:solidFill>
              </a:rPr>
              <a:t>or else will be tested.</a:t>
            </a:r>
          </a:p>
        </p:txBody>
      </p:sp>
    </p:spTree>
    <p:extLst>
      <p:ext uri="{BB962C8B-B14F-4D97-AF65-F5344CB8AC3E}">
        <p14:creationId xmlns:p14="http://schemas.microsoft.com/office/powerpoint/2010/main" val="291573220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Nested If Statement</a:t>
            </a:r>
          </a:p>
        </p:txBody>
      </p:sp>
      <p:pic>
        <p:nvPicPr>
          <p:cNvPr id="3" name="Picture 2"/>
          <p:cNvPicPr>
            <a:picLocks noChangeAspect="1"/>
          </p:cNvPicPr>
          <p:nvPr/>
        </p:nvPicPr>
        <p:blipFill rotWithShape="1">
          <a:blip r:embed="rId3"/>
          <a:srcRect l="17774" t="8839" r="13607" b="15982"/>
          <a:stretch/>
        </p:blipFill>
        <p:spPr>
          <a:xfrm>
            <a:off x="411435" y="1400832"/>
            <a:ext cx="8405993" cy="5177811"/>
          </a:xfrm>
          <a:prstGeom prst="rect">
            <a:avLst/>
          </a:prstGeom>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13</a:t>
            </a:fld>
            <a:endParaRPr/>
          </a:p>
        </p:txBody>
      </p:sp>
      <p:sp>
        <p:nvSpPr>
          <p:cNvPr id="9" name="Rounded Rectangle 8"/>
          <p:cNvSpPr/>
          <p:nvPr/>
        </p:nvSpPr>
        <p:spPr>
          <a:xfrm>
            <a:off x="3824720" y="6149989"/>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a:t>Practice 5: </a:t>
            </a:r>
            <a:r>
              <a:rPr lang="en-US" sz="1600" b="1" i="1">
                <a:solidFill>
                  <a:srgbClr val="FFFF00"/>
                </a:solidFill>
              </a:rPr>
              <a:t>week-4/practice_5/src/main.rs</a:t>
            </a:r>
          </a:p>
        </p:txBody>
      </p:sp>
    </p:spTree>
    <p:extLst>
      <p:ext uri="{BB962C8B-B14F-4D97-AF65-F5344CB8AC3E}">
        <p14:creationId xmlns:p14="http://schemas.microsoft.com/office/powerpoint/2010/main" val="16784417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Loops</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14</a:t>
            </a:fld>
            <a:endParaRPr/>
          </a:p>
        </p:txBody>
      </p:sp>
      <p:graphicFrame>
        <p:nvGraphicFramePr>
          <p:cNvPr id="3" name="Diagram 2"/>
          <p:cNvGraphicFramePr/>
          <p:nvPr>
            <p:extLst>
              <p:ext uri="{D42A27DB-BD31-4B8C-83A1-F6EECF244321}">
                <p14:modId xmlns:p14="http://schemas.microsoft.com/office/powerpoint/2010/main" val="3805873847"/>
              </p:ext>
            </p:extLst>
          </p:nvPr>
        </p:nvGraphicFramePr>
        <p:xfrm>
          <a:off x="457200" y="1477554"/>
          <a:ext cx="8464731" cy="49232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528705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General form of a Loops</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15</a:t>
            </a:fld>
            <a:endParaRPr/>
          </a:p>
        </p:txBody>
      </p:sp>
      <p:sp>
        <p:nvSpPr>
          <p:cNvPr id="5" name="Flowchart: Decision 4"/>
          <p:cNvSpPr/>
          <p:nvPr/>
        </p:nvSpPr>
        <p:spPr>
          <a:xfrm>
            <a:off x="1927836" y="3861037"/>
            <a:ext cx="1911928" cy="170410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Condition</a:t>
            </a:r>
          </a:p>
        </p:txBody>
      </p:sp>
      <p:sp>
        <p:nvSpPr>
          <p:cNvPr id="6" name="Rectangle 5"/>
          <p:cNvSpPr/>
          <p:nvPr/>
        </p:nvSpPr>
        <p:spPr>
          <a:xfrm>
            <a:off x="5106223" y="2651759"/>
            <a:ext cx="2064327" cy="8360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Condition code</a:t>
            </a:r>
          </a:p>
        </p:txBody>
      </p:sp>
      <p:cxnSp>
        <p:nvCxnSpPr>
          <p:cNvPr id="7" name="Straight Arrow Connector 6"/>
          <p:cNvCxnSpPr>
            <a:endCxn id="5" idx="0"/>
          </p:cNvCxnSpPr>
          <p:nvPr/>
        </p:nvCxnSpPr>
        <p:spPr>
          <a:xfrm>
            <a:off x="2883800" y="1613857"/>
            <a:ext cx="0" cy="22471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2883800" y="5565146"/>
            <a:ext cx="0" cy="9421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860227" y="3861037"/>
            <a:ext cx="1196161" cy="523220"/>
          </a:xfrm>
          <a:prstGeom prst="rect">
            <a:avLst/>
          </a:prstGeom>
          <a:noFill/>
        </p:spPr>
        <p:txBody>
          <a:bodyPr wrap="none" rtlCol="0">
            <a:spAutoFit/>
          </a:bodyPr>
          <a:lstStyle/>
          <a:p>
            <a:r>
              <a:rPr lang="en-US" b="1"/>
              <a:t>If condition </a:t>
            </a:r>
          </a:p>
          <a:p>
            <a:r>
              <a:rPr lang="en-US" b="1"/>
              <a:t>is true</a:t>
            </a:r>
          </a:p>
        </p:txBody>
      </p:sp>
      <p:sp>
        <p:nvSpPr>
          <p:cNvPr id="13" name="TextBox 12"/>
          <p:cNvSpPr txBox="1"/>
          <p:nvPr/>
        </p:nvSpPr>
        <p:spPr>
          <a:xfrm>
            <a:off x="3002325" y="5657436"/>
            <a:ext cx="1196161" cy="523220"/>
          </a:xfrm>
          <a:prstGeom prst="rect">
            <a:avLst/>
          </a:prstGeom>
          <a:noFill/>
        </p:spPr>
        <p:txBody>
          <a:bodyPr wrap="none" rtlCol="0">
            <a:spAutoFit/>
          </a:bodyPr>
          <a:lstStyle/>
          <a:p>
            <a:r>
              <a:rPr lang="en-US" b="1"/>
              <a:t>If condition </a:t>
            </a:r>
          </a:p>
          <a:p>
            <a:r>
              <a:rPr lang="en-US" b="1"/>
              <a:t>is false</a:t>
            </a:r>
          </a:p>
        </p:txBody>
      </p:sp>
      <p:cxnSp>
        <p:nvCxnSpPr>
          <p:cNvPr id="15" name="Elbow Connector 14"/>
          <p:cNvCxnSpPr>
            <a:stCxn id="5" idx="3"/>
            <a:endCxn id="6" idx="2"/>
          </p:cNvCxnSpPr>
          <p:nvPr/>
        </p:nvCxnSpPr>
        <p:spPr>
          <a:xfrm flipV="1">
            <a:off x="3839764" y="3487782"/>
            <a:ext cx="2298623" cy="1225310"/>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p:cNvCxnSpPr>
            <a:stCxn id="6" idx="0"/>
          </p:cNvCxnSpPr>
          <p:nvPr/>
        </p:nvCxnSpPr>
        <p:spPr>
          <a:xfrm rot="16200000" flipV="1">
            <a:off x="4210245" y="723617"/>
            <a:ext cx="628996" cy="3227288"/>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2765275" y="1457563"/>
            <a:ext cx="237050" cy="2492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659447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Types of Loops</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16</a:t>
            </a:fld>
            <a:endParaRPr/>
          </a:p>
        </p:txBody>
      </p:sp>
      <p:graphicFrame>
        <p:nvGraphicFramePr>
          <p:cNvPr id="3" name="Diagram 2"/>
          <p:cNvGraphicFramePr/>
          <p:nvPr>
            <p:extLst>
              <p:ext uri="{D42A27DB-BD31-4B8C-83A1-F6EECF244321}">
                <p14:modId xmlns:p14="http://schemas.microsoft.com/office/powerpoint/2010/main" val="1934262025"/>
              </p:ext>
            </p:extLst>
          </p:nvPr>
        </p:nvGraphicFramePr>
        <p:xfrm>
          <a:off x="-314641" y="1397407"/>
          <a:ext cx="9222376" cy="5185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68773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Definite Loop</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17</a:t>
            </a:fld>
            <a:endParaRPr/>
          </a:p>
        </p:txBody>
      </p:sp>
      <p:sp>
        <p:nvSpPr>
          <p:cNvPr id="5" name="Rounded Rectangle 4"/>
          <p:cNvSpPr/>
          <p:nvPr/>
        </p:nvSpPr>
        <p:spPr>
          <a:xfrm>
            <a:off x="457200" y="1475830"/>
            <a:ext cx="8229600" cy="1032239"/>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lvl="0"/>
            <a:r>
              <a:rPr lang="en-US" sz="2000"/>
              <a:t>A loop the number of iterations of which is definite/fixed is termed as a definite loop. The </a:t>
            </a:r>
            <a:r>
              <a:rPr lang="en-US" sz="2000" b="1"/>
              <a:t>for</a:t>
            </a:r>
            <a:r>
              <a:rPr lang="en-US" sz="2000"/>
              <a:t> loop is an implementation of a definite loop.</a:t>
            </a:r>
          </a:p>
        </p:txBody>
      </p:sp>
      <p:sp>
        <p:nvSpPr>
          <p:cNvPr id="6" name="Rounded Rectangle 5"/>
          <p:cNvSpPr/>
          <p:nvPr/>
        </p:nvSpPr>
        <p:spPr>
          <a:xfrm>
            <a:off x="457200" y="2688499"/>
            <a:ext cx="8229600" cy="1578155"/>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lvl="0"/>
            <a:r>
              <a:rPr lang="en-US" sz="2000" b="1">
                <a:solidFill>
                  <a:srgbClr val="FFFF00"/>
                </a:solidFill>
              </a:rPr>
              <a:t>For Loop</a:t>
            </a:r>
          </a:p>
          <a:p>
            <a:pPr lvl="1"/>
            <a:r>
              <a:rPr lang="en-US" sz="2000"/>
              <a:t>The for loop executes the code block for a specified number of times. It can be used to iterate over a fixed set of values, such as an array.</a:t>
            </a:r>
          </a:p>
        </p:txBody>
      </p:sp>
      <p:sp>
        <p:nvSpPr>
          <p:cNvPr id="9" name="Rounded Rectangle 8"/>
          <p:cNvSpPr/>
          <p:nvPr/>
        </p:nvSpPr>
        <p:spPr>
          <a:xfrm>
            <a:off x="457200" y="4456065"/>
            <a:ext cx="8122443" cy="1755323"/>
          </a:xfrm>
          <a:prstGeom prst="roundRect">
            <a:avLst/>
          </a:prstGeom>
          <a:solidFill>
            <a:schemeClr val="bg1">
              <a:lumMod val="95000"/>
            </a:schemeClr>
          </a:solidFill>
        </p:spPr>
        <p:style>
          <a:lnRef idx="3">
            <a:schemeClr val="lt1"/>
          </a:lnRef>
          <a:fillRef idx="1">
            <a:schemeClr val="dk1"/>
          </a:fillRef>
          <a:effectRef idx="1">
            <a:schemeClr val="dk1"/>
          </a:effectRef>
          <a:fontRef idx="minor">
            <a:schemeClr val="lt1"/>
          </a:fontRef>
        </p:style>
        <p:txBody>
          <a:bodyPr rtlCol="0" anchor="ctr"/>
          <a:lstStyle/>
          <a:p>
            <a:pPr lvl="0" eaLnBrk="0" fontAlgn="base" hangingPunct="0">
              <a:spcBef>
                <a:spcPct val="0"/>
              </a:spcBef>
              <a:spcAft>
                <a:spcPct val="0"/>
              </a:spcAft>
              <a:buClrTx/>
            </a:pPr>
            <a:r>
              <a:rPr lang="en-US" altLang="en-US" sz="2000">
                <a:solidFill>
                  <a:schemeClr val="tx1"/>
                </a:solidFill>
                <a:latin typeface="+mj-lt"/>
              </a:rPr>
              <a:t>Syntax:</a:t>
            </a:r>
          </a:p>
          <a:p>
            <a:pPr lvl="0" eaLnBrk="0" fontAlgn="base" hangingPunct="0">
              <a:spcBef>
                <a:spcPct val="0"/>
              </a:spcBef>
              <a:spcAft>
                <a:spcPct val="0"/>
              </a:spcAft>
              <a:buClrTx/>
            </a:pPr>
            <a:endParaRPr lang="en-US" altLang="en-US" sz="2000">
              <a:solidFill>
                <a:schemeClr val="tx1"/>
              </a:solidFill>
              <a:latin typeface="+mj-lt"/>
            </a:endParaRPr>
          </a:p>
          <a:p>
            <a:pPr lvl="0" eaLnBrk="0" fontAlgn="base" hangingPunct="0">
              <a:spcBef>
                <a:spcPct val="0"/>
              </a:spcBef>
              <a:spcAft>
                <a:spcPct val="0"/>
              </a:spcAft>
              <a:buClrTx/>
            </a:pPr>
            <a:r>
              <a:rPr lang="en-US" altLang="en-US" sz="2000">
                <a:solidFill>
                  <a:srgbClr val="000000"/>
                </a:solidFill>
                <a:latin typeface="Consolas" panose="020B0609020204030204" pitchFamily="49" charset="0"/>
              </a:rPr>
              <a:t>for </a:t>
            </a:r>
            <a:r>
              <a:rPr lang="en-US" altLang="en-US" sz="2000" err="1">
                <a:solidFill>
                  <a:srgbClr val="000000"/>
                </a:solidFill>
                <a:latin typeface="Consolas" panose="020B0609020204030204" pitchFamily="49" charset="0"/>
              </a:rPr>
              <a:t>temp_variable</a:t>
            </a:r>
            <a:r>
              <a:rPr lang="en-US" altLang="en-US" sz="2000">
                <a:solidFill>
                  <a:srgbClr val="000000"/>
                </a:solidFill>
                <a:latin typeface="Consolas" panose="020B0609020204030204" pitchFamily="49" charset="0"/>
              </a:rPr>
              <a:t> in lower_bound..</a:t>
            </a:r>
            <a:r>
              <a:rPr lang="en-US" altLang="en-US" sz="2000" err="1">
                <a:solidFill>
                  <a:srgbClr val="000000"/>
                </a:solidFill>
                <a:latin typeface="Consolas" panose="020B0609020204030204" pitchFamily="49" charset="0"/>
              </a:rPr>
              <a:t>upper_bound</a:t>
            </a:r>
            <a:r>
              <a:rPr lang="en-US" altLang="en-US" sz="2000">
                <a:solidFill>
                  <a:srgbClr val="000000"/>
                </a:solidFill>
                <a:latin typeface="Consolas" panose="020B0609020204030204" pitchFamily="49" charset="0"/>
              </a:rPr>
              <a:t> { </a:t>
            </a:r>
          </a:p>
          <a:p>
            <a:pPr lvl="0" eaLnBrk="0" fontAlgn="base" hangingPunct="0">
              <a:spcBef>
                <a:spcPct val="0"/>
              </a:spcBef>
              <a:spcAft>
                <a:spcPct val="0"/>
              </a:spcAft>
              <a:buClrTx/>
            </a:pPr>
            <a:r>
              <a:rPr lang="en-US" altLang="en-US" sz="2000">
                <a:solidFill>
                  <a:srgbClr val="000000"/>
                </a:solidFill>
                <a:latin typeface="Consolas" panose="020B0609020204030204" pitchFamily="49" charset="0"/>
              </a:rPr>
              <a:t>    //statements </a:t>
            </a:r>
          </a:p>
          <a:p>
            <a:pPr lvl="0" eaLnBrk="0" fontAlgn="base" hangingPunct="0">
              <a:spcBef>
                <a:spcPct val="0"/>
              </a:spcBef>
              <a:spcAft>
                <a:spcPct val="0"/>
              </a:spcAft>
              <a:buClrTx/>
            </a:pPr>
            <a:r>
              <a:rPr lang="en-US" altLang="en-US" sz="2000">
                <a:solidFill>
                  <a:srgbClr val="000000"/>
                </a:solidFill>
                <a:latin typeface="Consolas" panose="020B0609020204030204" pitchFamily="49" charset="0"/>
              </a:rPr>
              <a:t>} </a:t>
            </a:r>
          </a:p>
        </p:txBody>
      </p:sp>
    </p:spTree>
    <p:extLst>
      <p:ext uri="{BB962C8B-B14F-4D97-AF65-F5344CB8AC3E}">
        <p14:creationId xmlns:p14="http://schemas.microsoft.com/office/powerpoint/2010/main" val="224555472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For Loop illustration:</a:t>
            </a:r>
          </a:p>
        </p:txBody>
      </p:sp>
      <p:pic>
        <p:nvPicPr>
          <p:cNvPr id="4" name="Picture 3"/>
          <p:cNvPicPr>
            <a:picLocks noChangeAspect="1"/>
          </p:cNvPicPr>
          <p:nvPr/>
        </p:nvPicPr>
        <p:blipFill rotWithShape="1">
          <a:blip r:embed="rId3"/>
          <a:srcRect l="17471" t="9018" r="33703" b="40089"/>
          <a:stretch/>
        </p:blipFill>
        <p:spPr>
          <a:xfrm>
            <a:off x="457200" y="1848174"/>
            <a:ext cx="7746274" cy="4539563"/>
          </a:xfrm>
          <a:prstGeom prst="rect">
            <a:avLst/>
          </a:prstGeom>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18</a:t>
            </a:fld>
            <a:endParaRPr/>
          </a:p>
        </p:txBody>
      </p:sp>
      <p:sp>
        <p:nvSpPr>
          <p:cNvPr id="9" name="Rounded Rectangle 8"/>
          <p:cNvSpPr/>
          <p:nvPr/>
        </p:nvSpPr>
        <p:spPr>
          <a:xfrm>
            <a:off x="457200" y="1419520"/>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a:t>Practice 6: </a:t>
            </a:r>
            <a:r>
              <a:rPr lang="en-US" sz="1600" b="1" i="1">
                <a:solidFill>
                  <a:srgbClr val="FFFF00"/>
                </a:solidFill>
              </a:rPr>
              <a:t>week-4/practice_6/src/main.rs</a:t>
            </a:r>
          </a:p>
        </p:txBody>
      </p:sp>
    </p:spTree>
    <p:extLst>
      <p:ext uri="{BB962C8B-B14F-4D97-AF65-F5344CB8AC3E}">
        <p14:creationId xmlns:p14="http://schemas.microsoft.com/office/powerpoint/2010/main" val="35552095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Indefinite Loop</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19</a:t>
            </a:fld>
            <a:endParaRPr/>
          </a:p>
        </p:txBody>
      </p:sp>
      <p:sp>
        <p:nvSpPr>
          <p:cNvPr id="5" name="Rounded Rectangle 4"/>
          <p:cNvSpPr/>
          <p:nvPr/>
        </p:nvSpPr>
        <p:spPr>
          <a:xfrm>
            <a:off x="457200" y="1475830"/>
            <a:ext cx="8229600" cy="1032239"/>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2000"/>
              <a:t>An indefinite loop is used when the number of iterations in a loop is indeterminate or unknown.</a:t>
            </a:r>
          </a:p>
          <a:p>
            <a:r>
              <a:rPr lang="en-US" sz="2000"/>
              <a:t>Indefinite loops can be implemented using:</a:t>
            </a:r>
          </a:p>
        </p:txBody>
      </p:sp>
      <p:graphicFrame>
        <p:nvGraphicFramePr>
          <p:cNvPr id="3" name="Table 2"/>
          <p:cNvGraphicFramePr>
            <a:graphicFrameLocks noGrp="1"/>
          </p:cNvGraphicFramePr>
          <p:nvPr>
            <p:extLst>
              <p:ext uri="{D42A27DB-BD31-4B8C-83A1-F6EECF244321}">
                <p14:modId xmlns:p14="http://schemas.microsoft.com/office/powerpoint/2010/main" val="2741904241"/>
              </p:ext>
            </p:extLst>
          </p:nvPr>
        </p:nvGraphicFramePr>
        <p:xfrm>
          <a:off x="457200" y="2720596"/>
          <a:ext cx="8229600" cy="3237698"/>
        </p:xfrm>
        <a:graphic>
          <a:graphicData uri="http://schemas.openxmlformats.org/drawingml/2006/table">
            <a:tbl>
              <a:tblPr>
                <a:tableStyleId>{E8B1032C-EA38-4F05-BA0D-38AFFFC7BED3}</a:tableStyleId>
              </a:tblPr>
              <a:tblGrid>
                <a:gridCol w="966651">
                  <a:extLst>
                    <a:ext uri="{9D8B030D-6E8A-4147-A177-3AD203B41FA5}">
                      <a16:colId xmlns:a16="http://schemas.microsoft.com/office/drawing/2014/main" val="208039724"/>
                    </a:ext>
                  </a:extLst>
                </a:gridCol>
                <a:gridCol w="7262949">
                  <a:extLst>
                    <a:ext uri="{9D8B030D-6E8A-4147-A177-3AD203B41FA5}">
                      <a16:colId xmlns:a16="http://schemas.microsoft.com/office/drawing/2014/main" val="2057531046"/>
                    </a:ext>
                  </a:extLst>
                </a:gridCol>
              </a:tblGrid>
              <a:tr h="532055">
                <a:tc>
                  <a:txBody>
                    <a:bodyPr/>
                    <a:lstStyle/>
                    <a:p>
                      <a:pPr algn="l" fontAlgn="t"/>
                      <a:r>
                        <a:rPr lang="en-US" sz="2000">
                          <a:effectLst/>
                        </a:rPr>
                        <a:t>Sr.No</a:t>
                      </a:r>
                    </a:p>
                  </a:txBody>
                  <a:tcPr marL="76200" marR="76200" marT="76200" marB="76200">
                    <a:solidFill>
                      <a:schemeClr val="bg1">
                        <a:lumMod val="95000"/>
                      </a:schemeClr>
                    </a:solidFill>
                  </a:tcPr>
                </a:tc>
                <a:tc>
                  <a:txBody>
                    <a:bodyPr/>
                    <a:lstStyle/>
                    <a:p>
                      <a:pPr algn="l" fontAlgn="t"/>
                      <a:r>
                        <a:rPr lang="en-US" sz="2000">
                          <a:effectLst/>
                        </a:rPr>
                        <a:t>Name &amp; Description</a:t>
                      </a:r>
                    </a:p>
                  </a:txBody>
                  <a:tcPr marL="76200" marR="76200" marT="76200" marB="76200">
                    <a:solidFill>
                      <a:schemeClr val="bg1">
                        <a:lumMod val="95000"/>
                      </a:schemeClr>
                    </a:solidFill>
                  </a:tcPr>
                </a:tc>
                <a:extLst>
                  <a:ext uri="{0D108BD9-81ED-4DB2-BD59-A6C34878D82A}">
                    <a16:rowId xmlns:a16="http://schemas.microsoft.com/office/drawing/2014/main" val="2696507416"/>
                  </a:ext>
                </a:extLst>
              </a:tr>
              <a:tr h="1499090">
                <a:tc>
                  <a:txBody>
                    <a:bodyPr/>
                    <a:lstStyle/>
                    <a:p>
                      <a:pPr algn="ctr" fontAlgn="t"/>
                      <a:r>
                        <a:rPr lang="en-US" sz="2000">
                          <a:effectLst/>
                        </a:rPr>
                        <a:t>1</a:t>
                      </a:r>
                    </a:p>
                  </a:txBody>
                  <a:tcPr marL="76200" marR="76200" marT="76200" marB="76200"/>
                </a:tc>
                <a:tc>
                  <a:txBody>
                    <a:bodyPr/>
                    <a:lstStyle/>
                    <a:p>
                      <a:pPr algn="just" fontAlgn="t"/>
                      <a:r>
                        <a:rPr lang="en-US" sz="2000">
                          <a:effectLst/>
                        </a:rPr>
                        <a:t>While</a:t>
                      </a:r>
                    </a:p>
                    <a:p>
                      <a:pPr algn="just" fontAlgn="t"/>
                      <a:r>
                        <a:rPr lang="en-US" sz="2000">
                          <a:effectLst/>
                        </a:rPr>
                        <a:t>The while loop executes the instructions each time the condition specified evaluates to true</a:t>
                      </a:r>
                      <a:endParaRPr lang="en-US" sz="2000">
                        <a:solidFill>
                          <a:srgbClr val="000000"/>
                        </a:solidFill>
                        <a:effectLst/>
                      </a:endParaRPr>
                    </a:p>
                  </a:txBody>
                  <a:tcPr marL="76200" marR="76200" marT="76200" marB="76200"/>
                </a:tc>
                <a:extLst>
                  <a:ext uri="{0D108BD9-81ED-4DB2-BD59-A6C34878D82A}">
                    <a16:rowId xmlns:a16="http://schemas.microsoft.com/office/drawing/2014/main" val="1428077018"/>
                  </a:ext>
                </a:extLst>
              </a:tr>
              <a:tr h="1206553">
                <a:tc>
                  <a:txBody>
                    <a:bodyPr/>
                    <a:lstStyle/>
                    <a:p>
                      <a:pPr algn="ctr" fontAlgn="t"/>
                      <a:r>
                        <a:rPr lang="en-US" sz="2000">
                          <a:effectLst/>
                        </a:rPr>
                        <a:t>2</a:t>
                      </a:r>
                    </a:p>
                  </a:txBody>
                  <a:tcPr marL="76200" marR="76200" marT="76200" marB="76200"/>
                </a:tc>
                <a:tc>
                  <a:txBody>
                    <a:bodyPr/>
                    <a:lstStyle/>
                    <a:p>
                      <a:pPr algn="just" fontAlgn="t"/>
                      <a:r>
                        <a:rPr lang="en-US" sz="2000">
                          <a:effectLst/>
                        </a:rPr>
                        <a:t>Loop</a:t>
                      </a:r>
                    </a:p>
                    <a:p>
                      <a:pPr algn="just" fontAlgn="t"/>
                      <a:r>
                        <a:rPr lang="en-US" sz="2000">
                          <a:effectLst/>
                        </a:rPr>
                        <a:t>The loop is a while(true) indefinite loop</a:t>
                      </a:r>
                      <a:endParaRPr lang="en-US" sz="2000">
                        <a:solidFill>
                          <a:srgbClr val="000000"/>
                        </a:solidFill>
                        <a:effectLst/>
                      </a:endParaRPr>
                    </a:p>
                  </a:txBody>
                  <a:tcPr marL="76200" marR="76200" marT="76200" marB="76200"/>
                </a:tc>
                <a:extLst>
                  <a:ext uri="{0D108BD9-81ED-4DB2-BD59-A6C34878D82A}">
                    <a16:rowId xmlns:a16="http://schemas.microsoft.com/office/drawing/2014/main" val="3887245132"/>
                  </a:ext>
                </a:extLst>
              </a:tr>
            </a:tbl>
          </a:graphicData>
        </a:graphic>
      </p:graphicFrame>
    </p:spTree>
    <p:extLst>
      <p:ext uri="{BB962C8B-B14F-4D97-AF65-F5344CB8AC3E}">
        <p14:creationId xmlns:p14="http://schemas.microsoft.com/office/powerpoint/2010/main" val="133030925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3" name="Picture 2"/>
          <p:cNvPicPr>
            <a:picLocks noChangeAspect="1"/>
          </p:cNvPicPr>
          <p:nvPr/>
        </p:nvPicPr>
        <p:blipFill rotWithShape="1">
          <a:blip r:embed="rId3"/>
          <a:srcRect l="17170" t="9018" r="37238" b="50804"/>
          <a:stretch/>
        </p:blipFill>
        <p:spPr>
          <a:xfrm>
            <a:off x="457200" y="1848174"/>
            <a:ext cx="8072846" cy="3999852"/>
          </a:xfrm>
          <a:prstGeom prst="rect">
            <a:avLst/>
          </a:prstGeom>
        </p:spPr>
      </p:pic>
      <p:sp>
        <p:nvSpPr>
          <p:cNvPr id="2" name="Title 1"/>
          <p:cNvSpPr>
            <a:spLocks noGrp="1"/>
          </p:cNvSpPr>
          <p:nvPr>
            <p:ph type="title"/>
          </p:nvPr>
        </p:nvSpPr>
        <p:spPr/>
        <p:txBody>
          <a:bodyPr/>
          <a:lstStyle/>
          <a:p>
            <a:r>
              <a:rPr lang="en-GB" sz="4000"/>
              <a:t>While Loop illustration:</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20</a:t>
            </a:fld>
            <a:endParaRPr/>
          </a:p>
        </p:txBody>
      </p:sp>
      <p:sp>
        <p:nvSpPr>
          <p:cNvPr id="9" name="Rounded Rectangle 8"/>
          <p:cNvSpPr/>
          <p:nvPr/>
        </p:nvSpPr>
        <p:spPr>
          <a:xfrm>
            <a:off x="457200" y="1419520"/>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a:t>Practice 7: </a:t>
            </a:r>
            <a:r>
              <a:rPr lang="en-US" sz="1600" b="1" i="1">
                <a:solidFill>
                  <a:srgbClr val="FFFF00"/>
                </a:solidFill>
              </a:rPr>
              <a:t>week-4/practice_7/src/main.rs</a:t>
            </a:r>
          </a:p>
        </p:txBody>
      </p:sp>
    </p:spTree>
    <p:extLst>
      <p:ext uri="{BB962C8B-B14F-4D97-AF65-F5344CB8AC3E}">
        <p14:creationId xmlns:p14="http://schemas.microsoft.com/office/powerpoint/2010/main" val="266910585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Loop illustration:</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21</a:t>
            </a:fld>
            <a:endParaRPr/>
          </a:p>
        </p:txBody>
      </p:sp>
      <p:sp>
        <p:nvSpPr>
          <p:cNvPr id="9" name="Rounded Rectangle 8"/>
          <p:cNvSpPr/>
          <p:nvPr/>
        </p:nvSpPr>
        <p:spPr>
          <a:xfrm>
            <a:off x="457200" y="1419520"/>
            <a:ext cx="4992708" cy="428654"/>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1600" b="1" i="1"/>
              <a:t>Practice 8: </a:t>
            </a:r>
            <a:r>
              <a:rPr lang="en-US" sz="1600" b="1" i="1">
                <a:solidFill>
                  <a:srgbClr val="FFFF00"/>
                </a:solidFill>
              </a:rPr>
              <a:t>week-4/practice_8/src/main.rs</a:t>
            </a:r>
          </a:p>
        </p:txBody>
      </p:sp>
      <p:pic>
        <p:nvPicPr>
          <p:cNvPr id="5" name="Picture 4"/>
          <p:cNvPicPr>
            <a:picLocks noChangeAspect="1"/>
          </p:cNvPicPr>
          <p:nvPr/>
        </p:nvPicPr>
        <p:blipFill rotWithShape="1">
          <a:blip r:embed="rId3"/>
          <a:srcRect l="17471" t="8482" r="38903" b="55089"/>
          <a:stretch/>
        </p:blipFill>
        <p:spPr>
          <a:xfrm>
            <a:off x="457200" y="1848174"/>
            <a:ext cx="7694023" cy="3612100"/>
          </a:xfrm>
          <a:prstGeom prst="rect">
            <a:avLst/>
          </a:prstGeom>
        </p:spPr>
      </p:pic>
      <p:sp>
        <p:nvSpPr>
          <p:cNvPr id="8" name="Rounded Rectangle 7"/>
          <p:cNvSpPr/>
          <p:nvPr/>
        </p:nvSpPr>
        <p:spPr>
          <a:xfrm>
            <a:off x="348343" y="5501883"/>
            <a:ext cx="7802880" cy="898918"/>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2000"/>
              <a:t>The </a:t>
            </a:r>
            <a:r>
              <a:rPr lang="en-US" sz="2000" b="1">
                <a:solidFill>
                  <a:srgbClr val="FFFF00"/>
                </a:solidFill>
              </a:rPr>
              <a:t>break</a:t>
            </a:r>
            <a:r>
              <a:rPr lang="en-US" sz="2000"/>
              <a:t> statement is used to take the control out of a construct. Using break in a loop causes the program to exit the loop.</a:t>
            </a:r>
            <a:endParaRPr lang="en-US" sz="2400" b="1" i="1">
              <a:solidFill>
                <a:srgbClr val="FFFF00"/>
              </a:solidFill>
            </a:endParaRPr>
          </a:p>
        </p:txBody>
      </p:sp>
    </p:spTree>
    <p:extLst>
      <p:ext uri="{BB962C8B-B14F-4D97-AF65-F5344CB8AC3E}">
        <p14:creationId xmlns:p14="http://schemas.microsoft.com/office/powerpoint/2010/main" val="15429409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GB" sz="4000"/>
              <a:t>Continue Statement illustration:</a:t>
            </a:r>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22</a:t>
            </a:fld>
            <a:endParaRPr/>
          </a:p>
        </p:txBody>
      </p:sp>
      <p:sp>
        <p:nvSpPr>
          <p:cNvPr id="9" name="Rounded Rectangle 8"/>
          <p:cNvSpPr/>
          <p:nvPr/>
        </p:nvSpPr>
        <p:spPr>
          <a:xfrm>
            <a:off x="496389" y="3063725"/>
            <a:ext cx="4992708" cy="428654"/>
          </a:xfrm>
          <a:prstGeom prst="roundRect">
            <a:avLst/>
          </a:prstGeom>
        </p:spPr>
        <p:style>
          <a:lnRef idx="3">
            <a:schemeClr val="lt1"/>
          </a:lnRef>
          <a:fillRef idx="1">
            <a:schemeClr val="dk1"/>
          </a:fillRef>
          <a:effectRef idx="1">
            <a:schemeClr val="dk1"/>
          </a:effectRef>
          <a:fontRef idx="minor">
            <a:schemeClr val="lt1"/>
          </a:fontRef>
        </p:style>
        <p:txBody>
          <a:bodyPr lIns="91440" tIns="45720" rIns="91440" bIns="45720" rtlCol="0" anchor="ctr"/>
          <a:lstStyle/>
          <a:p>
            <a:r>
              <a:rPr lang="en-US" sz="1600" b="1" i="1"/>
              <a:t>Practice 9: </a:t>
            </a:r>
            <a:r>
              <a:rPr lang="en-US" sz="1600" b="1" i="1">
                <a:solidFill>
                  <a:srgbClr val="FFFF00"/>
                </a:solidFill>
              </a:rPr>
              <a:t>week-4/practice_9/src/main.rs</a:t>
            </a:r>
          </a:p>
        </p:txBody>
      </p:sp>
      <p:sp>
        <p:nvSpPr>
          <p:cNvPr id="8" name="Rounded Rectangle 7"/>
          <p:cNvSpPr/>
          <p:nvPr/>
        </p:nvSpPr>
        <p:spPr>
          <a:xfrm>
            <a:off x="457199" y="1448101"/>
            <a:ext cx="8190411" cy="1521885"/>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r>
              <a:rPr lang="en-US" sz="2000"/>
              <a:t>The </a:t>
            </a:r>
            <a:r>
              <a:rPr lang="en-US" sz="2000" b="1">
                <a:solidFill>
                  <a:srgbClr val="FFFF00"/>
                </a:solidFill>
              </a:rPr>
              <a:t>continue</a:t>
            </a:r>
            <a:r>
              <a:rPr lang="en-US" sz="2000"/>
              <a:t> statement skips the subsequent statements in the current iteration and takes the control back to the beginning of the loop. Unlike the break statement, the continue does not exit the loop. It terminates the current iteration and starts the subsequent iteration.</a:t>
            </a:r>
            <a:endParaRPr lang="en-US" sz="3600" b="1" i="1">
              <a:solidFill>
                <a:srgbClr val="FFFF00"/>
              </a:solidFill>
            </a:endParaRPr>
          </a:p>
        </p:txBody>
      </p:sp>
      <p:pic>
        <p:nvPicPr>
          <p:cNvPr id="3" name="Picture 2"/>
          <p:cNvPicPr>
            <a:picLocks noChangeAspect="1"/>
          </p:cNvPicPr>
          <p:nvPr/>
        </p:nvPicPr>
        <p:blipFill rotWithShape="1">
          <a:blip r:embed="rId3"/>
          <a:srcRect l="17472" t="8839" r="28169" b="55268"/>
          <a:stretch/>
        </p:blipFill>
        <p:spPr>
          <a:xfrm>
            <a:off x="496389" y="3492378"/>
            <a:ext cx="8151222" cy="3025987"/>
          </a:xfrm>
          <a:prstGeom prst="rect">
            <a:avLst/>
          </a:prstGeom>
        </p:spPr>
      </p:pic>
    </p:spTree>
    <p:extLst>
      <p:ext uri="{BB962C8B-B14F-4D97-AF65-F5344CB8AC3E}">
        <p14:creationId xmlns:p14="http://schemas.microsoft.com/office/powerpoint/2010/main" val="414377530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90949" y="1672046"/>
            <a:ext cx="3134191" cy="646331"/>
          </a:xfrm>
          <a:prstGeom prst="rect">
            <a:avLst/>
          </a:prstGeom>
          <a:noFill/>
        </p:spPr>
        <p:txBody>
          <a:bodyPr wrap="none" rtlCol="0">
            <a:spAutoFit/>
          </a:bodyPr>
          <a:lstStyle/>
          <a:p>
            <a:r>
              <a:rPr lang="en-US" sz="3600">
                <a:solidFill>
                  <a:srgbClr val="FFFFFF"/>
                </a:solidFill>
              </a:rPr>
              <a:t>Class Projects</a:t>
            </a:r>
          </a:p>
        </p:txBody>
      </p:sp>
    </p:spTree>
    <p:extLst>
      <p:ext uri="{BB962C8B-B14F-4D97-AF65-F5344CB8AC3E}">
        <p14:creationId xmlns:p14="http://schemas.microsoft.com/office/powerpoint/2010/main" val="366333027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Project I</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24</a:t>
            </a:fld>
            <a:endParaRPr lang="en-US"/>
          </a:p>
        </p:txBody>
      </p:sp>
      <p:sp>
        <p:nvSpPr>
          <p:cNvPr id="5" name="Rounded Rectangle 4"/>
          <p:cNvSpPr/>
          <p:nvPr/>
        </p:nvSpPr>
        <p:spPr>
          <a:xfrm>
            <a:off x="662917" y="1429226"/>
            <a:ext cx="7818165" cy="4971574"/>
          </a:xfrm>
          <a:prstGeom prst="round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2200">
                <a:latin typeface="+mj-lt"/>
              </a:rPr>
              <a:t>Given the values of </a:t>
            </a:r>
            <a:r>
              <a:rPr lang="en-US" sz="2200" i="1">
                <a:latin typeface="+mj-lt"/>
              </a:rPr>
              <a:t>a</a:t>
            </a:r>
            <a:r>
              <a:rPr lang="en-US" sz="2200">
                <a:latin typeface="+mj-lt"/>
              </a:rPr>
              <a:t>, </a:t>
            </a:r>
            <a:r>
              <a:rPr lang="en-US" sz="2200" i="1">
                <a:latin typeface="+mj-lt"/>
              </a:rPr>
              <a:t>b</a:t>
            </a:r>
            <a:r>
              <a:rPr lang="en-US" sz="2200">
                <a:latin typeface="+mj-lt"/>
              </a:rPr>
              <a:t> and </a:t>
            </a:r>
            <a:r>
              <a:rPr lang="en-US" sz="2200" i="1">
                <a:latin typeface="+mj-lt"/>
              </a:rPr>
              <a:t>c</a:t>
            </a:r>
            <a:r>
              <a:rPr lang="en-US" sz="2200">
                <a:latin typeface="+mj-lt"/>
              </a:rPr>
              <a:t>, find the roots of a quadratic equation using Rust program.</a:t>
            </a:r>
          </a:p>
          <a:p>
            <a:endParaRPr lang="en-US" sz="2200">
              <a:latin typeface="+mj-lt"/>
            </a:endParaRPr>
          </a:p>
          <a:p>
            <a:r>
              <a:rPr lang="en-US" sz="2200" b="1">
                <a:solidFill>
                  <a:srgbClr val="FFFF00"/>
                </a:solidFill>
                <a:latin typeface="+mj-lt"/>
              </a:rPr>
              <a:t>Hints:</a:t>
            </a:r>
          </a:p>
          <a:p>
            <a:pPr marL="342900" indent="-342900">
              <a:buClr>
                <a:schemeClr val="bg1"/>
              </a:buClr>
              <a:buFont typeface="Arial" panose="020B0604020202020204" pitchFamily="34" charset="0"/>
              <a:buChar char="•"/>
            </a:pPr>
            <a:r>
              <a:rPr lang="en-US" sz="2200">
                <a:latin typeface="+mj-lt"/>
              </a:rPr>
              <a:t>Input the values from the keyboard</a:t>
            </a:r>
          </a:p>
          <a:p>
            <a:pPr marL="342900" indent="-342900">
              <a:buClr>
                <a:schemeClr val="bg1"/>
              </a:buClr>
              <a:buFont typeface="Arial" panose="020B0604020202020204" pitchFamily="34" charset="0"/>
              <a:buChar char="•"/>
            </a:pPr>
            <a:r>
              <a:rPr lang="en-US" sz="2200">
                <a:latin typeface="+mj-lt"/>
              </a:rPr>
              <a:t>Find the discriminant. The discriminant determines the number and nature of the roots.</a:t>
            </a:r>
          </a:p>
          <a:p>
            <a:pPr marL="342900" lvl="8" indent="-342900">
              <a:buClr>
                <a:schemeClr val="bg1"/>
              </a:buClr>
              <a:buFont typeface="Arial" panose="020B0604020202020204" pitchFamily="34" charset="0"/>
              <a:buChar char="•"/>
            </a:pPr>
            <a:r>
              <a:rPr lang="en-US" sz="2200">
                <a:latin typeface="+mj-lt"/>
              </a:rPr>
              <a:t>If the discriminant is positive, then there are two distinct roots.</a:t>
            </a:r>
          </a:p>
          <a:p>
            <a:pPr marL="342900" lvl="8" indent="-342900">
              <a:buClr>
                <a:schemeClr val="bg1"/>
              </a:buClr>
              <a:buFont typeface="Arial" panose="020B0604020202020204" pitchFamily="34" charset="0"/>
              <a:buChar char="•"/>
            </a:pPr>
            <a:r>
              <a:rPr lang="en-US" sz="2200">
                <a:latin typeface="+mj-lt"/>
              </a:rPr>
              <a:t>If the discriminant is zero, then there is exactly one real root.</a:t>
            </a:r>
          </a:p>
          <a:p>
            <a:pPr marL="342900" lvl="8" indent="-342900">
              <a:buClr>
                <a:schemeClr val="bg1"/>
              </a:buClr>
              <a:buFont typeface="Arial" panose="020B0604020202020204" pitchFamily="34" charset="0"/>
              <a:buChar char="•"/>
            </a:pPr>
            <a:r>
              <a:rPr lang="en-US" sz="2200">
                <a:latin typeface="+mj-lt"/>
              </a:rPr>
              <a:t>If the discriminant is negative, then there are no real roots.</a:t>
            </a:r>
          </a:p>
        </p:txBody>
      </p:sp>
    </p:spTree>
    <p:extLst>
      <p:ext uri="{BB962C8B-B14F-4D97-AF65-F5344CB8AC3E}">
        <p14:creationId xmlns:p14="http://schemas.microsoft.com/office/powerpoint/2010/main" val="170057321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Project II</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25</a:t>
            </a:fld>
            <a:endParaRPr lang="en-US"/>
          </a:p>
        </p:txBody>
      </p:sp>
      <p:sp>
        <p:nvSpPr>
          <p:cNvPr id="5" name="Rounded Rectangle 4"/>
          <p:cNvSpPr/>
          <p:nvPr/>
        </p:nvSpPr>
        <p:spPr>
          <a:xfrm>
            <a:off x="544752" y="1429226"/>
            <a:ext cx="8265590" cy="4971574"/>
          </a:xfrm>
          <a:prstGeom prst="roundRect">
            <a:avLst/>
          </a:prstGeom>
        </p:spPr>
        <p:style>
          <a:lnRef idx="3">
            <a:schemeClr val="lt1"/>
          </a:lnRef>
          <a:fillRef idx="1">
            <a:schemeClr val="dk1"/>
          </a:fillRef>
          <a:effectRef idx="1">
            <a:schemeClr val="dk1"/>
          </a:effectRef>
          <a:fontRef idx="minor">
            <a:schemeClr val="lt1"/>
          </a:fontRef>
        </p:style>
        <p:txBody>
          <a:bodyPr wrap="square">
            <a:spAutoFit/>
          </a:bodyPr>
          <a:lstStyle/>
          <a:p>
            <a:pPr lvl="0"/>
            <a:r>
              <a:rPr lang="en-US" sz="2200"/>
              <a:t>Develop a program in Rust that takes as input the experience and age of an employee to determine the annual incentive, with the following criteria: </a:t>
            </a:r>
          </a:p>
          <a:p>
            <a:pPr marL="342900" lvl="0" indent="-342900">
              <a:buClr>
                <a:schemeClr val="bg1"/>
              </a:buClr>
              <a:buFont typeface="Wingdings" panose="05000000000000000000" pitchFamily="2" charset="2"/>
              <a:buChar char="Ø"/>
            </a:pPr>
            <a:r>
              <a:rPr lang="en-US" sz="2200"/>
              <a:t>If the employee is experienced and his/her age is equal to or more than 40, then the incentive of the employee is N1,560,000. </a:t>
            </a:r>
          </a:p>
          <a:p>
            <a:pPr marL="342900" lvl="0" indent="-342900">
              <a:buClr>
                <a:schemeClr val="bg1"/>
              </a:buClr>
              <a:buFont typeface="Wingdings" panose="05000000000000000000" pitchFamily="2" charset="2"/>
              <a:buChar char="Ø"/>
            </a:pPr>
            <a:r>
              <a:rPr lang="en-US" sz="2200"/>
              <a:t>If the employee is experienced and his/her age is equal to or more than 30 but less than 40, then the incentive should be N1,480,000. </a:t>
            </a:r>
          </a:p>
          <a:p>
            <a:pPr marL="342900" lvl="0" indent="-342900">
              <a:buClr>
                <a:schemeClr val="bg1"/>
              </a:buClr>
              <a:buFont typeface="Wingdings" panose="05000000000000000000" pitchFamily="2" charset="2"/>
              <a:buChar char="Ø"/>
            </a:pPr>
            <a:r>
              <a:rPr lang="en-US" sz="2200"/>
              <a:t>For experienced employee below 28 years of age the incentive should be N1,300,000 per month.</a:t>
            </a:r>
          </a:p>
          <a:p>
            <a:pPr marL="342900" lvl="0" indent="-342900">
              <a:buClr>
                <a:schemeClr val="bg1"/>
              </a:buClr>
              <a:buFont typeface="Wingdings" panose="05000000000000000000" pitchFamily="2" charset="2"/>
              <a:buChar char="Ø"/>
            </a:pPr>
            <a:r>
              <a:rPr lang="en-US" sz="2200"/>
              <a:t>For inexperienced employee the incentive should be N100,000.</a:t>
            </a:r>
          </a:p>
        </p:txBody>
      </p:sp>
    </p:spTree>
    <p:extLst>
      <p:ext uri="{BB962C8B-B14F-4D97-AF65-F5344CB8AC3E}">
        <p14:creationId xmlns:p14="http://schemas.microsoft.com/office/powerpoint/2010/main" val="327958362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theme/theme1.xml><?xml version="1.0" encoding="utf-8"?>
<a:theme xmlns:a="http://schemas.openxmlformats.org/drawingml/2006/main" name="SST-Theme3">
  <a:themeElements>
    <a:clrScheme name="Custom 1">
      <a:dk1>
        <a:srgbClr val="002060"/>
      </a:dk1>
      <a:lt1>
        <a:srgbClr val="FFFFFF"/>
      </a:lt1>
      <a:dk2>
        <a:srgbClr val="09055B"/>
      </a:dk2>
      <a:lt2>
        <a:srgbClr val="FFFFFF"/>
      </a:lt2>
      <a:accent1>
        <a:srgbClr val="002060"/>
      </a:accent1>
      <a:accent2>
        <a:srgbClr val="002060"/>
      </a:accent2>
      <a:accent3>
        <a:srgbClr val="97BAFF"/>
      </a:accent3>
      <a:accent4>
        <a:srgbClr val="D5E3FF"/>
      </a:accent4>
      <a:accent5>
        <a:srgbClr val="002060"/>
      </a:accent5>
      <a:accent6>
        <a:srgbClr val="002060"/>
      </a:accent6>
      <a:hlink>
        <a:srgbClr val="DB5353"/>
      </a:hlink>
      <a:folHlink>
        <a:srgbClr val="9036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ST-Theme3" id="{19FA4AEF-6FF8-4EA7-B305-9BE5D4ECCCA5}" vid="{A328A429-1CDE-49DF-A990-0DFEB0585E55}"/>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SST-Theme3</Template>
  <Application>Microsoft Office PowerPoint</Application>
  <PresentationFormat>On-screen Show (4:3)</PresentationFormat>
  <Slides>25</Slides>
  <Notes>22</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SST-Theme3</vt:lpstr>
      <vt:lpstr>Rust - Decision Making &amp; Loops</vt:lpstr>
      <vt:lpstr>How to Read User Input in Rust </vt:lpstr>
      <vt:lpstr>Rust - Standard Input</vt:lpstr>
      <vt:lpstr>Another Standard Input illustration:</vt:lpstr>
      <vt:lpstr>Rust – Decision Making</vt:lpstr>
      <vt:lpstr>Rust – Decision Making</vt:lpstr>
      <vt:lpstr>Rust – Decision Making</vt:lpstr>
      <vt:lpstr>Rust – If Statement</vt:lpstr>
      <vt:lpstr>If Statement illustration:</vt:lpstr>
      <vt:lpstr>Rust – If…else Statement</vt:lpstr>
      <vt:lpstr>If…else Statement illustration:</vt:lpstr>
      <vt:lpstr>Nested If Statement</vt:lpstr>
      <vt:lpstr>Nested If Statement</vt:lpstr>
      <vt:lpstr>Loops</vt:lpstr>
      <vt:lpstr>General form of a Loops</vt:lpstr>
      <vt:lpstr>Types of Loops</vt:lpstr>
      <vt:lpstr>Definite Loop</vt:lpstr>
      <vt:lpstr>For Loop illustration:</vt:lpstr>
      <vt:lpstr>Indefinite Loop</vt:lpstr>
      <vt:lpstr>While Loop illustration:</vt:lpstr>
      <vt:lpstr>Loop illustration:</vt:lpstr>
      <vt:lpstr>Continue Statement illustration:</vt:lpstr>
      <vt:lpstr>PowerPoint Presentation</vt:lpstr>
      <vt:lpstr>Project I</vt:lpstr>
      <vt:lpstr>Project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Moruson</dc:creator>
  <cp:revision>2</cp:revision>
  <dcterms:modified xsi:type="dcterms:W3CDTF">2025-10-25T16:43:22Z</dcterms:modified>
</cp:coreProperties>
</file>