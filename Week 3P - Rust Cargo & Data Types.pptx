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6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7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8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9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0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1"/>
  </p:sldMasterIdLst>
  <p:notesMasterIdLst>
    <p:notesMasterId r:id="rId24"/>
  </p:notesMasterIdLst>
  <p:sldIdLst>
    <p:sldId id="256" r:id="rId2"/>
    <p:sldId id="318" r:id="rId3"/>
    <p:sldId id="319" r:id="rId4"/>
    <p:sldId id="320" r:id="rId5"/>
    <p:sldId id="321" r:id="rId6"/>
    <p:sldId id="322" r:id="rId7"/>
    <p:sldId id="323" r:id="rId8"/>
    <p:sldId id="324" r:id="rId9"/>
    <p:sldId id="258" r:id="rId10"/>
    <p:sldId id="309" r:id="rId11"/>
    <p:sldId id="310" r:id="rId12"/>
    <p:sldId id="312" r:id="rId13"/>
    <p:sldId id="311" r:id="rId14"/>
    <p:sldId id="313" r:id="rId15"/>
    <p:sldId id="316" r:id="rId16"/>
    <p:sldId id="317" r:id="rId17"/>
    <p:sldId id="314" r:id="rId18"/>
    <p:sldId id="315" r:id="rId19"/>
    <p:sldId id="325" r:id="rId20"/>
    <p:sldId id="326" r:id="rId21"/>
    <p:sldId id="327" r:id="rId22"/>
    <p:sldId id="305" r:id="rId23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FFFFFF"/>
    <a:srgbClr val="000000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981" autoAdjust="0"/>
  </p:normalViewPr>
  <p:slideViewPr>
    <p:cSldViewPr snapToGrid="0">
      <p:cViewPr>
        <p:scale>
          <a:sx n="60" d="100"/>
          <a:sy n="60" d="100"/>
        </p:scale>
        <p:origin x="1686" y="2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1C1319-24F4-4E3A-8910-7AD3F3E94239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AE79A08-D8BC-4A85-9443-C59499A086E2}">
      <dgm:prSet phldrT="[Text]" custT="1"/>
      <dgm:spPr/>
      <dgm:t>
        <a:bodyPr/>
        <a:lstStyle/>
        <a:p>
          <a:r>
            <a:rPr lang="en-US" sz="2200" b="0" i="0" dirty="0"/>
            <a:t>Cargo is Rust’s build system and package manager. </a:t>
          </a:r>
          <a:endParaRPr lang="en-US" sz="2200" b="1" dirty="0"/>
        </a:p>
      </dgm:t>
    </dgm:pt>
    <dgm:pt modelId="{9450BA04-5E0F-4DBD-A629-AB7BD99B4332}" type="parTrans" cxnId="{955BE981-086C-451B-BC3D-18B2C3B7FD71}">
      <dgm:prSet/>
      <dgm:spPr/>
      <dgm:t>
        <a:bodyPr/>
        <a:lstStyle/>
        <a:p>
          <a:endParaRPr lang="en-US"/>
        </a:p>
      </dgm:t>
    </dgm:pt>
    <dgm:pt modelId="{F1E324BB-D154-4CA0-9089-949689A2D539}" type="sibTrans" cxnId="{955BE981-086C-451B-BC3D-18B2C3B7FD71}">
      <dgm:prSet/>
      <dgm:spPr/>
      <dgm:t>
        <a:bodyPr/>
        <a:lstStyle/>
        <a:p>
          <a:endParaRPr lang="en-US"/>
        </a:p>
      </dgm:t>
    </dgm:pt>
    <dgm:pt modelId="{C3F4F65A-67C5-4763-8C18-E15CA4391867}">
      <dgm:prSet phldrT="[Text]" custT="1"/>
      <dgm:spPr/>
      <dgm:t>
        <a:bodyPr/>
        <a:lstStyle/>
        <a:p>
          <a:r>
            <a:rPr lang="en-US" sz="2200" b="0" i="0" dirty="0"/>
            <a:t>Most </a:t>
          </a:r>
          <a:r>
            <a:rPr lang="en-US" sz="2200" b="0" i="1" dirty="0" err="1">
              <a:solidFill>
                <a:srgbClr val="FFFF00"/>
              </a:solidFill>
            </a:rPr>
            <a:t>Rustaceans</a:t>
          </a:r>
          <a:r>
            <a:rPr lang="en-US" sz="2200" b="0" i="0" dirty="0"/>
            <a:t> use this tool to manage their Rust projects because Cargo handles a lot of tasks for you, such as</a:t>
          </a:r>
          <a:endParaRPr lang="en-US" sz="2200" b="1" dirty="0"/>
        </a:p>
      </dgm:t>
    </dgm:pt>
    <dgm:pt modelId="{F0FB3844-8B8F-4137-A57E-F4B9CC9C52F6}" type="parTrans" cxnId="{AE816BA0-3374-4DF3-B921-23E14579A9C5}">
      <dgm:prSet/>
      <dgm:spPr/>
      <dgm:t>
        <a:bodyPr/>
        <a:lstStyle/>
        <a:p>
          <a:endParaRPr lang="en-US"/>
        </a:p>
      </dgm:t>
    </dgm:pt>
    <dgm:pt modelId="{5997460F-671A-4229-8AA7-016C28310F2B}" type="sibTrans" cxnId="{AE816BA0-3374-4DF3-B921-23E14579A9C5}">
      <dgm:prSet/>
      <dgm:spPr/>
      <dgm:t>
        <a:bodyPr/>
        <a:lstStyle/>
        <a:p>
          <a:endParaRPr lang="en-US"/>
        </a:p>
      </dgm:t>
    </dgm:pt>
    <dgm:pt modelId="{DCCAEA16-750E-49DE-B6CA-461ED2C8E9F7}">
      <dgm:prSet phldrT="[Text]" custT="1"/>
      <dgm:spPr/>
      <dgm:t>
        <a:bodyPr/>
        <a:lstStyle/>
        <a:p>
          <a:r>
            <a:rPr lang="en-US" sz="2000" b="0" i="0" dirty="0"/>
            <a:t>building your code, </a:t>
          </a:r>
          <a:endParaRPr lang="en-US" sz="2000" b="1" dirty="0"/>
        </a:p>
      </dgm:t>
    </dgm:pt>
    <dgm:pt modelId="{2901DD31-A37A-430F-BD77-80CE3E58E724}" type="parTrans" cxnId="{686CA846-BCA2-46E1-B500-4684EA88E038}">
      <dgm:prSet/>
      <dgm:spPr/>
      <dgm:t>
        <a:bodyPr/>
        <a:lstStyle/>
        <a:p>
          <a:endParaRPr lang="en-US"/>
        </a:p>
      </dgm:t>
    </dgm:pt>
    <dgm:pt modelId="{283C00F8-56C8-4A24-B4A8-6E470308BCDB}" type="sibTrans" cxnId="{686CA846-BCA2-46E1-B500-4684EA88E038}">
      <dgm:prSet/>
      <dgm:spPr/>
      <dgm:t>
        <a:bodyPr/>
        <a:lstStyle/>
        <a:p>
          <a:endParaRPr lang="en-US"/>
        </a:p>
      </dgm:t>
    </dgm:pt>
    <dgm:pt modelId="{216C7185-658E-4C76-BBA5-48C9CDFB2519}">
      <dgm:prSet phldrT="[Text]" custT="1"/>
      <dgm:spPr/>
      <dgm:t>
        <a:bodyPr/>
        <a:lstStyle/>
        <a:p>
          <a:r>
            <a:rPr lang="en-US" sz="2000" b="0" i="0" dirty="0"/>
            <a:t>downloading the libraries your code depends on and</a:t>
          </a:r>
          <a:endParaRPr lang="en-US" sz="2000" b="1" dirty="0"/>
        </a:p>
      </dgm:t>
    </dgm:pt>
    <dgm:pt modelId="{3A65EA7E-71CF-4888-8FBB-BA6A8F6DE37D}" type="parTrans" cxnId="{1182B222-F1B5-4B2B-BF0D-67CCE6438FD8}">
      <dgm:prSet/>
      <dgm:spPr/>
      <dgm:t>
        <a:bodyPr/>
        <a:lstStyle/>
        <a:p>
          <a:endParaRPr lang="en-US"/>
        </a:p>
      </dgm:t>
    </dgm:pt>
    <dgm:pt modelId="{809B0CF4-78CE-4B64-951D-472015D9CFB7}" type="sibTrans" cxnId="{1182B222-F1B5-4B2B-BF0D-67CCE6438FD8}">
      <dgm:prSet/>
      <dgm:spPr/>
      <dgm:t>
        <a:bodyPr/>
        <a:lstStyle/>
        <a:p>
          <a:endParaRPr lang="en-US"/>
        </a:p>
      </dgm:t>
    </dgm:pt>
    <dgm:pt modelId="{3B715713-01E1-4DBC-B48E-D24D4CCC773B}">
      <dgm:prSet phldrT="[Text]" custT="1"/>
      <dgm:spPr/>
      <dgm:t>
        <a:bodyPr/>
        <a:lstStyle/>
        <a:p>
          <a:r>
            <a:rPr lang="en-US" sz="2000" b="0" i="0" dirty="0"/>
            <a:t>building those libraries.</a:t>
          </a:r>
          <a:endParaRPr lang="en-US" sz="2000" b="1" dirty="0"/>
        </a:p>
      </dgm:t>
    </dgm:pt>
    <dgm:pt modelId="{C1433E97-723E-4246-9E93-9E225327BCCF}" type="parTrans" cxnId="{303179AC-FFFD-4815-AE8E-8CBA5F2C377A}">
      <dgm:prSet/>
      <dgm:spPr/>
      <dgm:t>
        <a:bodyPr/>
        <a:lstStyle/>
        <a:p>
          <a:endParaRPr lang="en-US"/>
        </a:p>
      </dgm:t>
    </dgm:pt>
    <dgm:pt modelId="{F65155B9-6790-4C2D-AD9B-F8EFFF5FFC4D}" type="sibTrans" cxnId="{303179AC-FFFD-4815-AE8E-8CBA5F2C377A}">
      <dgm:prSet/>
      <dgm:spPr/>
      <dgm:t>
        <a:bodyPr/>
        <a:lstStyle/>
        <a:p>
          <a:endParaRPr lang="en-US"/>
        </a:p>
      </dgm:t>
    </dgm:pt>
    <dgm:pt modelId="{419A11BF-49D5-44EC-A7E5-A5D595906369}">
      <dgm:prSet phldrT="[Text]" custT="1"/>
      <dgm:spPr/>
      <dgm:t>
        <a:bodyPr/>
        <a:lstStyle/>
        <a:p>
          <a:r>
            <a:rPr lang="en-US" sz="2200" b="0" i="0" dirty="0"/>
            <a:t>Cargo comes installed with Rust if you used the official installers</a:t>
          </a:r>
          <a:endParaRPr lang="en-US" sz="2200" b="1" dirty="0"/>
        </a:p>
      </dgm:t>
    </dgm:pt>
    <dgm:pt modelId="{8DF4FD30-40D8-404F-9128-934EB7F4A263}" type="parTrans" cxnId="{F93D3981-4166-4338-B669-3FF87EC8761D}">
      <dgm:prSet/>
      <dgm:spPr/>
      <dgm:t>
        <a:bodyPr/>
        <a:lstStyle/>
        <a:p>
          <a:endParaRPr lang="en-US"/>
        </a:p>
      </dgm:t>
    </dgm:pt>
    <dgm:pt modelId="{70F8675A-366C-414A-97A9-5F1BFCAE5CC2}" type="sibTrans" cxnId="{F93D3981-4166-4338-B669-3FF87EC8761D}">
      <dgm:prSet/>
      <dgm:spPr/>
      <dgm:t>
        <a:bodyPr/>
        <a:lstStyle/>
        <a:p>
          <a:endParaRPr lang="en-US"/>
        </a:p>
      </dgm:t>
    </dgm:pt>
    <dgm:pt modelId="{AFE1611D-7FEE-4865-B67F-617C70E1E4BD}">
      <dgm:prSet phldrT="[Text]" custT="1"/>
      <dgm:spPr/>
      <dgm:t>
        <a:bodyPr/>
        <a:lstStyle/>
        <a:p>
          <a:r>
            <a:rPr lang="en-US" sz="2200" b="0" i="0" dirty="0"/>
            <a:t>Check whether Cargo is installed by entering the following into your terminal:</a:t>
          </a:r>
          <a:endParaRPr lang="en-US" sz="2200" b="1" dirty="0"/>
        </a:p>
      </dgm:t>
    </dgm:pt>
    <dgm:pt modelId="{F798328F-7284-4B46-BE5C-1B569F85EA06}" type="parTrans" cxnId="{D86C2C48-C379-4E12-BD54-AC0AFE804A7D}">
      <dgm:prSet/>
      <dgm:spPr/>
      <dgm:t>
        <a:bodyPr/>
        <a:lstStyle/>
        <a:p>
          <a:endParaRPr lang="en-US"/>
        </a:p>
      </dgm:t>
    </dgm:pt>
    <dgm:pt modelId="{B6C003CC-2F16-4C76-980E-0319F268888C}" type="sibTrans" cxnId="{D86C2C48-C379-4E12-BD54-AC0AFE804A7D}">
      <dgm:prSet/>
      <dgm:spPr/>
      <dgm:t>
        <a:bodyPr/>
        <a:lstStyle/>
        <a:p>
          <a:endParaRPr lang="en-US"/>
        </a:p>
      </dgm:t>
    </dgm:pt>
    <dgm:pt modelId="{11C1B85E-6996-481E-AE89-C448BFD6ADF7}">
      <dgm:prSet phldrT="[Text]" custT="1"/>
      <dgm:spPr/>
      <dgm:t>
        <a:bodyPr/>
        <a:lstStyle/>
        <a:p>
          <a:r>
            <a:rPr lang="en-US" sz="2000" b="0" i="0" dirty="0"/>
            <a:t>$ cargo --version</a:t>
          </a:r>
          <a:endParaRPr lang="en-US" sz="2000" b="1" dirty="0"/>
        </a:p>
      </dgm:t>
    </dgm:pt>
    <dgm:pt modelId="{7A492366-1BD4-4280-A3AC-4EBC5266E275}" type="parTrans" cxnId="{06E3A7CA-389D-4256-BDB6-F0B5A802DBBC}">
      <dgm:prSet/>
      <dgm:spPr/>
      <dgm:t>
        <a:bodyPr/>
        <a:lstStyle/>
        <a:p>
          <a:endParaRPr lang="en-US"/>
        </a:p>
      </dgm:t>
    </dgm:pt>
    <dgm:pt modelId="{F2017F84-8C97-419E-8848-E8D70513AD5A}" type="sibTrans" cxnId="{06E3A7CA-389D-4256-BDB6-F0B5A802DBBC}">
      <dgm:prSet/>
      <dgm:spPr/>
      <dgm:t>
        <a:bodyPr/>
        <a:lstStyle/>
        <a:p>
          <a:endParaRPr lang="en-US"/>
        </a:p>
      </dgm:t>
    </dgm:pt>
    <dgm:pt modelId="{FCCA9ACF-4171-46AF-AAB8-4C152E8EF592}" type="pres">
      <dgm:prSet presAssocID="{631C1319-24F4-4E3A-8910-7AD3F3E94239}" presName="linear" presStyleCnt="0">
        <dgm:presLayoutVars>
          <dgm:animLvl val="lvl"/>
          <dgm:resizeHandles val="exact"/>
        </dgm:presLayoutVars>
      </dgm:prSet>
      <dgm:spPr/>
    </dgm:pt>
    <dgm:pt modelId="{0F8EF2D8-0CAC-422E-9963-20467178D162}" type="pres">
      <dgm:prSet presAssocID="{6AE79A08-D8BC-4A85-9443-C59499A086E2}" presName="parentText" presStyleLbl="node1" presStyleIdx="0" presStyleCnt="4" custScaleY="73344" custLinFactNeighborY="-29967">
        <dgm:presLayoutVars>
          <dgm:chMax val="0"/>
          <dgm:bulletEnabled val="1"/>
        </dgm:presLayoutVars>
      </dgm:prSet>
      <dgm:spPr/>
    </dgm:pt>
    <dgm:pt modelId="{60051653-CF97-4012-AAC9-18D9C479630A}" type="pres">
      <dgm:prSet presAssocID="{F1E324BB-D154-4CA0-9089-949689A2D539}" presName="spacer" presStyleCnt="0"/>
      <dgm:spPr/>
    </dgm:pt>
    <dgm:pt modelId="{E0E3567A-AD90-41BC-8F9D-90A54862E85B}" type="pres">
      <dgm:prSet presAssocID="{C3F4F65A-67C5-4763-8C18-E15CA4391867}" presName="parentText" presStyleLbl="node1" presStyleIdx="1" presStyleCnt="4" custScaleY="83271" custLinFactNeighborY="-6521">
        <dgm:presLayoutVars>
          <dgm:chMax val="0"/>
          <dgm:bulletEnabled val="1"/>
        </dgm:presLayoutVars>
      </dgm:prSet>
      <dgm:spPr/>
    </dgm:pt>
    <dgm:pt modelId="{1B0600FC-D430-41C0-82E9-5B32F1717714}" type="pres">
      <dgm:prSet presAssocID="{C3F4F65A-67C5-4763-8C18-E15CA4391867}" presName="childText" presStyleLbl="revTx" presStyleIdx="0" presStyleCnt="2">
        <dgm:presLayoutVars>
          <dgm:bulletEnabled val="1"/>
        </dgm:presLayoutVars>
      </dgm:prSet>
      <dgm:spPr/>
    </dgm:pt>
    <dgm:pt modelId="{A68F33CA-042D-457D-B8F4-6240CB339C82}" type="pres">
      <dgm:prSet presAssocID="{419A11BF-49D5-44EC-A7E5-A5D595906369}" presName="parentText" presStyleLbl="node1" presStyleIdx="2" presStyleCnt="4" custScaleY="67619">
        <dgm:presLayoutVars>
          <dgm:chMax val="0"/>
          <dgm:bulletEnabled val="1"/>
        </dgm:presLayoutVars>
      </dgm:prSet>
      <dgm:spPr/>
    </dgm:pt>
    <dgm:pt modelId="{110BE40C-0BBC-40C2-A203-5BFFF8415DC4}" type="pres">
      <dgm:prSet presAssocID="{70F8675A-366C-414A-97A9-5F1BFCAE5CC2}" presName="spacer" presStyleCnt="0"/>
      <dgm:spPr/>
    </dgm:pt>
    <dgm:pt modelId="{558C654B-9C50-4995-A6B9-9B752E6B93D9}" type="pres">
      <dgm:prSet presAssocID="{AFE1611D-7FEE-4865-B67F-617C70E1E4BD}" presName="parentText" presStyleLbl="node1" presStyleIdx="3" presStyleCnt="4" custLinFactNeighborY="-7120">
        <dgm:presLayoutVars>
          <dgm:chMax val="0"/>
          <dgm:bulletEnabled val="1"/>
        </dgm:presLayoutVars>
      </dgm:prSet>
      <dgm:spPr/>
    </dgm:pt>
    <dgm:pt modelId="{5070796F-F0F0-41E0-A9A1-2B0F44962DC7}" type="pres">
      <dgm:prSet presAssocID="{AFE1611D-7FEE-4865-B67F-617C70E1E4BD}" presName="childText" presStyleLbl="revTx" presStyleIdx="1" presStyleCnt="2" custScaleY="66709">
        <dgm:presLayoutVars>
          <dgm:bulletEnabled val="1"/>
        </dgm:presLayoutVars>
      </dgm:prSet>
      <dgm:spPr/>
    </dgm:pt>
  </dgm:ptLst>
  <dgm:cxnLst>
    <dgm:cxn modelId="{1182B222-F1B5-4B2B-BF0D-67CCE6438FD8}" srcId="{C3F4F65A-67C5-4763-8C18-E15CA4391867}" destId="{216C7185-658E-4C76-BBA5-48C9CDFB2519}" srcOrd="1" destOrd="0" parTransId="{3A65EA7E-71CF-4888-8FBB-BA6A8F6DE37D}" sibTransId="{809B0CF4-78CE-4B64-951D-472015D9CFB7}"/>
    <dgm:cxn modelId="{FD2A9E2C-78F1-47EA-88F8-8257C1667221}" type="presOf" srcId="{631C1319-24F4-4E3A-8910-7AD3F3E94239}" destId="{FCCA9ACF-4171-46AF-AAB8-4C152E8EF592}" srcOrd="0" destOrd="0" presId="urn:microsoft.com/office/officeart/2005/8/layout/vList2"/>
    <dgm:cxn modelId="{0F80EC34-07BB-463E-AAF2-AF000AD95961}" type="presOf" srcId="{419A11BF-49D5-44EC-A7E5-A5D595906369}" destId="{A68F33CA-042D-457D-B8F4-6240CB339C82}" srcOrd="0" destOrd="0" presId="urn:microsoft.com/office/officeart/2005/8/layout/vList2"/>
    <dgm:cxn modelId="{7337713E-91F4-4456-9597-B7F1B34711F4}" type="presOf" srcId="{216C7185-658E-4C76-BBA5-48C9CDFB2519}" destId="{1B0600FC-D430-41C0-82E9-5B32F1717714}" srcOrd="0" destOrd="1" presId="urn:microsoft.com/office/officeart/2005/8/layout/vList2"/>
    <dgm:cxn modelId="{686CA846-BCA2-46E1-B500-4684EA88E038}" srcId="{C3F4F65A-67C5-4763-8C18-E15CA4391867}" destId="{DCCAEA16-750E-49DE-B6CA-461ED2C8E9F7}" srcOrd="0" destOrd="0" parTransId="{2901DD31-A37A-430F-BD77-80CE3E58E724}" sibTransId="{283C00F8-56C8-4A24-B4A8-6E470308BCDB}"/>
    <dgm:cxn modelId="{D86C2C48-C379-4E12-BD54-AC0AFE804A7D}" srcId="{631C1319-24F4-4E3A-8910-7AD3F3E94239}" destId="{AFE1611D-7FEE-4865-B67F-617C70E1E4BD}" srcOrd="3" destOrd="0" parTransId="{F798328F-7284-4B46-BE5C-1B569F85EA06}" sibTransId="{B6C003CC-2F16-4C76-980E-0319F268888C}"/>
    <dgm:cxn modelId="{97498672-31AB-47F5-A215-2FBD8185EFD8}" type="presOf" srcId="{C3F4F65A-67C5-4763-8C18-E15CA4391867}" destId="{E0E3567A-AD90-41BC-8F9D-90A54862E85B}" srcOrd="0" destOrd="0" presId="urn:microsoft.com/office/officeart/2005/8/layout/vList2"/>
    <dgm:cxn modelId="{F93D3981-4166-4338-B669-3FF87EC8761D}" srcId="{631C1319-24F4-4E3A-8910-7AD3F3E94239}" destId="{419A11BF-49D5-44EC-A7E5-A5D595906369}" srcOrd="2" destOrd="0" parTransId="{8DF4FD30-40D8-404F-9128-934EB7F4A263}" sibTransId="{70F8675A-366C-414A-97A9-5F1BFCAE5CC2}"/>
    <dgm:cxn modelId="{955BE981-086C-451B-BC3D-18B2C3B7FD71}" srcId="{631C1319-24F4-4E3A-8910-7AD3F3E94239}" destId="{6AE79A08-D8BC-4A85-9443-C59499A086E2}" srcOrd="0" destOrd="0" parTransId="{9450BA04-5E0F-4DBD-A629-AB7BD99B4332}" sibTransId="{F1E324BB-D154-4CA0-9089-949689A2D539}"/>
    <dgm:cxn modelId="{07CE4F8E-A172-41E2-AB39-1A14A97888A9}" type="presOf" srcId="{11C1B85E-6996-481E-AE89-C448BFD6ADF7}" destId="{5070796F-F0F0-41E0-A9A1-2B0F44962DC7}" srcOrd="0" destOrd="0" presId="urn:microsoft.com/office/officeart/2005/8/layout/vList2"/>
    <dgm:cxn modelId="{AE816BA0-3374-4DF3-B921-23E14579A9C5}" srcId="{631C1319-24F4-4E3A-8910-7AD3F3E94239}" destId="{C3F4F65A-67C5-4763-8C18-E15CA4391867}" srcOrd="1" destOrd="0" parTransId="{F0FB3844-8B8F-4137-A57E-F4B9CC9C52F6}" sibTransId="{5997460F-671A-4229-8AA7-016C28310F2B}"/>
    <dgm:cxn modelId="{303179AC-FFFD-4815-AE8E-8CBA5F2C377A}" srcId="{C3F4F65A-67C5-4763-8C18-E15CA4391867}" destId="{3B715713-01E1-4DBC-B48E-D24D4CCC773B}" srcOrd="2" destOrd="0" parTransId="{C1433E97-723E-4246-9E93-9E225327BCCF}" sibTransId="{F65155B9-6790-4C2D-AD9B-F8EFFF5FFC4D}"/>
    <dgm:cxn modelId="{BF7339C1-6D4C-45C6-AFCA-1BDF9D59457F}" type="presOf" srcId="{AFE1611D-7FEE-4865-B67F-617C70E1E4BD}" destId="{558C654B-9C50-4995-A6B9-9B752E6B93D9}" srcOrd="0" destOrd="0" presId="urn:microsoft.com/office/officeart/2005/8/layout/vList2"/>
    <dgm:cxn modelId="{B91842CA-30DD-4C16-B4B5-7570B850E4A9}" type="presOf" srcId="{3B715713-01E1-4DBC-B48E-D24D4CCC773B}" destId="{1B0600FC-D430-41C0-82E9-5B32F1717714}" srcOrd="0" destOrd="2" presId="urn:microsoft.com/office/officeart/2005/8/layout/vList2"/>
    <dgm:cxn modelId="{06E3A7CA-389D-4256-BDB6-F0B5A802DBBC}" srcId="{AFE1611D-7FEE-4865-B67F-617C70E1E4BD}" destId="{11C1B85E-6996-481E-AE89-C448BFD6ADF7}" srcOrd="0" destOrd="0" parTransId="{7A492366-1BD4-4280-A3AC-4EBC5266E275}" sibTransId="{F2017F84-8C97-419E-8848-E8D70513AD5A}"/>
    <dgm:cxn modelId="{447A23CC-9A98-4C27-A975-6426F0BE71D2}" type="presOf" srcId="{DCCAEA16-750E-49DE-B6CA-461ED2C8E9F7}" destId="{1B0600FC-D430-41C0-82E9-5B32F1717714}" srcOrd="0" destOrd="0" presId="urn:microsoft.com/office/officeart/2005/8/layout/vList2"/>
    <dgm:cxn modelId="{DB2BC4D4-AFA8-4047-A912-E585A9D5D458}" type="presOf" srcId="{6AE79A08-D8BC-4A85-9443-C59499A086E2}" destId="{0F8EF2D8-0CAC-422E-9963-20467178D162}" srcOrd="0" destOrd="0" presId="urn:microsoft.com/office/officeart/2005/8/layout/vList2"/>
    <dgm:cxn modelId="{C9762BAF-7FD7-4AA3-A936-2A0BCE344011}" type="presParOf" srcId="{FCCA9ACF-4171-46AF-AAB8-4C152E8EF592}" destId="{0F8EF2D8-0CAC-422E-9963-20467178D162}" srcOrd="0" destOrd="0" presId="urn:microsoft.com/office/officeart/2005/8/layout/vList2"/>
    <dgm:cxn modelId="{993A3B9D-F1D7-45A9-A207-909F33E00BBA}" type="presParOf" srcId="{FCCA9ACF-4171-46AF-AAB8-4C152E8EF592}" destId="{60051653-CF97-4012-AAC9-18D9C479630A}" srcOrd="1" destOrd="0" presId="urn:microsoft.com/office/officeart/2005/8/layout/vList2"/>
    <dgm:cxn modelId="{3369D335-6672-4A5A-88D3-DA72C46D6FFB}" type="presParOf" srcId="{FCCA9ACF-4171-46AF-AAB8-4C152E8EF592}" destId="{E0E3567A-AD90-41BC-8F9D-90A54862E85B}" srcOrd="2" destOrd="0" presId="urn:microsoft.com/office/officeart/2005/8/layout/vList2"/>
    <dgm:cxn modelId="{6C10125C-1C27-43E4-AC36-637717DF899B}" type="presParOf" srcId="{FCCA9ACF-4171-46AF-AAB8-4C152E8EF592}" destId="{1B0600FC-D430-41C0-82E9-5B32F1717714}" srcOrd="3" destOrd="0" presId="urn:microsoft.com/office/officeart/2005/8/layout/vList2"/>
    <dgm:cxn modelId="{186ABC58-3666-4CFE-93E2-A59E626A4E04}" type="presParOf" srcId="{FCCA9ACF-4171-46AF-AAB8-4C152E8EF592}" destId="{A68F33CA-042D-457D-B8F4-6240CB339C82}" srcOrd="4" destOrd="0" presId="urn:microsoft.com/office/officeart/2005/8/layout/vList2"/>
    <dgm:cxn modelId="{5D9D8310-44D6-4226-BE35-B979FA1DFC74}" type="presParOf" srcId="{FCCA9ACF-4171-46AF-AAB8-4C152E8EF592}" destId="{110BE40C-0BBC-40C2-A203-5BFFF8415DC4}" srcOrd="5" destOrd="0" presId="urn:microsoft.com/office/officeart/2005/8/layout/vList2"/>
    <dgm:cxn modelId="{314B6381-525A-4485-9B51-A1BB4A3FC8F1}" type="presParOf" srcId="{FCCA9ACF-4171-46AF-AAB8-4C152E8EF592}" destId="{558C654B-9C50-4995-A6B9-9B752E6B93D9}" srcOrd="6" destOrd="0" presId="urn:microsoft.com/office/officeart/2005/8/layout/vList2"/>
    <dgm:cxn modelId="{C888EFB2-C16F-49E6-A865-8189D05FE89D}" type="presParOf" srcId="{FCCA9ACF-4171-46AF-AAB8-4C152E8EF592}" destId="{5070796F-F0F0-41E0-A9A1-2B0F44962DC7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31C1319-24F4-4E3A-8910-7AD3F3E94239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AE79A08-D8BC-4A85-9443-C59499A086E2}">
      <dgm:prSet phldrT="[Text]" custT="1"/>
      <dgm:spPr/>
      <dgm:t>
        <a:bodyPr/>
        <a:lstStyle/>
        <a:p>
          <a:r>
            <a:rPr lang="en-US" sz="2200" b="0" i="0" dirty="0"/>
            <a:t>Navigate to your cloned repository/directory </a:t>
          </a:r>
          <a:r>
            <a:rPr lang="en-US" sz="2200" b="0" i="1" dirty="0">
              <a:solidFill>
                <a:srgbClr val="FFFF00"/>
              </a:solidFill>
            </a:rPr>
            <a:t>(C:\Users\Moruson\Documents\d.moruCSC101\week-3). </a:t>
          </a:r>
          <a:endParaRPr lang="en-US" sz="2200" b="1" i="1" dirty="0">
            <a:solidFill>
              <a:srgbClr val="FFFF00"/>
            </a:solidFill>
          </a:endParaRPr>
        </a:p>
      </dgm:t>
    </dgm:pt>
    <dgm:pt modelId="{9450BA04-5E0F-4DBD-A629-AB7BD99B4332}" type="parTrans" cxnId="{955BE981-086C-451B-BC3D-18B2C3B7FD71}">
      <dgm:prSet/>
      <dgm:spPr/>
      <dgm:t>
        <a:bodyPr/>
        <a:lstStyle/>
        <a:p>
          <a:endParaRPr lang="en-US"/>
        </a:p>
      </dgm:t>
    </dgm:pt>
    <dgm:pt modelId="{F1E324BB-D154-4CA0-9089-949689A2D539}" type="sibTrans" cxnId="{955BE981-086C-451B-BC3D-18B2C3B7FD71}">
      <dgm:prSet/>
      <dgm:spPr/>
      <dgm:t>
        <a:bodyPr/>
        <a:lstStyle/>
        <a:p>
          <a:endParaRPr lang="en-US"/>
        </a:p>
      </dgm:t>
    </dgm:pt>
    <dgm:pt modelId="{EC11E096-2F7F-46B0-A65C-87706046AE34}">
      <dgm:prSet phldrT="[Text]" custT="1"/>
      <dgm:spPr/>
      <dgm:t>
        <a:bodyPr/>
        <a:lstStyle/>
        <a:p>
          <a:r>
            <a:rPr lang="en-US" sz="2200" b="0" i="0" dirty="0"/>
            <a:t>Then, from the command prompt </a:t>
          </a:r>
          <a:r>
            <a:rPr lang="en-US" sz="2200" b="0" i="1" dirty="0">
              <a:solidFill>
                <a:srgbClr val="FFFF00"/>
              </a:solidFill>
            </a:rPr>
            <a:t>(</a:t>
          </a:r>
          <a:r>
            <a:rPr lang="en-US" sz="2200" b="0" i="1" dirty="0" err="1">
              <a:solidFill>
                <a:srgbClr val="FFFF00"/>
              </a:solidFill>
            </a:rPr>
            <a:t>cmd</a:t>
          </a:r>
          <a:r>
            <a:rPr lang="en-US" sz="2200" b="0" i="1" dirty="0">
              <a:solidFill>
                <a:srgbClr val="FFFF00"/>
              </a:solidFill>
            </a:rPr>
            <a:t>)</a:t>
          </a:r>
          <a:r>
            <a:rPr lang="en-US" sz="2200" b="0" i="0" dirty="0"/>
            <a:t>, run the following:</a:t>
          </a:r>
          <a:endParaRPr lang="en-US" sz="2200" b="1" dirty="0"/>
        </a:p>
      </dgm:t>
    </dgm:pt>
    <dgm:pt modelId="{5E87A85C-652A-4524-805F-35CBBE9D0FE6}" type="parTrans" cxnId="{AAF35B14-0294-4883-8D5D-320EB9BE7C0A}">
      <dgm:prSet/>
      <dgm:spPr/>
      <dgm:t>
        <a:bodyPr/>
        <a:lstStyle/>
        <a:p>
          <a:endParaRPr lang="en-US"/>
        </a:p>
      </dgm:t>
    </dgm:pt>
    <dgm:pt modelId="{8FA4A190-17C9-4D9C-85E5-43249D2799C5}" type="sibTrans" cxnId="{AAF35B14-0294-4883-8D5D-320EB9BE7C0A}">
      <dgm:prSet/>
      <dgm:spPr/>
      <dgm:t>
        <a:bodyPr/>
        <a:lstStyle/>
        <a:p>
          <a:endParaRPr lang="en-US"/>
        </a:p>
      </dgm:t>
    </dgm:pt>
    <dgm:pt modelId="{FCCA9ACF-4171-46AF-AAB8-4C152E8EF592}" type="pres">
      <dgm:prSet presAssocID="{631C1319-24F4-4E3A-8910-7AD3F3E94239}" presName="linear" presStyleCnt="0">
        <dgm:presLayoutVars>
          <dgm:animLvl val="lvl"/>
          <dgm:resizeHandles val="exact"/>
        </dgm:presLayoutVars>
      </dgm:prSet>
      <dgm:spPr/>
    </dgm:pt>
    <dgm:pt modelId="{0F8EF2D8-0CAC-422E-9963-20467178D162}" type="pres">
      <dgm:prSet presAssocID="{6AE79A08-D8BC-4A85-9443-C59499A086E2}" presName="parentText" presStyleLbl="node1" presStyleIdx="0" presStyleCnt="2" custScaleY="110839" custLinFactNeighborY="-29967">
        <dgm:presLayoutVars>
          <dgm:chMax val="0"/>
          <dgm:bulletEnabled val="1"/>
        </dgm:presLayoutVars>
      </dgm:prSet>
      <dgm:spPr/>
    </dgm:pt>
    <dgm:pt modelId="{60051653-CF97-4012-AAC9-18D9C479630A}" type="pres">
      <dgm:prSet presAssocID="{F1E324BB-D154-4CA0-9089-949689A2D539}" presName="spacer" presStyleCnt="0"/>
      <dgm:spPr/>
    </dgm:pt>
    <dgm:pt modelId="{074A56EA-6475-4676-9C5C-1FFEC201589D}" type="pres">
      <dgm:prSet presAssocID="{EC11E096-2F7F-46B0-A65C-87706046AE3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AF35B14-0294-4883-8D5D-320EB9BE7C0A}" srcId="{631C1319-24F4-4E3A-8910-7AD3F3E94239}" destId="{EC11E096-2F7F-46B0-A65C-87706046AE34}" srcOrd="1" destOrd="0" parTransId="{5E87A85C-652A-4524-805F-35CBBE9D0FE6}" sibTransId="{8FA4A190-17C9-4D9C-85E5-43249D2799C5}"/>
    <dgm:cxn modelId="{D678D31B-4BF0-4ABB-A891-9863BEE6A17A}" type="presOf" srcId="{EC11E096-2F7F-46B0-A65C-87706046AE34}" destId="{074A56EA-6475-4676-9C5C-1FFEC201589D}" srcOrd="0" destOrd="0" presId="urn:microsoft.com/office/officeart/2005/8/layout/vList2"/>
    <dgm:cxn modelId="{FD2A9E2C-78F1-47EA-88F8-8257C1667221}" type="presOf" srcId="{631C1319-24F4-4E3A-8910-7AD3F3E94239}" destId="{FCCA9ACF-4171-46AF-AAB8-4C152E8EF592}" srcOrd="0" destOrd="0" presId="urn:microsoft.com/office/officeart/2005/8/layout/vList2"/>
    <dgm:cxn modelId="{955BE981-086C-451B-BC3D-18B2C3B7FD71}" srcId="{631C1319-24F4-4E3A-8910-7AD3F3E94239}" destId="{6AE79A08-D8BC-4A85-9443-C59499A086E2}" srcOrd="0" destOrd="0" parTransId="{9450BA04-5E0F-4DBD-A629-AB7BD99B4332}" sibTransId="{F1E324BB-D154-4CA0-9089-949689A2D539}"/>
    <dgm:cxn modelId="{DB2BC4D4-AFA8-4047-A912-E585A9D5D458}" type="presOf" srcId="{6AE79A08-D8BC-4A85-9443-C59499A086E2}" destId="{0F8EF2D8-0CAC-422E-9963-20467178D162}" srcOrd="0" destOrd="0" presId="urn:microsoft.com/office/officeart/2005/8/layout/vList2"/>
    <dgm:cxn modelId="{C9762BAF-7FD7-4AA3-A936-2A0BCE344011}" type="presParOf" srcId="{FCCA9ACF-4171-46AF-AAB8-4C152E8EF592}" destId="{0F8EF2D8-0CAC-422E-9963-20467178D162}" srcOrd="0" destOrd="0" presId="urn:microsoft.com/office/officeart/2005/8/layout/vList2"/>
    <dgm:cxn modelId="{9281BE78-C120-4F72-9CA8-1EB22C63196F}" type="presParOf" srcId="{FCCA9ACF-4171-46AF-AAB8-4C152E8EF592}" destId="{60051653-CF97-4012-AAC9-18D9C479630A}" srcOrd="1" destOrd="0" presId="urn:microsoft.com/office/officeart/2005/8/layout/vList2"/>
    <dgm:cxn modelId="{A21BF5E9-1253-4054-A8A5-744D1D14FCDC}" type="presParOf" srcId="{FCCA9ACF-4171-46AF-AAB8-4C152E8EF592}" destId="{074A56EA-6475-4676-9C5C-1FFEC201589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31C1319-24F4-4E3A-8910-7AD3F3E94239}" type="doc">
      <dgm:prSet loTypeId="urn:microsoft.com/office/officeart/2005/8/layout/defaul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AE79A08-D8BC-4A85-9443-C59499A086E2}">
      <dgm:prSet phldrT="[Text]" custT="1"/>
      <dgm:spPr/>
      <dgm:t>
        <a:bodyPr/>
        <a:lstStyle/>
        <a:p>
          <a:r>
            <a:rPr lang="en-US" sz="1800" b="0" i="0" dirty="0"/>
            <a:t>Rust is a statically typed language.</a:t>
          </a:r>
          <a:endParaRPr lang="en-US" sz="1800" b="1" dirty="0"/>
        </a:p>
      </dgm:t>
    </dgm:pt>
    <dgm:pt modelId="{9450BA04-5E0F-4DBD-A629-AB7BD99B4332}" type="parTrans" cxnId="{955BE981-086C-451B-BC3D-18B2C3B7FD71}">
      <dgm:prSet/>
      <dgm:spPr/>
      <dgm:t>
        <a:bodyPr/>
        <a:lstStyle/>
        <a:p>
          <a:endParaRPr lang="en-US"/>
        </a:p>
      </dgm:t>
    </dgm:pt>
    <dgm:pt modelId="{F1E324BB-D154-4CA0-9089-949689A2D539}" type="sibTrans" cxnId="{955BE981-086C-451B-BC3D-18B2C3B7FD71}">
      <dgm:prSet/>
      <dgm:spPr/>
      <dgm:t>
        <a:bodyPr/>
        <a:lstStyle/>
        <a:p>
          <a:endParaRPr lang="en-US"/>
        </a:p>
      </dgm:t>
    </dgm:pt>
    <dgm:pt modelId="{84D8EBCC-2F39-4E5C-98CF-D4FC3211451F}">
      <dgm:prSet phldrT="[Text]" custT="1"/>
      <dgm:spPr/>
      <dgm:t>
        <a:bodyPr/>
        <a:lstStyle/>
        <a:p>
          <a:r>
            <a:rPr lang="en-US" sz="1800" b="0" i="0" dirty="0"/>
            <a:t> Every value in Rust is of a certain data type. </a:t>
          </a:r>
          <a:endParaRPr lang="en-US" sz="1800" b="1" dirty="0"/>
        </a:p>
      </dgm:t>
    </dgm:pt>
    <dgm:pt modelId="{3917ED28-2D03-4F9F-9FC5-253718E777B8}" type="parTrans" cxnId="{2FF70378-2100-4D18-84AA-D1425C8F52CF}">
      <dgm:prSet/>
      <dgm:spPr/>
      <dgm:t>
        <a:bodyPr/>
        <a:lstStyle/>
        <a:p>
          <a:endParaRPr lang="en-US"/>
        </a:p>
      </dgm:t>
    </dgm:pt>
    <dgm:pt modelId="{5E85A964-AFFF-4C63-8428-E23652F8A131}" type="sibTrans" cxnId="{2FF70378-2100-4D18-84AA-D1425C8F52CF}">
      <dgm:prSet/>
      <dgm:spPr/>
      <dgm:t>
        <a:bodyPr/>
        <a:lstStyle/>
        <a:p>
          <a:endParaRPr lang="en-US"/>
        </a:p>
      </dgm:t>
    </dgm:pt>
    <dgm:pt modelId="{E7C4A47A-392F-4157-BCE7-B1610C9FFB0E}">
      <dgm:prSet phldrT="[Text]" custT="1"/>
      <dgm:spPr/>
      <dgm:t>
        <a:bodyPr/>
        <a:lstStyle/>
        <a:p>
          <a:r>
            <a:rPr lang="en-US" sz="1800" b="0" i="0" dirty="0"/>
            <a:t>The compiler can automatically infer data type of the variable based on the value assigned to it.</a:t>
          </a:r>
          <a:endParaRPr lang="en-US" sz="1800" b="1" dirty="0"/>
        </a:p>
      </dgm:t>
    </dgm:pt>
    <dgm:pt modelId="{E04B9897-260F-47D3-89EF-2F92E352A37B}" type="parTrans" cxnId="{AF290FDF-FA38-4AA2-A20D-280085B5D9A4}">
      <dgm:prSet/>
      <dgm:spPr/>
      <dgm:t>
        <a:bodyPr/>
        <a:lstStyle/>
        <a:p>
          <a:endParaRPr lang="en-US"/>
        </a:p>
      </dgm:t>
    </dgm:pt>
    <dgm:pt modelId="{8B8EAE27-93A7-4803-B2E1-6857E0F544E9}" type="sibTrans" cxnId="{AF290FDF-FA38-4AA2-A20D-280085B5D9A4}">
      <dgm:prSet/>
      <dgm:spPr/>
      <dgm:t>
        <a:bodyPr/>
        <a:lstStyle/>
        <a:p>
          <a:endParaRPr lang="en-US"/>
        </a:p>
      </dgm:t>
    </dgm:pt>
    <dgm:pt modelId="{CDF126F7-4DF1-4165-9498-EB7A5DC85711}">
      <dgm:prSet phldrT="[Text]" custT="1"/>
      <dgm:spPr/>
      <dgm:t>
        <a:bodyPr/>
        <a:lstStyle/>
        <a:p>
          <a:r>
            <a:rPr lang="en-US" sz="1800" b="0" i="0" dirty="0"/>
            <a:t>The Type System represents the different types of values supported by the language. </a:t>
          </a:r>
          <a:endParaRPr lang="en-US" sz="1800" b="1" dirty="0"/>
        </a:p>
      </dgm:t>
    </dgm:pt>
    <dgm:pt modelId="{E133D34D-6361-46EA-B0F8-B0E017B4D43E}" type="parTrans" cxnId="{A56A8D75-D450-4995-BC32-E404944D6C34}">
      <dgm:prSet/>
      <dgm:spPr/>
      <dgm:t>
        <a:bodyPr/>
        <a:lstStyle/>
        <a:p>
          <a:endParaRPr lang="en-US"/>
        </a:p>
      </dgm:t>
    </dgm:pt>
    <dgm:pt modelId="{E271AE37-E613-4233-BA74-B42DB53A6905}" type="sibTrans" cxnId="{A56A8D75-D450-4995-BC32-E404944D6C34}">
      <dgm:prSet/>
      <dgm:spPr/>
      <dgm:t>
        <a:bodyPr/>
        <a:lstStyle/>
        <a:p>
          <a:endParaRPr lang="en-US"/>
        </a:p>
      </dgm:t>
    </dgm:pt>
    <dgm:pt modelId="{CBB578C8-CA71-4663-A23C-7F5AA1169DFD}">
      <dgm:prSet phldrT="[Text]" custT="1"/>
      <dgm:spPr/>
      <dgm:t>
        <a:bodyPr/>
        <a:lstStyle/>
        <a:p>
          <a:r>
            <a:rPr lang="en-US" sz="1800" b="0" i="0" dirty="0"/>
            <a:t>This ensures that the code behaves as expected. </a:t>
          </a:r>
          <a:endParaRPr lang="en-US" sz="1800" b="1" dirty="0"/>
        </a:p>
      </dgm:t>
    </dgm:pt>
    <dgm:pt modelId="{ACB7FDE1-1EA2-4824-8FB3-A2DB8A1B4BD3}" type="parTrans" cxnId="{60AB5558-2EB2-49AC-A369-33ADE2C98534}">
      <dgm:prSet/>
      <dgm:spPr/>
      <dgm:t>
        <a:bodyPr/>
        <a:lstStyle/>
        <a:p>
          <a:endParaRPr lang="en-US"/>
        </a:p>
      </dgm:t>
    </dgm:pt>
    <dgm:pt modelId="{EC039F52-271B-41E8-9B1B-2B5F11FD9D2F}" type="sibTrans" cxnId="{60AB5558-2EB2-49AC-A369-33ADE2C98534}">
      <dgm:prSet/>
      <dgm:spPr/>
      <dgm:t>
        <a:bodyPr/>
        <a:lstStyle/>
        <a:p>
          <a:endParaRPr lang="en-US"/>
        </a:p>
      </dgm:t>
    </dgm:pt>
    <dgm:pt modelId="{EE7D757A-CE9E-4A2E-8327-89F96EC965C3}">
      <dgm:prSet phldrT="[Text]" custT="1"/>
      <dgm:spPr/>
      <dgm:t>
        <a:bodyPr/>
        <a:lstStyle/>
        <a:p>
          <a:r>
            <a:rPr lang="en-US" sz="1800" b="0" i="0"/>
            <a:t>The </a:t>
          </a:r>
          <a:r>
            <a:rPr lang="en-US" sz="1800" b="0" i="0" dirty="0"/>
            <a:t>Type System checks validity of the supplied values, before they are stored or manipulated by the program. </a:t>
          </a:r>
          <a:endParaRPr lang="en-US" sz="1800" b="1" dirty="0"/>
        </a:p>
      </dgm:t>
    </dgm:pt>
    <dgm:pt modelId="{718BCF78-C37E-40C0-9826-849B64E2F394}" type="parTrans" cxnId="{92AC139A-98C8-458C-96A0-96FF44AC2022}">
      <dgm:prSet/>
      <dgm:spPr/>
      <dgm:t>
        <a:bodyPr/>
        <a:lstStyle/>
        <a:p>
          <a:endParaRPr lang="en-US"/>
        </a:p>
      </dgm:t>
    </dgm:pt>
    <dgm:pt modelId="{4D81AE16-10A0-46DA-B453-5382456FE576}" type="sibTrans" cxnId="{92AC139A-98C8-458C-96A0-96FF44AC2022}">
      <dgm:prSet/>
      <dgm:spPr/>
      <dgm:t>
        <a:bodyPr/>
        <a:lstStyle/>
        <a:p>
          <a:endParaRPr lang="en-US"/>
        </a:p>
      </dgm:t>
    </dgm:pt>
    <dgm:pt modelId="{0C172270-8CD0-4B2D-B276-9F9E2A26A7D4}">
      <dgm:prSet phldrT="[Text]" custT="1"/>
      <dgm:spPr/>
      <dgm:t>
        <a:bodyPr/>
        <a:lstStyle/>
        <a:p>
          <a:r>
            <a:rPr lang="en-US" sz="1800" b="0" i="0"/>
            <a:t>The </a:t>
          </a:r>
          <a:r>
            <a:rPr lang="en-US" sz="1800" b="0" i="0" dirty="0"/>
            <a:t>Type System further allows for richer code hinting and automated documentation too.</a:t>
          </a:r>
          <a:endParaRPr lang="en-US" sz="1800" b="1" dirty="0"/>
        </a:p>
      </dgm:t>
    </dgm:pt>
    <dgm:pt modelId="{62877B84-3DD8-4613-A040-B3619ED536AC}" type="parTrans" cxnId="{1BF52E55-4457-47AA-85B5-16FC303EC51A}">
      <dgm:prSet/>
      <dgm:spPr/>
      <dgm:t>
        <a:bodyPr/>
        <a:lstStyle/>
        <a:p>
          <a:endParaRPr lang="en-US"/>
        </a:p>
      </dgm:t>
    </dgm:pt>
    <dgm:pt modelId="{E02EDF4E-188C-4634-8554-AC75917F6C06}" type="sibTrans" cxnId="{1BF52E55-4457-47AA-85B5-16FC303EC51A}">
      <dgm:prSet/>
      <dgm:spPr/>
      <dgm:t>
        <a:bodyPr/>
        <a:lstStyle/>
        <a:p>
          <a:endParaRPr lang="en-US"/>
        </a:p>
      </dgm:t>
    </dgm:pt>
    <dgm:pt modelId="{4518F2F0-3433-4C41-AEE2-E3D0AF671CE2}" type="pres">
      <dgm:prSet presAssocID="{631C1319-24F4-4E3A-8910-7AD3F3E94239}" presName="diagram" presStyleCnt="0">
        <dgm:presLayoutVars>
          <dgm:dir/>
          <dgm:resizeHandles val="exact"/>
        </dgm:presLayoutVars>
      </dgm:prSet>
      <dgm:spPr/>
    </dgm:pt>
    <dgm:pt modelId="{153EB005-09A0-46F0-A27D-FF5EB29884C6}" type="pres">
      <dgm:prSet presAssocID="{6AE79A08-D8BC-4A85-9443-C59499A086E2}" presName="node" presStyleLbl="node1" presStyleIdx="0" presStyleCnt="7">
        <dgm:presLayoutVars>
          <dgm:bulletEnabled val="1"/>
        </dgm:presLayoutVars>
      </dgm:prSet>
      <dgm:spPr/>
    </dgm:pt>
    <dgm:pt modelId="{B8C7B134-FE08-4C74-8AAA-37AC663CA561}" type="pres">
      <dgm:prSet presAssocID="{F1E324BB-D154-4CA0-9089-949689A2D539}" presName="sibTrans" presStyleCnt="0"/>
      <dgm:spPr/>
    </dgm:pt>
    <dgm:pt modelId="{5E082A5A-8B2E-4002-8B5D-03D3E7BC63F4}" type="pres">
      <dgm:prSet presAssocID="{84D8EBCC-2F39-4E5C-98CF-D4FC3211451F}" presName="node" presStyleLbl="node1" presStyleIdx="1" presStyleCnt="7">
        <dgm:presLayoutVars>
          <dgm:bulletEnabled val="1"/>
        </dgm:presLayoutVars>
      </dgm:prSet>
      <dgm:spPr/>
    </dgm:pt>
    <dgm:pt modelId="{1C937489-DF30-46D9-8585-9D1AA0436D4A}" type="pres">
      <dgm:prSet presAssocID="{5E85A964-AFFF-4C63-8428-E23652F8A131}" presName="sibTrans" presStyleCnt="0"/>
      <dgm:spPr/>
    </dgm:pt>
    <dgm:pt modelId="{57358841-34A5-4573-BF55-0D6DB98B4A8A}" type="pres">
      <dgm:prSet presAssocID="{E7C4A47A-392F-4157-BCE7-B1610C9FFB0E}" presName="node" presStyleLbl="node1" presStyleIdx="2" presStyleCnt="7">
        <dgm:presLayoutVars>
          <dgm:bulletEnabled val="1"/>
        </dgm:presLayoutVars>
      </dgm:prSet>
      <dgm:spPr/>
    </dgm:pt>
    <dgm:pt modelId="{DED7ABB1-B0B9-4BF8-81F3-97D754858487}" type="pres">
      <dgm:prSet presAssocID="{8B8EAE27-93A7-4803-B2E1-6857E0F544E9}" presName="sibTrans" presStyleCnt="0"/>
      <dgm:spPr/>
    </dgm:pt>
    <dgm:pt modelId="{7FDC9ECD-580B-4FB1-B86F-7DAEC61AF20B}" type="pres">
      <dgm:prSet presAssocID="{CDF126F7-4DF1-4165-9498-EB7A5DC85711}" presName="node" presStyleLbl="node1" presStyleIdx="3" presStyleCnt="7">
        <dgm:presLayoutVars>
          <dgm:bulletEnabled val="1"/>
        </dgm:presLayoutVars>
      </dgm:prSet>
      <dgm:spPr/>
    </dgm:pt>
    <dgm:pt modelId="{E13768AE-3DF9-4DD9-B071-961741FB47B7}" type="pres">
      <dgm:prSet presAssocID="{E271AE37-E613-4233-BA74-B42DB53A6905}" presName="sibTrans" presStyleCnt="0"/>
      <dgm:spPr/>
    </dgm:pt>
    <dgm:pt modelId="{FAE30594-A6DB-4B15-8C90-EDF7E3217EE6}" type="pres">
      <dgm:prSet presAssocID="{EE7D757A-CE9E-4A2E-8327-89F96EC965C3}" presName="node" presStyleLbl="node1" presStyleIdx="4" presStyleCnt="7">
        <dgm:presLayoutVars>
          <dgm:bulletEnabled val="1"/>
        </dgm:presLayoutVars>
      </dgm:prSet>
      <dgm:spPr/>
    </dgm:pt>
    <dgm:pt modelId="{2BA6A2D1-F48F-4D2D-8340-1F8C8D654B45}" type="pres">
      <dgm:prSet presAssocID="{4D81AE16-10A0-46DA-B453-5382456FE576}" presName="sibTrans" presStyleCnt="0"/>
      <dgm:spPr/>
    </dgm:pt>
    <dgm:pt modelId="{EBC4BACF-72C6-4193-AFB3-FB13907CC5BB}" type="pres">
      <dgm:prSet presAssocID="{CBB578C8-CA71-4663-A23C-7F5AA1169DFD}" presName="node" presStyleLbl="node1" presStyleIdx="5" presStyleCnt="7">
        <dgm:presLayoutVars>
          <dgm:bulletEnabled val="1"/>
        </dgm:presLayoutVars>
      </dgm:prSet>
      <dgm:spPr/>
    </dgm:pt>
    <dgm:pt modelId="{A328C760-058F-4AC8-9C27-75F1708D139A}" type="pres">
      <dgm:prSet presAssocID="{EC039F52-271B-41E8-9B1B-2B5F11FD9D2F}" presName="sibTrans" presStyleCnt="0"/>
      <dgm:spPr/>
    </dgm:pt>
    <dgm:pt modelId="{277978A6-0C3B-44AA-ADDC-4AB3023D5D24}" type="pres">
      <dgm:prSet presAssocID="{0C172270-8CD0-4B2D-B276-9F9E2A26A7D4}" presName="node" presStyleLbl="node1" presStyleIdx="6" presStyleCnt="7">
        <dgm:presLayoutVars>
          <dgm:bulletEnabled val="1"/>
        </dgm:presLayoutVars>
      </dgm:prSet>
      <dgm:spPr/>
    </dgm:pt>
  </dgm:ptLst>
  <dgm:cxnLst>
    <dgm:cxn modelId="{7688A41D-8177-4F65-B768-E6595FDF2051}" type="presOf" srcId="{0C172270-8CD0-4B2D-B276-9F9E2A26A7D4}" destId="{277978A6-0C3B-44AA-ADDC-4AB3023D5D24}" srcOrd="0" destOrd="0" presId="urn:microsoft.com/office/officeart/2005/8/layout/default"/>
    <dgm:cxn modelId="{8402E634-2BFF-4EBF-BC24-8A5CF13FCB20}" type="presOf" srcId="{CBB578C8-CA71-4663-A23C-7F5AA1169DFD}" destId="{EBC4BACF-72C6-4193-AFB3-FB13907CC5BB}" srcOrd="0" destOrd="0" presId="urn:microsoft.com/office/officeart/2005/8/layout/default"/>
    <dgm:cxn modelId="{1BF52E55-4457-47AA-85B5-16FC303EC51A}" srcId="{631C1319-24F4-4E3A-8910-7AD3F3E94239}" destId="{0C172270-8CD0-4B2D-B276-9F9E2A26A7D4}" srcOrd="6" destOrd="0" parTransId="{62877B84-3DD8-4613-A040-B3619ED536AC}" sibTransId="{E02EDF4E-188C-4634-8554-AC75917F6C06}"/>
    <dgm:cxn modelId="{A56A8D75-D450-4995-BC32-E404944D6C34}" srcId="{631C1319-24F4-4E3A-8910-7AD3F3E94239}" destId="{CDF126F7-4DF1-4165-9498-EB7A5DC85711}" srcOrd="3" destOrd="0" parTransId="{E133D34D-6361-46EA-B0F8-B0E017B4D43E}" sibTransId="{E271AE37-E613-4233-BA74-B42DB53A6905}"/>
    <dgm:cxn modelId="{97CBF655-CE7C-47DF-BE3D-096307380332}" type="presOf" srcId="{EE7D757A-CE9E-4A2E-8327-89F96EC965C3}" destId="{FAE30594-A6DB-4B15-8C90-EDF7E3217EE6}" srcOrd="0" destOrd="0" presId="urn:microsoft.com/office/officeart/2005/8/layout/default"/>
    <dgm:cxn modelId="{2FF70378-2100-4D18-84AA-D1425C8F52CF}" srcId="{631C1319-24F4-4E3A-8910-7AD3F3E94239}" destId="{84D8EBCC-2F39-4E5C-98CF-D4FC3211451F}" srcOrd="1" destOrd="0" parTransId="{3917ED28-2D03-4F9F-9FC5-253718E777B8}" sibTransId="{5E85A964-AFFF-4C63-8428-E23652F8A131}"/>
    <dgm:cxn modelId="{60AB5558-2EB2-49AC-A369-33ADE2C98534}" srcId="{631C1319-24F4-4E3A-8910-7AD3F3E94239}" destId="{CBB578C8-CA71-4663-A23C-7F5AA1169DFD}" srcOrd="5" destOrd="0" parTransId="{ACB7FDE1-1EA2-4824-8FB3-A2DB8A1B4BD3}" sibTransId="{EC039F52-271B-41E8-9B1B-2B5F11FD9D2F}"/>
    <dgm:cxn modelId="{955BE981-086C-451B-BC3D-18B2C3B7FD71}" srcId="{631C1319-24F4-4E3A-8910-7AD3F3E94239}" destId="{6AE79A08-D8BC-4A85-9443-C59499A086E2}" srcOrd="0" destOrd="0" parTransId="{9450BA04-5E0F-4DBD-A629-AB7BD99B4332}" sibTransId="{F1E324BB-D154-4CA0-9089-949689A2D539}"/>
    <dgm:cxn modelId="{90F4CD92-915A-4324-B5EC-2FA1E1AA1047}" type="presOf" srcId="{6AE79A08-D8BC-4A85-9443-C59499A086E2}" destId="{153EB005-09A0-46F0-A27D-FF5EB29884C6}" srcOrd="0" destOrd="0" presId="urn:microsoft.com/office/officeart/2005/8/layout/default"/>
    <dgm:cxn modelId="{92AC139A-98C8-458C-96A0-96FF44AC2022}" srcId="{631C1319-24F4-4E3A-8910-7AD3F3E94239}" destId="{EE7D757A-CE9E-4A2E-8327-89F96EC965C3}" srcOrd="4" destOrd="0" parTransId="{718BCF78-C37E-40C0-9826-849B64E2F394}" sibTransId="{4D81AE16-10A0-46DA-B453-5382456FE576}"/>
    <dgm:cxn modelId="{198F2FA6-5FE4-4573-839B-3893D144CDBC}" type="presOf" srcId="{631C1319-24F4-4E3A-8910-7AD3F3E94239}" destId="{4518F2F0-3433-4C41-AEE2-E3D0AF671CE2}" srcOrd="0" destOrd="0" presId="urn:microsoft.com/office/officeart/2005/8/layout/default"/>
    <dgm:cxn modelId="{BEA21EAA-A40F-4E05-8730-F38F815F9605}" type="presOf" srcId="{CDF126F7-4DF1-4165-9498-EB7A5DC85711}" destId="{7FDC9ECD-580B-4FB1-B86F-7DAEC61AF20B}" srcOrd="0" destOrd="0" presId="urn:microsoft.com/office/officeart/2005/8/layout/default"/>
    <dgm:cxn modelId="{F2D2CAD6-A5E0-431C-8B80-ECE9AC655BD6}" type="presOf" srcId="{E7C4A47A-392F-4157-BCE7-B1610C9FFB0E}" destId="{57358841-34A5-4573-BF55-0D6DB98B4A8A}" srcOrd="0" destOrd="0" presId="urn:microsoft.com/office/officeart/2005/8/layout/default"/>
    <dgm:cxn modelId="{7BBAE0DD-BD6C-48B9-A3A5-9B72AC960D11}" type="presOf" srcId="{84D8EBCC-2F39-4E5C-98CF-D4FC3211451F}" destId="{5E082A5A-8B2E-4002-8B5D-03D3E7BC63F4}" srcOrd="0" destOrd="0" presId="urn:microsoft.com/office/officeart/2005/8/layout/default"/>
    <dgm:cxn modelId="{AF290FDF-FA38-4AA2-A20D-280085B5D9A4}" srcId="{631C1319-24F4-4E3A-8910-7AD3F3E94239}" destId="{E7C4A47A-392F-4157-BCE7-B1610C9FFB0E}" srcOrd="2" destOrd="0" parTransId="{E04B9897-260F-47D3-89EF-2F92E352A37B}" sibTransId="{8B8EAE27-93A7-4803-B2E1-6857E0F544E9}"/>
    <dgm:cxn modelId="{CB649D9B-704E-4BA0-B8EC-925008202F52}" type="presParOf" srcId="{4518F2F0-3433-4C41-AEE2-E3D0AF671CE2}" destId="{153EB005-09A0-46F0-A27D-FF5EB29884C6}" srcOrd="0" destOrd="0" presId="urn:microsoft.com/office/officeart/2005/8/layout/default"/>
    <dgm:cxn modelId="{0C718A3F-2E9C-400E-B683-EA534887BEC1}" type="presParOf" srcId="{4518F2F0-3433-4C41-AEE2-E3D0AF671CE2}" destId="{B8C7B134-FE08-4C74-8AAA-37AC663CA561}" srcOrd="1" destOrd="0" presId="urn:microsoft.com/office/officeart/2005/8/layout/default"/>
    <dgm:cxn modelId="{C1F94BC9-FE45-44B3-91C2-B4023D4AC34E}" type="presParOf" srcId="{4518F2F0-3433-4C41-AEE2-E3D0AF671CE2}" destId="{5E082A5A-8B2E-4002-8B5D-03D3E7BC63F4}" srcOrd="2" destOrd="0" presId="urn:microsoft.com/office/officeart/2005/8/layout/default"/>
    <dgm:cxn modelId="{164A4054-98EB-4A50-B937-DCCA5D27AF08}" type="presParOf" srcId="{4518F2F0-3433-4C41-AEE2-E3D0AF671CE2}" destId="{1C937489-DF30-46D9-8585-9D1AA0436D4A}" srcOrd="3" destOrd="0" presId="urn:microsoft.com/office/officeart/2005/8/layout/default"/>
    <dgm:cxn modelId="{A18306C6-C182-4A5B-A013-2A5FEF930873}" type="presParOf" srcId="{4518F2F0-3433-4C41-AEE2-E3D0AF671CE2}" destId="{57358841-34A5-4573-BF55-0D6DB98B4A8A}" srcOrd="4" destOrd="0" presId="urn:microsoft.com/office/officeart/2005/8/layout/default"/>
    <dgm:cxn modelId="{8ADD0D3A-1A63-4669-993C-E44FB8E87904}" type="presParOf" srcId="{4518F2F0-3433-4C41-AEE2-E3D0AF671CE2}" destId="{DED7ABB1-B0B9-4BF8-81F3-97D754858487}" srcOrd="5" destOrd="0" presId="urn:microsoft.com/office/officeart/2005/8/layout/default"/>
    <dgm:cxn modelId="{F220F2D9-FE22-4B44-831F-767C467511AD}" type="presParOf" srcId="{4518F2F0-3433-4C41-AEE2-E3D0AF671CE2}" destId="{7FDC9ECD-580B-4FB1-B86F-7DAEC61AF20B}" srcOrd="6" destOrd="0" presId="urn:microsoft.com/office/officeart/2005/8/layout/default"/>
    <dgm:cxn modelId="{D33A0954-A0C0-4C0B-8DAE-2D912A9EA972}" type="presParOf" srcId="{4518F2F0-3433-4C41-AEE2-E3D0AF671CE2}" destId="{E13768AE-3DF9-4DD9-B071-961741FB47B7}" srcOrd="7" destOrd="0" presId="urn:microsoft.com/office/officeart/2005/8/layout/default"/>
    <dgm:cxn modelId="{19D23280-3190-49F5-B075-2F56B49E8E42}" type="presParOf" srcId="{4518F2F0-3433-4C41-AEE2-E3D0AF671CE2}" destId="{FAE30594-A6DB-4B15-8C90-EDF7E3217EE6}" srcOrd="8" destOrd="0" presId="urn:microsoft.com/office/officeart/2005/8/layout/default"/>
    <dgm:cxn modelId="{C61FFB73-E9B0-4A28-B651-9354211C5E62}" type="presParOf" srcId="{4518F2F0-3433-4C41-AEE2-E3D0AF671CE2}" destId="{2BA6A2D1-F48F-4D2D-8340-1F8C8D654B45}" srcOrd="9" destOrd="0" presId="urn:microsoft.com/office/officeart/2005/8/layout/default"/>
    <dgm:cxn modelId="{0EFD3C3C-7311-4201-8024-03784C2B9602}" type="presParOf" srcId="{4518F2F0-3433-4C41-AEE2-E3D0AF671CE2}" destId="{EBC4BACF-72C6-4193-AFB3-FB13907CC5BB}" srcOrd="10" destOrd="0" presId="urn:microsoft.com/office/officeart/2005/8/layout/default"/>
    <dgm:cxn modelId="{30DB174C-F224-4741-9526-D7974C5A3089}" type="presParOf" srcId="{4518F2F0-3433-4C41-AEE2-E3D0AF671CE2}" destId="{A328C760-058F-4AC8-9C27-75F1708D139A}" srcOrd="11" destOrd="0" presId="urn:microsoft.com/office/officeart/2005/8/layout/default"/>
    <dgm:cxn modelId="{DB52197D-769F-431E-9AAE-DE00E6A57753}" type="presParOf" srcId="{4518F2F0-3433-4C41-AEE2-E3D0AF671CE2}" destId="{277978A6-0C3B-44AA-ADDC-4AB3023D5D24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31C1319-24F4-4E3A-8910-7AD3F3E94239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AE79A08-D8BC-4A85-9443-C59499A086E2}">
      <dgm:prSet phldrT="[Text]" custT="1"/>
      <dgm:spPr/>
      <dgm:t>
        <a:bodyPr/>
        <a:lstStyle/>
        <a:p>
          <a:r>
            <a:rPr lang="en-US" sz="2800" b="0" i="0" dirty="0"/>
            <a:t>A scalar type represents a single value. For example, 10,3.14,'c'. </a:t>
          </a:r>
          <a:endParaRPr lang="en-US" sz="2800" b="1" dirty="0"/>
        </a:p>
      </dgm:t>
    </dgm:pt>
    <dgm:pt modelId="{9450BA04-5E0F-4DBD-A629-AB7BD99B4332}" type="parTrans" cxnId="{955BE981-086C-451B-BC3D-18B2C3B7FD71}">
      <dgm:prSet/>
      <dgm:spPr/>
      <dgm:t>
        <a:bodyPr/>
        <a:lstStyle/>
        <a:p>
          <a:endParaRPr lang="en-US"/>
        </a:p>
      </dgm:t>
    </dgm:pt>
    <dgm:pt modelId="{F1E324BB-D154-4CA0-9089-949689A2D539}" type="sibTrans" cxnId="{955BE981-086C-451B-BC3D-18B2C3B7FD71}">
      <dgm:prSet/>
      <dgm:spPr/>
      <dgm:t>
        <a:bodyPr/>
        <a:lstStyle/>
        <a:p>
          <a:endParaRPr lang="en-US"/>
        </a:p>
      </dgm:t>
    </dgm:pt>
    <dgm:pt modelId="{91B1935F-0933-4D7D-A13F-999B952AE064}">
      <dgm:prSet phldrT="[Text]" custT="1"/>
      <dgm:spPr/>
      <dgm:t>
        <a:bodyPr/>
        <a:lstStyle/>
        <a:p>
          <a:r>
            <a:rPr lang="en-US" sz="2800" b="0" i="0" dirty="0"/>
            <a:t>Rust has four primary scalar types.</a:t>
          </a:r>
          <a:endParaRPr lang="en-US" sz="2800" b="1" dirty="0"/>
        </a:p>
      </dgm:t>
    </dgm:pt>
    <dgm:pt modelId="{7DED883C-00E8-446A-9D8C-61F6A67FF564}" type="parTrans" cxnId="{AE8FA912-A440-4002-B758-557BFBABF374}">
      <dgm:prSet/>
      <dgm:spPr/>
      <dgm:t>
        <a:bodyPr/>
        <a:lstStyle/>
        <a:p>
          <a:endParaRPr lang="en-US"/>
        </a:p>
      </dgm:t>
    </dgm:pt>
    <dgm:pt modelId="{18AFA70E-8EB1-40AF-A1AA-0E47C0211E1A}" type="sibTrans" cxnId="{AE8FA912-A440-4002-B758-557BFBABF374}">
      <dgm:prSet/>
      <dgm:spPr/>
      <dgm:t>
        <a:bodyPr/>
        <a:lstStyle/>
        <a:p>
          <a:endParaRPr lang="en-US"/>
        </a:p>
      </dgm:t>
    </dgm:pt>
    <dgm:pt modelId="{8FF53BBB-AA6F-406F-BD08-F46CAE7499EF}">
      <dgm:prSet phldrT="[Text]" custT="1"/>
      <dgm:spPr/>
      <dgm:t>
        <a:bodyPr/>
        <a:lstStyle/>
        <a:p>
          <a:r>
            <a:rPr lang="en-US" sz="2800" b="0" i="0" dirty="0"/>
            <a:t>Integer</a:t>
          </a:r>
          <a:endParaRPr lang="en-US" sz="2800" b="1" dirty="0"/>
        </a:p>
      </dgm:t>
    </dgm:pt>
    <dgm:pt modelId="{B9DC79EA-13AE-402C-9413-F1C61E894924}" type="parTrans" cxnId="{8E858D34-49CB-4758-827E-6E1ADDB471AF}">
      <dgm:prSet/>
      <dgm:spPr/>
      <dgm:t>
        <a:bodyPr/>
        <a:lstStyle/>
        <a:p>
          <a:endParaRPr lang="en-US"/>
        </a:p>
      </dgm:t>
    </dgm:pt>
    <dgm:pt modelId="{FF4D622A-CB27-403D-8F6E-67FF807030EC}" type="sibTrans" cxnId="{8E858D34-49CB-4758-827E-6E1ADDB471AF}">
      <dgm:prSet/>
      <dgm:spPr/>
      <dgm:t>
        <a:bodyPr/>
        <a:lstStyle/>
        <a:p>
          <a:endParaRPr lang="en-US"/>
        </a:p>
      </dgm:t>
    </dgm:pt>
    <dgm:pt modelId="{B02B3E4D-6A2F-4B16-AAF6-F47C86C38745}">
      <dgm:prSet custT="1"/>
      <dgm:spPr/>
      <dgm:t>
        <a:bodyPr/>
        <a:lstStyle/>
        <a:p>
          <a:r>
            <a:rPr lang="en-US" sz="2800" b="0" i="0" dirty="0"/>
            <a:t>Floating-point</a:t>
          </a:r>
        </a:p>
      </dgm:t>
    </dgm:pt>
    <dgm:pt modelId="{31D6096D-5C41-4421-966D-3A9AD10F7C62}" type="parTrans" cxnId="{CE56F9E7-67E3-4E56-A5B7-8EFFED1E3A68}">
      <dgm:prSet/>
      <dgm:spPr/>
      <dgm:t>
        <a:bodyPr/>
        <a:lstStyle/>
        <a:p>
          <a:endParaRPr lang="en-US"/>
        </a:p>
      </dgm:t>
    </dgm:pt>
    <dgm:pt modelId="{B1B4F5C5-93D4-4902-8991-1A03DD56A3CC}" type="sibTrans" cxnId="{CE56F9E7-67E3-4E56-A5B7-8EFFED1E3A68}">
      <dgm:prSet/>
      <dgm:spPr/>
      <dgm:t>
        <a:bodyPr/>
        <a:lstStyle/>
        <a:p>
          <a:endParaRPr lang="en-US"/>
        </a:p>
      </dgm:t>
    </dgm:pt>
    <dgm:pt modelId="{507DB088-97CC-4AE3-8C37-2405AEB49F4C}">
      <dgm:prSet custT="1"/>
      <dgm:spPr/>
      <dgm:t>
        <a:bodyPr/>
        <a:lstStyle/>
        <a:p>
          <a:r>
            <a:rPr lang="en-US" sz="2800" b="0" i="0"/>
            <a:t>Booleans</a:t>
          </a:r>
        </a:p>
      </dgm:t>
    </dgm:pt>
    <dgm:pt modelId="{AC1DE4C6-DDB8-4C4F-A13A-4EE4718E54E3}" type="parTrans" cxnId="{496F57C2-577D-4F16-893C-87C456739599}">
      <dgm:prSet/>
      <dgm:spPr/>
      <dgm:t>
        <a:bodyPr/>
        <a:lstStyle/>
        <a:p>
          <a:endParaRPr lang="en-US"/>
        </a:p>
      </dgm:t>
    </dgm:pt>
    <dgm:pt modelId="{683F841C-D2DD-4B7E-8232-F156DB21ED55}" type="sibTrans" cxnId="{496F57C2-577D-4F16-893C-87C456739599}">
      <dgm:prSet/>
      <dgm:spPr/>
      <dgm:t>
        <a:bodyPr/>
        <a:lstStyle/>
        <a:p>
          <a:endParaRPr lang="en-US"/>
        </a:p>
      </dgm:t>
    </dgm:pt>
    <dgm:pt modelId="{F6193629-B4F9-48CF-84E1-B161E866800A}">
      <dgm:prSet custT="1"/>
      <dgm:spPr/>
      <dgm:t>
        <a:bodyPr/>
        <a:lstStyle/>
        <a:p>
          <a:r>
            <a:rPr lang="en-US" sz="2800" b="0" i="0" dirty="0"/>
            <a:t>Characters</a:t>
          </a:r>
        </a:p>
      </dgm:t>
    </dgm:pt>
    <dgm:pt modelId="{6C82DA38-91BE-499F-8ED2-94DE4FD5C9E3}" type="parTrans" cxnId="{C1DCF400-D556-441D-B9F0-ADADF5236A38}">
      <dgm:prSet/>
      <dgm:spPr/>
      <dgm:t>
        <a:bodyPr/>
        <a:lstStyle/>
        <a:p>
          <a:endParaRPr lang="en-US"/>
        </a:p>
      </dgm:t>
    </dgm:pt>
    <dgm:pt modelId="{96F5AF46-2B83-44D6-A91C-46D317FECA09}" type="sibTrans" cxnId="{C1DCF400-D556-441D-B9F0-ADADF5236A38}">
      <dgm:prSet/>
      <dgm:spPr/>
      <dgm:t>
        <a:bodyPr/>
        <a:lstStyle/>
        <a:p>
          <a:endParaRPr lang="en-US"/>
        </a:p>
      </dgm:t>
    </dgm:pt>
    <dgm:pt modelId="{FCCA9ACF-4171-46AF-AAB8-4C152E8EF592}" type="pres">
      <dgm:prSet presAssocID="{631C1319-24F4-4E3A-8910-7AD3F3E94239}" presName="linear" presStyleCnt="0">
        <dgm:presLayoutVars>
          <dgm:animLvl val="lvl"/>
          <dgm:resizeHandles val="exact"/>
        </dgm:presLayoutVars>
      </dgm:prSet>
      <dgm:spPr/>
    </dgm:pt>
    <dgm:pt modelId="{E77DE67F-32B1-4DF3-AB85-10E30FE8CE34}" type="pres">
      <dgm:prSet presAssocID="{91B1935F-0933-4D7D-A13F-999B952AE06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19302BC-638C-4913-AC3D-9CD9EFF7CB20}" type="pres">
      <dgm:prSet presAssocID="{18AFA70E-8EB1-40AF-A1AA-0E47C0211E1A}" presName="spacer" presStyleCnt="0"/>
      <dgm:spPr/>
    </dgm:pt>
    <dgm:pt modelId="{0F8EF2D8-0CAC-422E-9963-20467178D162}" type="pres">
      <dgm:prSet presAssocID="{6AE79A08-D8BC-4A85-9443-C59499A086E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4568099-34BE-4FD8-B2A7-1439E1267536}" type="pres">
      <dgm:prSet presAssocID="{6AE79A08-D8BC-4A85-9443-C59499A086E2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1DCF400-D556-441D-B9F0-ADADF5236A38}" srcId="{6AE79A08-D8BC-4A85-9443-C59499A086E2}" destId="{F6193629-B4F9-48CF-84E1-B161E866800A}" srcOrd="3" destOrd="0" parTransId="{6C82DA38-91BE-499F-8ED2-94DE4FD5C9E3}" sibTransId="{96F5AF46-2B83-44D6-A91C-46D317FECA09}"/>
    <dgm:cxn modelId="{AE8FA912-A440-4002-B758-557BFBABF374}" srcId="{631C1319-24F4-4E3A-8910-7AD3F3E94239}" destId="{91B1935F-0933-4D7D-A13F-999B952AE064}" srcOrd="0" destOrd="0" parTransId="{7DED883C-00E8-446A-9D8C-61F6A67FF564}" sibTransId="{18AFA70E-8EB1-40AF-A1AA-0E47C0211E1A}"/>
    <dgm:cxn modelId="{69E7601B-8A98-4874-90EC-22ECE17080DF}" type="presOf" srcId="{507DB088-97CC-4AE3-8C37-2405AEB49F4C}" destId="{04568099-34BE-4FD8-B2A7-1439E1267536}" srcOrd="0" destOrd="2" presId="urn:microsoft.com/office/officeart/2005/8/layout/vList2"/>
    <dgm:cxn modelId="{052FBD28-9DB5-450D-BA19-0217C66527FB}" type="presOf" srcId="{8FF53BBB-AA6F-406F-BD08-F46CAE7499EF}" destId="{04568099-34BE-4FD8-B2A7-1439E1267536}" srcOrd="0" destOrd="0" presId="urn:microsoft.com/office/officeart/2005/8/layout/vList2"/>
    <dgm:cxn modelId="{8E858D34-49CB-4758-827E-6E1ADDB471AF}" srcId="{6AE79A08-D8BC-4A85-9443-C59499A086E2}" destId="{8FF53BBB-AA6F-406F-BD08-F46CAE7499EF}" srcOrd="0" destOrd="0" parTransId="{B9DC79EA-13AE-402C-9413-F1C61E894924}" sibTransId="{FF4D622A-CB27-403D-8F6E-67FF807030EC}"/>
    <dgm:cxn modelId="{4A6C6A39-D438-44A5-BDA3-25047E8B9DA2}" type="presOf" srcId="{6AE79A08-D8BC-4A85-9443-C59499A086E2}" destId="{0F8EF2D8-0CAC-422E-9963-20467178D162}" srcOrd="0" destOrd="0" presId="urn:microsoft.com/office/officeart/2005/8/layout/vList2"/>
    <dgm:cxn modelId="{9E6F9778-DEAF-4C96-A540-F2237D6DFB83}" type="presOf" srcId="{F6193629-B4F9-48CF-84E1-B161E866800A}" destId="{04568099-34BE-4FD8-B2A7-1439E1267536}" srcOrd="0" destOrd="3" presId="urn:microsoft.com/office/officeart/2005/8/layout/vList2"/>
    <dgm:cxn modelId="{955BE981-086C-451B-BC3D-18B2C3B7FD71}" srcId="{631C1319-24F4-4E3A-8910-7AD3F3E94239}" destId="{6AE79A08-D8BC-4A85-9443-C59499A086E2}" srcOrd="1" destOrd="0" parTransId="{9450BA04-5E0F-4DBD-A629-AB7BD99B4332}" sibTransId="{F1E324BB-D154-4CA0-9089-949689A2D539}"/>
    <dgm:cxn modelId="{7D4018A6-D5DD-4F6A-B563-70C04B609E04}" type="presOf" srcId="{B02B3E4D-6A2F-4B16-AAF6-F47C86C38745}" destId="{04568099-34BE-4FD8-B2A7-1439E1267536}" srcOrd="0" destOrd="1" presId="urn:microsoft.com/office/officeart/2005/8/layout/vList2"/>
    <dgm:cxn modelId="{4E08F5B3-0AA3-489E-BC6D-5C7A4CC39EBF}" type="presOf" srcId="{631C1319-24F4-4E3A-8910-7AD3F3E94239}" destId="{FCCA9ACF-4171-46AF-AAB8-4C152E8EF592}" srcOrd="0" destOrd="0" presId="urn:microsoft.com/office/officeart/2005/8/layout/vList2"/>
    <dgm:cxn modelId="{496F57C2-577D-4F16-893C-87C456739599}" srcId="{6AE79A08-D8BC-4A85-9443-C59499A086E2}" destId="{507DB088-97CC-4AE3-8C37-2405AEB49F4C}" srcOrd="2" destOrd="0" parTransId="{AC1DE4C6-DDB8-4C4F-A13A-4EE4718E54E3}" sibTransId="{683F841C-D2DD-4B7E-8232-F156DB21ED55}"/>
    <dgm:cxn modelId="{EAF71CD0-CCE4-42AB-9341-7F8A3DE806EE}" type="presOf" srcId="{91B1935F-0933-4D7D-A13F-999B952AE064}" destId="{E77DE67F-32B1-4DF3-AB85-10E30FE8CE34}" srcOrd="0" destOrd="0" presId="urn:microsoft.com/office/officeart/2005/8/layout/vList2"/>
    <dgm:cxn modelId="{CE56F9E7-67E3-4E56-A5B7-8EFFED1E3A68}" srcId="{6AE79A08-D8BC-4A85-9443-C59499A086E2}" destId="{B02B3E4D-6A2F-4B16-AAF6-F47C86C38745}" srcOrd="1" destOrd="0" parTransId="{31D6096D-5C41-4421-966D-3A9AD10F7C62}" sibTransId="{B1B4F5C5-93D4-4902-8991-1A03DD56A3CC}"/>
    <dgm:cxn modelId="{B26333AC-63AA-4951-803D-35396E31897A}" type="presParOf" srcId="{FCCA9ACF-4171-46AF-AAB8-4C152E8EF592}" destId="{E77DE67F-32B1-4DF3-AB85-10E30FE8CE34}" srcOrd="0" destOrd="0" presId="urn:microsoft.com/office/officeart/2005/8/layout/vList2"/>
    <dgm:cxn modelId="{A6EC354A-4C3C-47D2-8BF4-6DEE45330B01}" type="presParOf" srcId="{FCCA9ACF-4171-46AF-AAB8-4C152E8EF592}" destId="{A19302BC-638C-4913-AC3D-9CD9EFF7CB20}" srcOrd="1" destOrd="0" presId="urn:microsoft.com/office/officeart/2005/8/layout/vList2"/>
    <dgm:cxn modelId="{91DD4775-87DF-4562-8BE0-47B813FCE758}" type="presParOf" srcId="{FCCA9ACF-4171-46AF-AAB8-4C152E8EF592}" destId="{0F8EF2D8-0CAC-422E-9963-20467178D162}" srcOrd="2" destOrd="0" presId="urn:microsoft.com/office/officeart/2005/8/layout/vList2"/>
    <dgm:cxn modelId="{724BAAA7-AED5-49A5-8B3C-FA92BBDAF442}" type="presParOf" srcId="{FCCA9ACF-4171-46AF-AAB8-4C152E8EF592}" destId="{04568099-34BE-4FD8-B2A7-1439E1267536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31C1319-24F4-4E3A-8910-7AD3F3E94239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B1935F-0933-4D7D-A13F-999B952AE064}">
      <dgm:prSet phldrT="[Text]" custT="1"/>
      <dgm:spPr/>
      <dgm:t>
        <a:bodyPr/>
        <a:lstStyle/>
        <a:p>
          <a:r>
            <a:rPr lang="en-US" sz="2000" b="0" i="0" dirty="0"/>
            <a:t>An integer is a number without a fractional component. Simply put, the integer data type is used to represent whole numbers.</a:t>
          </a:r>
          <a:endParaRPr lang="en-US" sz="2000" b="1" dirty="0"/>
        </a:p>
      </dgm:t>
    </dgm:pt>
    <dgm:pt modelId="{7DED883C-00E8-446A-9D8C-61F6A67FF564}" type="parTrans" cxnId="{AE8FA912-A440-4002-B758-557BFBABF374}">
      <dgm:prSet/>
      <dgm:spPr/>
      <dgm:t>
        <a:bodyPr/>
        <a:lstStyle/>
        <a:p>
          <a:endParaRPr lang="en-US"/>
        </a:p>
      </dgm:t>
    </dgm:pt>
    <dgm:pt modelId="{18AFA70E-8EB1-40AF-A1AA-0E47C0211E1A}" type="sibTrans" cxnId="{AE8FA912-A440-4002-B758-557BFBABF374}">
      <dgm:prSet/>
      <dgm:spPr/>
      <dgm:t>
        <a:bodyPr/>
        <a:lstStyle/>
        <a:p>
          <a:endParaRPr lang="en-US"/>
        </a:p>
      </dgm:t>
    </dgm:pt>
    <dgm:pt modelId="{B70BD11D-6A06-4091-A96E-504925D0A398}">
      <dgm:prSet custT="1"/>
      <dgm:spPr/>
      <dgm:t>
        <a:bodyPr/>
        <a:lstStyle/>
        <a:p>
          <a:r>
            <a:rPr lang="en-US" sz="2000" b="0" i="0" dirty="0"/>
            <a:t>Integers can be further classified as Signed and Unsigned. Signed integers can store both negative and positive values. Unsigned integers can only store positive values. </a:t>
          </a:r>
        </a:p>
      </dgm:t>
    </dgm:pt>
    <dgm:pt modelId="{1DA8F5F9-3AF5-4433-ABE0-CC06AB535A31}" type="parTrans" cxnId="{2DB2EA7C-787F-4FCE-B46E-B3DCF61B5F6D}">
      <dgm:prSet/>
      <dgm:spPr/>
      <dgm:t>
        <a:bodyPr/>
        <a:lstStyle/>
        <a:p>
          <a:endParaRPr lang="en-US"/>
        </a:p>
      </dgm:t>
    </dgm:pt>
    <dgm:pt modelId="{E37756FE-6092-469B-8DB1-951AD052912B}" type="sibTrans" cxnId="{2DB2EA7C-787F-4FCE-B46E-B3DCF61B5F6D}">
      <dgm:prSet/>
      <dgm:spPr/>
      <dgm:t>
        <a:bodyPr/>
        <a:lstStyle/>
        <a:p>
          <a:endParaRPr lang="en-US"/>
        </a:p>
      </dgm:t>
    </dgm:pt>
    <dgm:pt modelId="{FCCA9ACF-4171-46AF-AAB8-4C152E8EF592}" type="pres">
      <dgm:prSet presAssocID="{631C1319-24F4-4E3A-8910-7AD3F3E94239}" presName="linear" presStyleCnt="0">
        <dgm:presLayoutVars>
          <dgm:animLvl val="lvl"/>
          <dgm:resizeHandles val="exact"/>
        </dgm:presLayoutVars>
      </dgm:prSet>
      <dgm:spPr/>
    </dgm:pt>
    <dgm:pt modelId="{E77DE67F-32B1-4DF3-AB85-10E30FE8CE34}" type="pres">
      <dgm:prSet presAssocID="{91B1935F-0933-4D7D-A13F-999B952AE064}" presName="parentText" presStyleLbl="node1" presStyleIdx="0" presStyleCnt="2" custScaleY="89026" custLinFactY="-12398" custLinFactNeighborY="-100000">
        <dgm:presLayoutVars>
          <dgm:chMax val="0"/>
          <dgm:bulletEnabled val="1"/>
        </dgm:presLayoutVars>
      </dgm:prSet>
      <dgm:spPr/>
    </dgm:pt>
    <dgm:pt modelId="{A19302BC-638C-4913-AC3D-9CD9EFF7CB20}" type="pres">
      <dgm:prSet presAssocID="{18AFA70E-8EB1-40AF-A1AA-0E47C0211E1A}" presName="spacer" presStyleCnt="0"/>
      <dgm:spPr/>
    </dgm:pt>
    <dgm:pt modelId="{60B5E3E0-DF57-4799-9863-C87373AA2402}" type="pres">
      <dgm:prSet presAssocID="{B70BD11D-6A06-4091-A96E-504925D0A398}" presName="parentText" presStyleLbl="node1" presStyleIdx="1" presStyleCnt="2" custScaleY="119847">
        <dgm:presLayoutVars>
          <dgm:chMax val="0"/>
          <dgm:bulletEnabled val="1"/>
        </dgm:presLayoutVars>
      </dgm:prSet>
      <dgm:spPr/>
    </dgm:pt>
  </dgm:ptLst>
  <dgm:cxnLst>
    <dgm:cxn modelId="{AE8FA912-A440-4002-B758-557BFBABF374}" srcId="{631C1319-24F4-4E3A-8910-7AD3F3E94239}" destId="{91B1935F-0933-4D7D-A13F-999B952AE064}" srcOrd="0" destOrd="0" parTransId="{7DED883C-00E8-446A-9D8C-61F6A67FF564}" sibTransId="{18AFA70E-8EB1-40AF-A1AA-0E47C0211E1A}"/>
    <dgm:cxn modelId="{2DB2EA7C-787F-4FCE-B46E-B3DCF61B5F6D}" srcId="{631C1319-24F4-4E3A-8910-7AD3F3E94239}" destId="{B70BD11D-6A06-4091-A96E-504925D0A398}" srcOrd="1" destOrd="0" parTransId="{1DA8F5F9-3AF5-4433-ABE0-CC06AB535A31}" sibTransId="{E37756FE-6092-469B-8DB1-951AD052912B}"/>
    <dgm:cxn modelId="{4E08F5B3-0AA3-489E-BC6D-5C7A4CC39EBF}" type="presOf" srcId="{631C1319-24F4-4E3A-8910-7AD3F3E94239}" destId="{FCCA9ACF-4171-46AF-AAB8-4C152E8EF592}" srcOrd="0" destOrd="0" presId="urn:microsoft.com/office/officeart/2005/8/layout/vList2"/>
    <dgm:cxn modelId="{13EC8ECE-ED98-4395-8BF7-51FBD4F75D09}" type="presOf" srcId="{B70BD11D-6A06-4091-A96E-504925D0A398}" destId="{60B5E3E0-DF57-4799-9863-C87373AA2402}" srcOrd="0" destOrd="0" presId="urn:microsoft.com/office/officeart/2005/8/layout/vList2"/>
    <dgm:cxn modelId="{EAF71CD0-CCE4-42AB-9341-7F8A3DE806EE}" type="presOf" srcId="{91B1935F-0933-4D7D-A13F-999B952AE064}" destId="{E77DE67F-32B1-4DF3-AB85-10E30FE8CE34}" srcOrd="0" destOrd="0" presId="urn:microsoft.com/office/officeart/2005/8/layout/vList2"/>
    <dgm:cxn modelId="{B26333AC-63AA-4951-803D-35396E31897A}" type="presParOf" srcId="{FCCA9ACF-4171-46AF-AAB8-4C152E8EF592}" destId="{E77DE67F-32B1-4DF3-AB85-10E30FE8CE34}" srcOrd="0" destOrd="0" presId="urn:microsoft.com/office/officeart/2005/8/layout/vList2"/>
    <dgm:cxn modelId="{A6EC354A-4C3C-47D2-8BF4-6DEE45330B01}" type="presParOf" srcId="{FCCA9ACF-4171-46AF-AAB8-4C152E8EF592}" destId="{A19302BC-638C-4913-AC3D-9CD9EFF7CB20}" srcOrd="1" destOrd="0" presId="urn:microsoft.com/office/officeart/2005/8/layout/vList2"/>
    <dgm:cxn modelId="{B15C960C-F5F7-4D13-AC03-653A805329B3}" type="presParOf" srcId="{FCCA9ACF-4171-46AF-AAB8-4C152E8EF592}" destId="{60B5E3E0-DF57-4799-9863-C87373AA240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31C1319-24F4-4E3A-8910-7AD3F3E94239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B1935F-0933-4D7D-A13F-999B952AE064}">
      <dgm:prSet phldrT="[Text]" custT="1"/>
      <dgm:spPr/>
      <dgm:t>
        <a:bodyPr/>
        <a:lstStyle/>
        <a:p>
          <a:r>
            <a:rPr lang="en-US" sz="2000" b="0" i="0" dirty="0"/>
            <a:t>Float data type in Rust can be classified as </a:t>
          </a:r>
          <a:r>
            <a:rPr lang="en-US" sz="2000" b="1" i="0" dirty="0">
              <a:solidFill>
                <a:srgbClr val="FFFF00"/>
              </a:solidFill>
            </a:rPr>
            <a:t>f32</a:t>
          </a:r>
          <a:r>
            <a:rPr lang="en-US" sz="2000" b="0" i="0" dirty="0">
              <a:solidFill>
                <a:srgbClr val="FFFF00"/>
              </a:solidFill>
            </a:rPr>
            <a:t> </a:t>
          </a:r>
          <a:r>
            <a:rPr lang="en-US" sz="2000" b="0" i="0" dirty="0"/>
            <a:t>and </a:t>
          </a:r>
          <a:r>
            <a:rPr lang="en-US" sz="2000" b="1" i="0" dirty="0">
              <a:solidFill>
                <a:srgbClr val="FFFF00"/>
              </a:solidFill>
            </a:rPr>
            <a:t>f64</a:t>
          </a:r>
          <a:r>
            <a:rPr lang="en-US" sz="2000" b="0" i="0" dirty="0"/>
            <a:t>. </a:t>
          </a:r>
          <a:endParaRPr lang="en-US" sz="2000" b="1" dirty="0">
            <a:solidFill>
              <a:srgbClr val="FFFF00"/>
            </a:solidFill>
          </a:endParaRPr>
        </a:p>
      </dgm:t>
    </dgm:pt>
    <dgm:pt modelId="{7DED883C-00E8-446A-9D8C-61F6A67FF564}" type="parTrans" cxnId="{AE8FA912-A440-4002-B758-557BFBABF374}">
      <dgm:prSet/>
      <dgm:spPr/>
      <dgm:t>
        <a:bodyPr/>
        <a:lstStyle/>
        <a:p>
          <a:endParaRPr lang="en-US"/>
        </a:p>
      </dgm:t>
    </dgm:pt>
    <dgm:pt modelId="{18AFA70E-8EB1-40AF-A1AA-0E47C0211E1A}" type="sibTrans" cxnId="{AE8FA912-A440-4002-B758-557BFBABF374}">
      <dgm:prSet/>
      <dgm:spPr/>
      <dgm:t>
        <a:bodyPr/>
        <a:lstStyle/>
        <a:p>
          <a:endParaRPr lang="en-US"/>
        </a:p>
      </dgm:t>
    </dgm:pt>
    <dgm:pt modelId="{08D8889D-FDBC-492E-A9F8-3643B8D80E6F}">
      <dgm:prSet phldrT="[Text]" custT="1"/>
      <dgm:spPr/>
      <dgm:t>
        <a:bodyPr/>
        <a:lstStyle/>
        <a:p>
          <a:r>
            <a:rPr lang="en-US" sz="2000" b="0" i="0" dirty="0"/>
            <a:t>The </a:t>
          </a:r>
          <a:r>
            <a:rPr lang="en-US" sz="2000" b="1" i="0" dirty="0">
              <a:solidFill>
                <a:srgbClr val="FFFF00"/>
              </a:solidFill>
            </a:rPr>
            <a:t>f32</a:t>
          </a:r>
          <a:r>
            <a:rPr lang="en-US" sz="2000" b="0" i="0" dirty="0"/>
            <a:t> type is a single-precision float, and f64 has double precision. The default type is </a:t>
          </a:r>
          <a:r>
            <a:rPr lang="en-US" sz="2000" b="1" i="0" dirty="0">
              <a:solidFill>
                <a:srgbClr val="FFFF00"/>
              </a:solidFill>
            </a:rPr>
            <a:t>f64</a:t>
          </a:r>
          <a:endParaRPr lang="en-US" sz="2000" b="1" dirty="0">
            <a:solidFill>
              <a:srgbClr val="FFFF00"/>
            </a:solidFill>
          </a:endParaRPr>
        </a:p>
      </dgm:t>
    </dgm:pt>
    <dgm:pt modelId="{84A90449-E07C-454D-B693-C7749A0780CC}" type="parTrans" cxnId="{39D9E9D0-AADC-4806-B12D-893048A788E2}">
      <dgm:prSet/>
      <dgm:spPr/>
      <dgm:t>
        <a:bodyPr/>
        <a:lstStyle/>
        <a:p>
          <a:endParaRPr lang="en-US"/>
        </a:p>
      </dgm:t>
    </dgm:pt>
    <dgm:pt modelId="{3729E772-561D-4CD4-BA14-B2A96B212DC5}" type="sibTrans" cxnId="{39D9E9D0-AADC-4806-B12D-893048A788E2}">
      <dgm:prSet/>
      <dgm:spPr/>
      <dgm:t>
        <a:bodyPr/>
        <a:lstStyle/>
        <a:p>
          <a:endParaRPr lang="en-US"/>
        </a:p>
      </dgm:t>
    </dgm:pt>
    <dgm:pt modelId="{FCCA9ACF-4171-46AF-AAB8-4C152E8EF592}" type="pres">
      <dgm:prSet presAssocID="{631C1319-24F4-4E3A-8910-7AD3F3E94239}" presName="linear" presStyleCnt="0">
        <dgm:presLayoutVars>
          <dgm:animLvl val="lvl"/>
          <dgm:resizeHandles val="exact"/>
        </dgm:presLayoutVars>
      </dgm:prSet>
      <dgm:spPr/>
    </dgm:pt>
    <dgm:pt modelId="{E77DE67F-32B1-4DF3-AB85-10E30FE8CE34}" type="pres">
      <dgm:prSet presAssocID="{91B1935F-0933-4D7D-A13F-999B952AE064}" presName="parentText" presStyleLbl="node1" presStyleIdx="0" presStyleCnt="2" custScaleY="89026" custLinFactY="-12398" custLinFactNeighborY="-100000">
        <dgm:presLayoutVars>
          <dgm:chMax val="0"/>
          <dgm:bulletEnabled val="1"/>
        </dgm:presLayoutVars>
      </dgm:prSet>
      <dgm:spPr/>
    </dgm:pt>
    <dgm:pt modelId="{A19302BC-638C-4913-AC3D-9CD9EFF7CB20}" type="pres">
      <dgm:prSet presAssocID="{18AFA70E-8EB1-40AF-A1AA-0E47C0211E1A}" presName="spacer" presStyleCnt="0"/>
      <dgm:spPr/>
    </dgm:pt>
    <dgm:pt modelId="{224CBD49-B31B-48D9-9687-534AE3A96F7D}" type="pres">
      <dgm:prSet presAssocID="{08D8889D-FDBC-492E-A9F8-3643B8D80E6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E8FA912-A440-4002-B758-557BFBABF374}" srcId="{631C1319-24F4-4E3A-8910-7AD3F3E94239}" destId="{91B1935F-0933-4D7D-A13F-999B952AE064}" srcOrd="0" destOrd="0" parTransId="{7DED883C-00E8-446A-9D8C-61F6A67FF564}" sibTransId="{18AFA70E-8EB1-40AF-A1AA-0E47C0211E1A}"/>
    <dgm:cxn modelId="{4A381D23-D0B8-43E4-B15B-24920508205A}" type="presOf" srcId="{08D8889D-FDBC-492E-A9F8-3643B8D80E6F}" destId="{224CBD49-B31B-48D9-9687-534AE3A96F7D}" srcOrd="0" destOrd="0" presId="urn:microsoft.com/office/officeart/2005/8/layout/vList2"/>
    <dgm:cxn modelId="{4E08F5B3-0AA3-489E-BC6D-5C7A4CC39EBF}" type="presOf" srcId="{631C1319-24F4-4E3A-8910-7AD3F3E94239}" destId="{FCCA9ACF-4171-46AF-AAB8-4C152E8EF592}" srcOrd="0" destOrd="0" presId="urn:microsoft.com/office/officeart/2005/8/layout/vList2"/>
    <dgm:cxn modelId="{EAF71CD0-CCE4-42AB-9341-7F8A3DE806EE}" type="presOf" srcId="{91B1935F-0933-4D7D-A13F-999B952AE064}" destId="{E77DE67F-32B1-4DF3-AB85-10E30FE8CE34}" srcOrd="0" destOrd="0" presId="urn:microsoft.com/office/officeart/2005/8/layout/vList2"/>
    <dgm:cxn modelId="{39D9E9D0-AADC-4806-B12D-893048A788E2}" srcId="{631C1319-24F4-4E3A-8910-7AD3F3E94239}" destId="{08D8889D-FDBC-492E-A9F8-3643B8D80E6F}" srcOrd="1" destOrd="0" parTransId="{84A90449-E07C-454D-B693-C7749A0780CC}" sibTransId="{3729E772-561D-4CD4-BA14-B2A96B212DC5}"/>
    <dgm:cxn modelId="{B26333AC-63AA-4951-803D-35396E31897A}" type="presParOf" srcId="{FCCA9ACF-4171-46AF-AAB8-4C152E8EF592}" destId="{E77DE67F-32B1-4DF3-AB85-10E30FE8CE34}" srcOrd="0" destOrd="0" presId="urn:microsoft.com/office/officeart/2005/8/layout/vList2"/>
    <dgm:cxn modelId="{AD432AA1-AD9E-404E-9410-6D6BC582E58D}" type="presParOf" srcId="{FCCA9ACF-4171-46AF-AAB8-4C152E8EF592}" destId="{A19302BC-638C-4913-AC3D-9CD9EFF7CB20}" srcOrd="1" destOrd="0" presId="urn:microsoft.com/office/officeart/2005/8/layout/vList2"/>
    <dgm:cxn modelId="{19C6BFB8-1B2A-45F4-89A5-C69A4D449D5F}" type="presParOf" srcId="{FCCA9ACF-4171-46AF-AAB8-4C152E8EF592}" destId="{224CBD49-B31B-48D9-9687-534AE3A96F7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31C1319-24F4-4E3A-8910-7AD3F3E94239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B1935F-0933-4D7D-A13F-999B952AE064}">
      <dgm:prSet phldrT="[Text]" custT="1"/>
      <dgm:spPr/>
      <dgm:t>
        <a:bodyPr/>
        <a:lstStyle/>
        <a:p>
          <a:r>
            <a:rPr lang="en-US" sz="2000" b="0" i="0" dirty="0"/>
            <a:t>Boolean types have two possible values – </a:t>
          </a:r>
          <a:r>
            <a:rPr lang="en-US" sz="2000" b="0" i="1" dirty="0"/>
            <a:t>true</a:t>
          </a:r>
          <a:r>
            <a:rPr lang="en-US" sz="2000" b="0" i="0" dirty="0"/>
            <a:t> or </a:t>
          </a:r>
          <a:r>
            <a:rPr lang="en-US" sz="2000" b="0" i="1" dirty="0"/>
            <a:t>false</a:t>
          </a:r>
          <a:r>
            <a:rPr lang="en-US" sz="2000" b="0" i="0" dirty="0"/>
            <a:t>. Use the </a:t>
          </a:r>
          <a:r>
            <a:rPr lang="en-US" sz="2000" b="1" i="0" dirty="0"/>
            <a:t>bool</a:t>
          </a:r>
          <a:r>
            <a:rPr lang="en-US" sz="2000" b="0" i="0" dirty="0"/>
            <a:t> keyword to declare a </a:t>
          </a:r>
          <a:r>
            <a:rPr lang="en-US" sz="2000" b="0" i="0" dirty="0" err="1"/>
            <a:t>boolean</a:t>
          </a:r>
          <a:r>
            <a:rPr lang="en-US" sz="2000" b="0" i="0" dirty="0"/>
            <a:t> variable.</a:t>
          </a:r>
          <a:endParaRPr lang="en-US" sz="2000" b="1" dirty="0">
            <a:solidFill>
              <a:srgbClr val="FFFF00"/>
            </a:solidFill>
          </a:endParaRPr>
        </a:p>
      </dgm:t>
    </dgm:pt>
    <dgm:pt modelId="{7DED883C-00E8-446A-9D8C-61F6A67FF564}" type="parTrans" cxnId="{AE8FA912-A440-4002-B758-557BFBABF374}">
      <dgm:prSet/>
      <dgm:spPr/>
      <dgm:t>
        <a:bodyPr/>
        <a:lstStyle/>
        <a:p>
          <a:endParaRPr lang="en-US" sz="1600"/>
        </a:p>
      </dgm:t>
    </dgm:pt>
    <dgm:pt modelId="{18AFA70E-8EB1-40AF-A1AA-0E47C0211E1A}" type="sibTrans" cxnId="{AE8FA912-A440-4002-B758-557BFBABF374}">
      <dgm:prSet/>
      <dgm:spPr/>
      <dgm:t>
        <a:bodyPr/>
        <a:lstStyle/>
        <a:p>
          <a:endParaRPr lang="en-US" sz="1600"/>
        </a:p>
      </dgm:t>
    </dgm:pt>
    <dgm:pt modelId="{FCCA9ACF-4171-46AF-AAB8-4C152E8EF592}" type="pres">
      <dgm:prSet presAssocID="{631C1319-24F4-4E3A-8910-7AD3F3E94239}" presName="linear" presStyleCnt="0">
        <dgm:presLayoutVars>
          <dgm:animLvl val="lvl"/>
          <dgm:resizeHandles val="exact"/>
        </dgm:presLayoutVars>
      </dgm:prSet>
      <dgm:spPr/>
    </dgm:pt>
    <dgm:pt modelId="{E77DE67F-32B1-4DF3-AB85-10E30FE8CE34}" type="pres">
      <dgm:prSet presAssocID="{91B1935F-0933-4D7D-A13F-999B952AE064}" presName="parentText" presStyleLbl="node1" presStyleIdx="0" presStyleCnt="1" custScaleY="70673" custLinFactNeighborX="-161" custLinFactNeighborY="-47896">
        <dgm:presLayoutVars>
          <dgm:chMax val="0"/>
          <dgm:bulletEnabled val="1"/>
        </dgm:presLayoutVars>
      </dgm:prSet>
      <dgm:spPr/>
    </dgm:pt>
  </dgm:ptLst>
  <dgm:cxnLst>
    <dgm:cxn modelId="{AE8FA912-A440-4002-B758-557BFBABF374}" srcId="{631C1319-24F4-4E3A-8910-7AD3F3E94239}" destId="{91B1935F-0933-4D7D-A13F-999B952AE064}" srcOrd="0" destOrd="0" parTransId="{7DED883C-00E8-446A-9D8C-61F6A67FF564}" sibTransId="{18AFA70E-8EB1-40AF-A1AA-0E47C0211E1A}"/>
    <dgm:cxn modelId="{4E08F5B3-0AA3-489E-BC6D-5C7A4CC39EBF}" type="presOf" srcId="{631C1319-24F4-4E3A-8910-7AD3F3E94239}" destId="{FCCA9ACF-4171-46AF-AAB8-4C152E8EF592}" srcOrd="0" destOrd="0" presId="urn:microsoft.com/office/officeart/2005/8/layout/vList2"/>
    <dgm:cxn modelId="{EAF71CD0-CCE4-42AB-9341-7F8A3DE806EE}" type="presOf" srcId="{91B1935F-0933-4D7D-A13F-999B952AE064}" destId="{E77DE67F-32B1-4DF3-AB85-10E30FE8CE34}" srcOrd="0" destOrd="0" presId="urn:microsoft.com/office/officeart/2005/8/layout/vList2"/>
    <dgm:cxn modelId="{B26333AC-63AA-4951-803D-35396E31897A}" type="presParOf" srcId="{FCCA9ACF-4171-46AF-AAB8-4C152E8EF592}" destId="{E77DE67F-32B1-4DF3-AB85-10E30FE8CE3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31C1319-24F4-4E3A-8910-7AD3F3E94239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B1935F-0933-4D7D-A13F-999B952AE064}">
      <dgm:prSet phldrT="[Text]" custT="1"/>
      <dgm:spPr/>
      <dgm:t>
        <a:bodyPr/>
        <a:lstStyle/>
        <a:p>
          <a:r>
            <a:rPr lang="en-US" sz="2000" b="0" i="0" dirty="0"/>
            <a:t>The character data type in Rust supports numbers, alphabets and special characters. Use the </a:t>
          </a:r>
          <a:r>
            <a:rPr lang="en-US" sz="2000" b="1" i="0" dirty="0"/>
            <a:t>char</a:t>
          </a:r>
          <a:r>
            <a:rPr lang="en-US" sz="2000" b="0" i="0" dirty="0"/>
            <a:t> keyword to declare a variable of character data type. Rust’s char type represents a lot more than just ASCII. </a:t>
          </a:r>
          <a:endParaRPr lang="en-US" sz="2000" b="1" dirty="0">
            <a:solidFill>
              <a:srgbClr val="FFFF00"/>
            </a:solidFill>
          </a:endParaRPr>
        </a:p>
      </dgm:t>
    </dgm:pt>
    <dgm:pt modelId="{7DED883C-00E8-446A-9D8C-61F6A67FF564}" type="parTrans" cxnId="{AE8FA912-A440-4002-B758-557BFBABF374}">
      <dgm:prSet/>
      <dgm:spPr/>
      <dgm:t>
        <a:bodyPr/>
        <a:lstStyle/>
        <a:p>
          <a:endParaRPr lang="en-US" sz="1600"/>
        </a:p>
      </dgm:t>
    </dgm:pt>
    <dgm:pt modelId="{18AFA70E-8EB1-40AF-A1AA-0E47C0211E1A}" type="sibTrans" cxnId="{AE8FA912-A440-4002-B758-557BFBABF374}">
      <dgm:prSet/>
      <dgm:spPr/>
      <dgm:t>
        <a:bodyPr/>
        <a:lstStyle/>
        <a:p>
          <a:endParaRPr lang="en-US" sz="1600"/>
        </a:p>
      </dgm:t>
    </dgm:pt>
    <dgm:pt modelId="{FCCA9ACF-4171-46AF-AAB8-4C152E8EF592}" type="pres">
      <dgm:prSet presAssocID="{631C1319-24F4-4E3A-8910-7AD3F3E94239}" presName="linear" presStyleCnt="0">
        <dgm:presLayoutVars>
          <dgm:animLvl val="lvl"/>
          <dgm:resizeHandles val="exact"/>
        </dgm:presLayoutVars>
      </dgm:prSet>
      <dgm:spPr/>
    </dgm:pt>
    <dgm:pt modelId="{E77DE67F-32B1-4DF3-AB85-10E30FE8CE34}" type="pres">
      <dgm:prSet presAssocID="{91B1935F-0933-4D7D-A13F-999B952AE064}" presName="parentText" presStyleLbl="node1" presStyleIdx="0" presStyleCnt="1" custScaleY="104040" custLinFactNeighborX="-161" custLinFactNeighborY="-47896">
        <dgm:presLayoutVars>
          <dgm:chMax val="0"/>
          <dgm:bulletEnabled val="1"/>
        </dgm:presLayoutVars>
      </dgm:prSet>
      <dgm:spPr/>
    </dgm:pt>
  </dgm:ptLst>
  <dgm:cxnLst>
    <dgm:cxn modelId="{AE8FA912-A440-4002-B758-557BFBABF374}" srcId="{631C1319-24F4-4E3A-8910-7AD3F3E94239}" destId="{91B1935F-0933-4D7D-A13F-999B952AE064}" srcOrd="0" destOrd="0" parTransId="{7DED883C-00E8-446A-9D8C-61F6A67FF564}" sibTransId="{18AFA70E-8EB1-40AF-A1AA-0E47C0211E1A}"/>
    <dgm:cxn modelId="{4E08F5B3-0AA3-489E-BC6D-5C7A4CC39EBF}" type="presOf" srcId="{631C1319-24F4-4E3A-8910-7AD3F3E94239}" destId="{FCCA9ACF-4171-46AF-AAB8-4C152E8EF592}" srcOrd="0" destOrd="0" presId="urn:microsoft.com/office/officeart/2005/8/layout/vList2"/>
    <dgm:cxn modelId="{EAF71CD0-CCE4-42AB-9341-7F8A3DE806EE}" type="presOf" srcId="{91B1935F-0933-4D7D-A13F-999B952AE064}" destId="{E77DE67F-32B1-4DF3-AB85-10E30FE8CE34}" srcOrd="0" destOrd="0" presId="urn:microsoft.com/office/officeart/2005/8/layout/vList2"/>
    <dgm:cxn modelId="{B26333AC-63AA-4951-803D-35396E31897A}" type="presParOf" srcId="{FCCA9ACF-4171-46AF-AAB8-4C152E8EF592}" destId="{E77DE67F-32B1-4DF3-AB85-10E30FE8CE3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31C1319-24F4-4E3A-8910-7AD3F3E94239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B1935F-0933-4D7D-A13F-999B952AE064}">
      <dgm:prSet phldrT="[Text]" custT="1"/>
      <dgm:spPr/>
      <dgm:t>
        <a:bodyPr/>
        <a:lstStyle/>
        <a:p>
          <a:r>
            <a:rPr lang="en-US" sz="1800" b="0" i="0" dirty="0"/>
            <a:t>Automatic type casting is not allowed in Rust. Consider the following code snippet. An integer value is assigned to the float variable </a:t>
          </a:r>
          <a:r>
            <a:rPr lang="en-US" sz="1800" b="1" i="1" dirty="0"/>
            <a:t>interest</a:t>
          </a:r>
          <a:r>
            <a:rPr lang="en-US" sz="1800" b="0" i="0" dirty="0"/>
            <a:t>.</a:t>
          </a:r>
          <a:endParaRPr lang="en-US" sz="1800" b="1" dirty="0">
            <a:solidFill>
              <a:srgbClr val="FFFF00"/>
            </a:solidFill>
          </a:endParaRPr>
        </a:p>
      </dgm:t>
    </dgm:pt>
    <dgm:pt modelId="{7DED883C-00E8-446A-9D8C-61F6A67FF564}" type="parTrans" cxnId="{AE8FA912-A440-4002-B758-557BFBABF374}">
      <dgm:prSet/>
      <dgm:spPr/>
      <dgm:t>
        <a:bodyPr/>
        <a:lstStyle/>
        <a:p>
          <a:endParaRPr lang="en-US" sz="1400"/>
        </a:p>
      </dgm:t>
    </dgm:pt>
    <dgm:pt modelId="{18AFA70E-8EB1-40AF-A1AA-0E47C0211E1A}" type="sibTrans" cxnId="{AE8FA912-A440-4002-B758-557BFBABF374}">
      <dgm:prSet/>
      <dgm:spPr/>
      <dgm:t>
        <a:bodyPr/>
        <a:lstStyle/>
        <a:p>
          <a:endParaRPr lang="en-US" sz="1400"/>
        </a:p>
      </dgm:t>
    </dgm:pt>
    <dgm:pt modelId="{FCCA9ACF-4171-46AF-AAB8-4C152E8EF592}" type="pres">
      <dgm:prSet presAssocID="{631C1319-24F4-4E3A-8910-7AD3F3E94239}" presName="linear" presStyleCnt="0">
        <dgm:presLayoutVars>
          <dgm:animLvl val="lvl"/>
          <dgm:resizeHandles val="exact"/>
        </dgm:presLayoutVars>
      </dgm:prSet>
      <dgm:spPr/>
    </dgm:pt>
    <dgm:pt modelId="{E77DE67F-32B1-4DF3-AB85-10E30FE8CE34}" type="pres">
      <dgm:prSet presAssocID="{91B1935F-0933-4D7D-A13F-999B952AE064}" presName="parentText" presStyleLbl="node1" presStyleIdx="0" presStyleCnt="1" custScaleY="50231" custLinFactY="-12398" custLinFactNeighborY="-100000">
        <dgm:presLayoutVars>
          <dgm:chMax val="0"/>
          <dgm:bulletEnabled val="1"/>
        </dgm:presLayoutVars>
      </dgm:prSet>
      <dgm:spPr/>
    </dgm:pt>
  </dgm:ptLst>
  <dgm:cxnLst>
    <dgm:cxn modelId="{AE8FA912-A440-4002-B758-557BFBABF374}" srcId="{631C1319-24F4-4E3A-8910-7AD3F3E94239}" destId="{91B1935F-0933-4D7D-A13F-999B952AE064}" srcOrd="0" destOrd="0" parTransId="{7DED883C-00E8-446A-9D8C-61F6A67FF564}" sibTransId="{18AFA70E-8EB1-40AF-A1AA-0E47C0211E1A}"/>
    <dgm:cxn modelId="{4E08F5B3-0AA3-489E-BC6D-5C7A4CC39EBF}" type="presOf" srcId="{631C1319-24F4-4E3A-8910-7AD3F3E94239}" destId="{FCCA9ACF-4171-46AF-AAB8-4C152E8EF592}" srcOrd="0" destOrd="0" presId="urn:microsoft.com/office/officeart/2005/8/layout/vList2"/>
    <dgm:cxn modelId="{EAF71CD0-CCE4-42AB-9341-7F8A3DE806EE}" type="presOf" srcId="{91B1935F-0933-4D7D-A13F-999B952AE064}" destId="{E77DE67F-32B1-4DF3-AB85-10E30FE8CE34}" srcOrd="0" destOrd="0" presId="urn:microsoft.com/office/officeart/2005/8/layout/vList2"/>
    <dgm:cxn modelId="{B26333AC-63AA-4951-803D-35396E31897A}" type="presParOf" srcId="{FCCA9ACF-4171-46AF-AAB8-4C152E8EF592}" destId="{E77DE67F-32B1-4DF3-AB85-10E30FE8CE3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31C1319-24F4-4E3A-8910-7AD3F3E94239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B1935F-0933-4D7D-A13F-999B952AE064}">
      <dgm:prSet phldrT="[Text]" custT="1"/>
      <dgm:spPr/>
      <dgm:t>
        <a:bodyPr/>
        <a:lstStyle/>
        <a:p>
          <a:r>
            <a:rPr lang="en-US" sz="2000" b="0" i="0" dirty="0"/>
            <a:t>For easy readability of large numbers, we can use a visual separator _ underscore to separate digits. That is 50,000 can be written as 50_000 .</a:t>
          </a:r>
          <a:endParaRPr lang="en-US" sz="2000" b="1" dirty="0">
            <a:solidFill>
              <a:srgbClr val="FFFF00"/>
            </a:solidFill>
          </a:endParaRPr>
        </a:p>
      </dgm:t>
    </dgm:pt>
    <dgm:pt modelId="{7DED883C-00E8-446A-9D8C-61F6A67FF564}" type="parTrans" cxnId="{AE8FA912-A440-4002-B758-557BFBABF374}">
      <dgm:prSet/>
      <dgm:spPr/>
      <dgm:t>
        <a:bodyPr/>
        <a:lstStyle/>
        <a:p>
          <a:endParaRPr lang="en-US" sz="1600"/>
        </a:p>
      </dgm:t>
    </dgm:pt>
    <dgm:pt modelId="{18AFA70E-8EB1-40AF-A1AA-0E47C0211E1A}" type="sibTrans" cxnId="{AE8FA912-A440-4002-B758-557BFBABF374}">
      <dgm:prSet/>
      <dgm:spPr/>
      <dgm:t>
        <a:bodyPr/>
        <a:lstStyle/>
        <a:p>
          <a:endParaRPr lang="en-US" sz="1600"/>
        </a:p>
      </dgm:t>
    </dgm:pt>
    <dgm:pt modelId="{FCCA9ACF-4171-46AF-AAB8-4C152E8EF592}" type="pres">
      <dgm:prSet presAssocID="{631C1319-24F4-4E3A-8910-7AD3F3E94239}" presName="linear" presStyleCnt="0">
        <dgm:presLayoutVars>
          <dgm:animLvl val="lvl"/>
          <dgm:resizeHandles val="exact"/>
        </dgm:presLayoutVars>
      </dgm:prSet>
      <dgm:spPr/>
    </dgm:pt>
    <dgm:pt modelId="{E77DE67F-32B1-4DF3-AB85-10E30FE8CE34}" type="pres">
      <dgm:prSet presAssocID="{91B1935F-0933-4D7D-A13F-999B952AE064}" presName="parentText" presStyleLbl="node1" presStyleIdx="0" presStyleCnt="1" custScaleY="70673" custLinFactNeighborX="-161" custLinFactNeighborY="-47896">
        <dgm:presLayoutVars>
          <dgm:chMax val="0"/>
          <dgm:bulletEnabled val="1"/>
        </dgm:presLayoutVars>
      </dgm:prSet>
      <dgm:spPr/>
    </dgm:pt>
  </dgm:ptLst>
  <dgm:cxnLst>
    <dgm:cxn modelId="{AE8FA912-A440-4002-B758-557BFBABF374}" srcId="{631C1319-24F4-4E3A-8910-7AD3F3E94239}" destId="{91B1935F-0933-4D7D-A13F-999B952AE064}" srcOrd="0" destOrd="0" parTransId="{7DED883C-00E8-446A-9D8C-61F6A67FF564}" sibTransId="{18AFA70E-8EB1-40AF-A1AA-0E47C0211E1A}"/>
    <dgm:cxn modelId="{4E08F5B3-0AA3-489E-BC6D-5C7A4CC39EBF}" type="presOf" srcId="{631C1319-24F4-4E3A-8910-7AD3F3E94239}" destId="{FCCA9ACF-4171-46AF-AAB8-4C152E8EF592}" srcOrd="0" destOrd="0" presId="urn:microsoft.com/office/officeart/2005/8/layout/vList2"/>
    <dgm:cxn modelId="{EAF71CD0-CCE4-42AB-9341-7F8A3DE806EE}" type="presOf" srcId="{91B1935F-0933-4D7D-A13F-999B952AE064}" destId="{E77DE67F-32B1-4DF3-AB85-10E30FE8CE34}" srcOrd="0" destOrd="0" presId="urn:microsoft.com/office/officeart/2005/8/layout/vList2"/>
    <dgm:cxn modelId="{B26333AC-63AA-4951-803D-35396E31897A}" type="presParOf" srcId="{FCCA9ACF-4171-46AF-AAB8-4C152E8EF592}" destId="{E77DE67F-32B1-4DF3-AB85-10E30FE8CE3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31C1319-24F4-4E3A-8910-7AD3F3E94239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B1935F-0933-4D7D-A13F-999B952AE064}">
      <dgm:prSet phldrT="[Text]" custT="1"/>
      <dgm:spPr/>
      <dgm:t>
        <a:bodyPr/>
        <a:lstStyle/>
        <a:p>
          <a:r>
            <a:rPr lang="en-US" sz="1800" b="0" i="0" dirty="0"/>
            <a:t>By default, variables are immutable − read only in Rust. In other words, the variable's value cannot be changed once a value is bound to a variable name.</a:t>
          </a:r>
          <a:endParaRPr lang="en-US" sz="1800" b="1" dirty="0">
            <a:solidFill>
              <a:srgbClr val="FFFF00"/>
            </a:solidFill>
          </a:endParaRPr>
        </a:p>
      </dgm:t>
    </dgm:pt>
    <dgm:pt modelId="{7DED883C-00E8-446A-9D8C-61F6A67FF564}" type="parTrans" cxnId="{AE8FA912-A440-4002-B758-557BFBABF374}">
      <dgm:prSet/>
      <dgm:spPr/>
      <dgm:t>
        <a:bodyPr/>
        <a:lstStyle/>
        <a:p>
          <a:endParaRPr lang="en-US" sz="1400"/>
        </a:p>
      </dgm:t>
    </dgm:pt>
    <dgm:pt modelId="{18AFA70E-8EB1-40AF-A1AA-0E47C0211E1A}" type="sibTrans" cxnId="{AE8FA912-A440-4002-B758-557BFBABF374}">
      <dgm:prSet/>
      <dgm:spPr/>
      <dgm:t>
        <a:bodyPr/>
        <a:lstStyle/>
        <a:p>
          <a:endParaRPr lang="en-US" sz="1400"/>
        </a:p>
      </dgm:t>
    </dgm:pt>
    <dgm:pt modelId="{FCCA9ACF-4171-46AF-AAB8-4C152E8EF592}" type="pres">
      <dgm:prSet presAssocID="{631C1319-24F4-4E3A-8910-7AD3F3E94239}" presName="linear" presStyleCnt="0">
        <dgm:presLayoutVars>
          <dgm:animLvl val="lvl"/>
          <dgm:resizeHandles val="exact"/>
        </dgm:presLayoutVars>
      </dgm:prSet>
      <dgm:spPr/>
    </dgm:pt>
    <dgm:pt modelId="{E77DE67F-32B1-4DF3-AB85-10E30FE8CE34}" type="pres">
      <dgm:prSet presAssocID="{91B1935F-0933-4D7D-A13F-999B952AE064}" presName="parentText" presStyleLbl="node1" presStyleIdx="0" presStyleCnt="1" custScaleY="70673" custLinFactNeighborX="-161" custLinFactNeighborY="-47896">
        <dgm:presLayoutVars>
          <dgm:chMax val="0"/>
          <dgm:bulletEnabled val="1"/>
        </dgm:presLayoutVars>
      </dgm:prSet>
      <dgm:spPr/>
    </dgm:pt>
  </dgm:ptLst>
  <dgm:cxnLst>
    <dgm:cxn modelId="{AE8FA912-A440-4002-B758-557BFBABF374}" srcId="{631C1319-24F4-4E3A-8910-7AD3F3E94239}" destId="{91B1935F-0933-4D7D-A13F-999B952AE064}" srcOrd="0" destOrd="0" parTransId="{7DED883C-00E8-446A-9D8C-61F6A67FF564}" sibTransId="{18AFA70E-8EB1-40AF-A1AA-0E47C0211E1A}"/>
    <dgm:cxn modelId="{4E08F5B3-0AA3-489E-BC6D-5C7A4CC39EBF}" type="presOf" srcId="{631C1319-24F4-4E3A-8910-7AD3F3E94239}" destId="{FCCA9ACF-4171-46AF-AAB8-4C152E8EF592}" srcOrd="0" destOrd="0" presId="urn:microsoft.com/office/officeart/2005/8/layout/vList2"/>
    <dgm:cxn modelId="{EAF71CD0-CCE4-42AB-9341-7F8A3DE806EE}" type="presOf" srcId="{91B1935F-0933-4D7D-A13F-999B952AE064}" destId="{E77DE67F-32B1-4DF3-AB85-10E30FE8CE34}" srcOrd="0" destOrd="0" presId="urn:microsoft.com/office/officeart/2005/8/layout/vList2"/>
    <dgm:cxn modelId="{B26333AC-63AA-4951-803D-35396E31897A}" type="presParOf" srcId="{FCCA9ACF-4171-46AF-AAB8-4C152E8EF592}" destId="{E77DE67F-32B1-4DF3-AB85-10E30FE8CE3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E9EC8C5-A3C7-4BFB-9DAA-C56CA9F62AE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D1615B7-E790-41F8-AF81-E9F19AEA7AEB}">
      <dgm:prSet phldrT="[Text]" custT="1"/>
      <dgm:spPr/>
      <dgm:t>
        <a:bodyPr/>
        <a:lstStyle/>
        <a:p>
          <a:r>
            <a:rPr lang="en-US" sz="2000" b="0" i="0" dirty="0"/>
            <a:t>To make a variable mutable, prefix the variable name with </a:t>
          </a:r>
          <a:r>
            <a:rPr lang="en-US" sz="2000" b="1" i="0" dirty="0" err="1">
              <a:solidFill>
                <a:srgbClr val="FFFF00"/>
              </a:solidFill>
            </a:rPr>
            <a:t>mut</a:t>
          </a:r>
          <a:r>
            <a:rPr lang="en-US" sz="2000" b="0" i="0" dirty="0"/>
            <a:t> keyword. The value of a mutable variable can be changed.</a:t>
          </a:r>
          <a:endParaRPr lang="en-US" sz="2000" dirty="0"/>
        </a:p>
      </dgm:t>
    </dgm:pt>
    <dgm:pt modelId="{78ADEE8E-4B04-4E9C-A2D9-2C9F26DC1F9F}" type="parTrans" cxnId="{757C6FE0-512C-48BD-85E7-3DCB8AD7DC7D}">
      <dgm:prSet/>
      <dgm:spPr/>
      <dgm:t>
        <a:bodyPr/>
        <a:lstStyle/>
        <a:p>
          <a:endParaRPr lang="en-US" sz="2800"/>
        </a:p>
      </dgm:t>
    </dgm:pt>
    <dgm:pt modelId="{CD15A82D-CDCD-4B73-9BDD-75F9BC0DBA22}" type="sibTrans" cxnId="{757C6FE0-512C-48BD-85E7-3DCB8AD7DC7D}">
      <dgm:prSet/>
      <dgm:spPr/>
      <dgm:t>
        <a:bodyPr/>
        <a:lstStyle/>
        <a:p>
          <a:endParaRPr lang="en-US" sz="2800"/>
        </a:p>
      </dgm:t>
    </dgm:pt>
    <dgm:pt modelId="{84A637ED-1AAB-467C-B494-BF4B1C912654}" type="pres">
      <dgm:prSet presAssocID="{1E9EC8C5-A3C7-4BFB-9DAA-C56CA9F62AE9}" presName="linear" presStyleCnt="0">
        <dgm:presLayoutVars>
          <dgm:animLvl val="lvl"/>
          <dgm:resizeHandles val="exact"/>
        </dgm:presLayoutVars>
      </dgm:prSet>
      <dgm:spPr/>
    </dgm:pt>
    <dgm:pt modelId="{091AABDD-F088-47C3-B108-BE452D06DE1E}" type="pres">
      <dgm:prSet presAssocID="{DD1615B7-E790-41F8-AF81-E9F19AEA7AE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DA6ACF49-D927-4087-A3A6-95294A5F4F18}" type="presOf" srcId="{1E9EC8C5-A3C7-4BFB-9DAA-C56CA9F62AE9}" destId="{84A637ED-1AAB-467C-B494-BF4B1C912654}" srcOrd="0" destOrd="0" presId="urn:microsoft.com/office/officeart/2005/8/layout/vList2"/>
    <dgm:cxn modelId="{3D387D81-4C4F-452F-95DE-B02ADD8F6D5F}" type="presOf" srcId="{DD1615B7-E790-41F8-AF81-E9F19AEA7AEB}" destId="{091AABDD-F088-47C3-B108-BE452D06DE1E}" srcOrd="0" destOrd="0" presId="urn:microsoft.com/office/officeart/2005/8/layout/vList2"/>
    <dgm:cxn modelId="{757C6FE0-512C-48BD-85E7-3DCB8AD7DC7D}" srcId="{1E9EC8C5-A3C7-4BFB-9DAA-C56CA9F62AE9}" destId="{DD1615B7-E790-41F8-AF81-E9F19AEA7AEB}" srcOrd="0" destOrd="0" parTransId="{78ADEE8E-4B04-4E9C-A2D9-2C9F26DC1F9F}" sibTransId="{CD15A82D-CDCD-4B73-9BDD-75F9BC0DBA22}"/>
    <dgm:cxn modelId="{20D715C2-BF0D-4A61-A39B-4BA26484E093}" type="presParOf" srcId="{84A637ED-1AAB-467C-B494-BF4B1C912654}" destId="{091AABDD-F088-47C3-B108-BE452D06DE1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8EF2D8-0CAC-422E-9963-20467178D162}">
      <dsp:nvSpPr>
        <dsp:cNvPr id="0" name=""/>
        <dsp:cNvSpPr/>
      </dsp:nvSpPr>
      <dsp:spPr>
        <a:xfrm>
          <a:off x="0" y="0"/>
          <a:ext cx="8183504" cy="6590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Cargo is Rust’s build system and package manager. </a:t>
          </a:r>
          <a:endParaRPr lang="en-US" sz="2200" b="1" kern="1200" dirty="0"/>
        </a:p>
      </dsp:txBody>
      <dsp:txXfrm>
        <a:off x="32172" y="32172"/>
        <a:ext cx="8119160" cy="594695"/>
      </dsp:txXfrm>
    </dsp:sp>
    <dsp:sp modelId="{E0E3567A-AD90-41BC-8F9D-90A54862E85B}">
      <dsp:nvSpPr>
        <dsp:cNvPr id="0" name=""/>
        <dsp:cNvSpPr/>
      </dsp:nvSpPr>
      <dsp:spPr>
        <a:xfrm>
          <a:off x="0" y="738170"/>
          <a:ext cx="8183504" cy="7482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Most </a:t>
          </a:r>
          <a:r>
            <a:rPr lang="en-US" sz="2200" b="0" i="1" kern="1200" dirty="0" err="1">
              <a:solidFill>
                <a:srgbClr val="FFFF00"/>
              </a:solidFill>
            </a:rPr>
            <a:t>Rustaceans</a:t>
          </a:r>
          <a:r>
            <a:rPr lang="en-US" sz="2200" b="0" i="0" kern="1200" dirty="0"/>
            <a:t> use this tool to manage their Rust projects because Cargo handles a lot of tasks for you, such as</a:t>
          </a:r>
          <a:endParaRPr lang="en-US" sz="2200" b="1" kern="1200" dirty="0"/>
        </a:p>
      </dsp:txBody>
      <dsp:txXfrm>
        <a:off x="36526" y="774696"/>
        <a:ext cx="8110452" cy="675187"/>
      </dsp:txXfrm>
    </dsp:sp>
    <dsp:sp modelId="{1B0600FC-D430-41C0-82E9-5B32F1717714}">
      <dsp:nvSpPr>
        <dsp:cNvPr id="0" name=""/>
        <dsp:cNvSpPr/>
      </dsp:nvSpPr>
      <dsp:spPr>
        <a:xfrm>
          <a:off x="0" y="1547963"/>
          <a:ext cx="8183504" cy="94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9826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0" i="0" kern="1200" dirty="0"/>
            <a:t>building your code, </a:t>
          </a:r>
          <a:endParaRPr lang="en-US" sz="2000" b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0" i="0" kern="1200" dirty="0"/>
            <a:t>downloading the libraries your code depends on and</a:t>
          </a:r>
          <a:endParaRPr lang="en-US" sz="2000" b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0" i="0" kern="1200" dirty="0"/>
            <a:t>building those libraries.</a:t>
          </a:r>
          <a:endParaRPr lang="en-US" sz="2000" b="1" kern="1200" dirty="0"/>
        </a:p>
      </dsp:txBody>
      <dsp:txXfrm>
        <a:off x="0" y="1547963"/>
        <a:ext cx="8183504" cy="943920"/>
      </dsp:txXfrm>
    </dsp:sp>
    <dsp:sp modelId="{A68F33CA-042D-457D-B8F4-6240CB339C82}">
      <dsp:nvSpPr>
        <dsp:cNvPr id="0" name=""/>
        <dsp:cNvSpPr/>
      </dsp:nvSpPr>
      <dsp:spPr>
        <a:xfrm>
          <a:off x="0" y="2491883"/>
          <a:ext cx="8183504" cy="6075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Cargo comes installed with Rust if you used the official installers</a:t>
          </a:r>
          <a:endParaRPr lang="en-US" sz="2200" b="1" kern="1200" dirty="0"/>
        </a:p>
      </dsp:txBody>
      <dsp:txXfrm>
        <a:off x="29660" y="2521543"/>
        <a:ext cx="8124184" cy="548277"/>
      </dsp:txXfrm>
    </dsp:sp>
    <dsp:sp modelId="{558C654B-9C50-4995-A6B9-9B752E6B93D9}">
      <dsp:nvSpPr>
        <dsp:cNvPr id="0" name=""/>
        <dsp:cNvSpPr/>
      </dsp:nvSpPr>
      <dsp:spPr>
        <a:xfrm>
          <a:off x="0" y="3181125"/>
          <a:ext cx="8183504" cy="898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Check whether Cargo is installed by entering the following into your terminal:</a:t>
          </a:r>
          <a:endParaRPr lang="en-US" sz="2200" b="1" kern="1200" dirty="0"/>
        </a:p>
      </dsp:txBody>
      <dsp:txXfrm>
        <a:off x="43864" y="3224989"/>
        <a:ext cx="8095776" cy="810832"/>
      </dsp:txXfrm>
    </dsp:sp>
    <dsp:sp modelId="{5070796F-F0F0-41E0-A9A1-2B0F44962DC7}">
      <dsp:nvSpPr>
        <dsp:cNvPr id="0" name=""/>
        <dsp:cNvSpPr/>
      </dsp:nvSpPr>
      <dsp:spPr>
        <a:xfrm>
          <a:off x="0" y="4136280"/>
          <a:ext cx="8183504" cy="5302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9826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0" i="0" kern="1200" dirty="0"/>
            <a:t>$ cargo --version</a:t>
          </a:r>
          <a:endParaRPr lang="en-US" sz="2000" b="1" kern="1200" dirty="0"/>
        </a:p>
      </dsp:txBody>
      <dsp:txXfrm>
        <a:off x="0" y="4136280"/>
        <a:ext cx="8183504" cy="5302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8EF2D8-0CAC-422E-9963-20467178D162}">
      <dsp:nvSpPr>
        <dsp:cNvPr id="0" name=""/>
        <dsp:cNvSpPr/>
      </dsp:nvSpPr>
      <dsp:spPr>
        <a:xfrm>
          <a:off x="0" y="0"/>
          <a:ext cx="8183504" cy="8208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Navigate to your cloned repository/directory </a:t>
          </a:r>
          <a:r>
            <a:rPr lang="en-US" sz="2200" b="0" i="1" kern="1200" dirty="0">
              <a:solidFill>
                <a:srgbClr val="FFFF00"/>
              </a:solidFill>
            </a:rPr>
            <a:t>(C:\Users\Moruson\Documents\d.moruCSC101\week-3). </a:t>
          </a:r>
          <a:endParaRPr lang="en-US" sz="2200" b="1" i="1" kern="1200" dirty="0">
            <a:solidFill>
              <a:srgbClr val="FFFF00"/>
            </a:solidFill>
          </a:endParaRPr>
        </a:p>
      </dsp:txBody>
      <dsp:txXfrm>
        <a:off x="40073" y="40073"/>
        <a:ext cx="8103358" cy="740748"/>
      </dsp:txXfrm>
    </dsp:sp>
    <dsp:sp modelId="{074A56EA-6475-4676-9C5C-1FFEC201589D}">
      <dsp:nvSpPr>
        <dsp:cNvPr id="0" name=""/>
        <dsp:cNvSpPr/>
      </dsp:nvSpPr>
      <dsp:spPr>
        <a:xfrm>
          <a:off x="0" y="834625"/>
          <a:ext cx="8183504" cy="7406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Then, from the command prompt </a:t>
          </a:r>
          <a:r>
            <a:rPr lang="en-US" sz="2200" b="0" i="1" kern="1200" dirty="0">
              <a:solidFill>
                <a:srgbClr val="FFFF00"/>
              </a:solidFill>
            </a:rPr>
            <a:t>(</a:t>
          </a:r>
          <a:r>
            <a:rPr lang="en-US" sz="2200" b="0" i="1" kern="1200" dirty="0" err="1">
              <a:solidFill>
                <a:srgbClr val="FFFF00"/>
              </a:solidFill>
            </a:rPr>
            <a:t>cmd</a:t>
          </a:r>
          <a:r>
            <a:rPr lang="en-US" sz="2200" b="0" i="1" kern="1200" dirty="0">
              <a:solidFill>
                <a:srgbClr val="FFFF00"/>
              </a:solidFill>
            </a:rPr>
            <a:t>)</a:t>
          </a:r>
          <a:r>
            <a:rPr lang="en-US" sz="2200" b="0" i="0" kern="1200" dirty="0"/>
            <a:t>, run the following:</a:t>
          </a:r>
          <a:endParaRPr lang="en-US" sz="2200" b="1" kern="1200" dirty="0"/>
        </a:p>
      </dsp:txBody>
      <dsp:txXfrm>
        <a:off x="36154" y="870779"/>
        <a:ext cx="8111196" cy="6683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3EB005-09A0-46F0-A27D-FF5EB29884C6}">
      <dsp:nvSpPr>
        <dsp:cNvPr id="0" name=""/>
        <dsp:cNvSpPr/>
      </dsp:nvSpPr>
      <dsp:spPr>
        <a:xfrm>
          <a:off x="309982" y="141"/>
          <a:ext cx="2501758" cy="15010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Rust is a statically typed language.</a:t>
          </a:r>
          <a:endParaRPr lang="en-US" sz="1800" b="1" kern="1200" dirty="0"/>
        </a:p>
      </dsp:txBody>
      <dsp:txXfrm>
        <a:off x="309982" y="141"/>
        <a:ext cx="2501758" cy="1501054"/>
      </dsp:txXfrm>
    </dsp:sp>
    <dsp:sp modelId="{5E082A5A-8B2E-4002-8B5D-03D3E7BC63F4}">
      <dsp:nvSpPr>
        <dsp:cNvPr id="0" name=""/>
        <dsp:cNvSpPr/>
      </dsp:nvSpPr>
      <dsp:spPr>
        <a:xfrm>
          <a:off x="3061916" y="141"/>
          <a:ext cx="2501758" cy="15010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 Every value in Rust is of a certain data type. </a:t>
          </a:r>
          <a:endParaRPr lang="en-US" sz="1800" b="1" kern="1200" dirty="0"/>
        </a:p>
      </dsp:txBody>
      <dsp:txXfrm>
        <a:off x="3061916" y="141"/>
        <a:ext cx="2501758" cy="1501054"/>
      </dsp:txXfrm>
    </dsp:sp>
    <dsp:sp modelId="{57358841-34A5-4573-BF55-0D6DB98B4A8A}">
      <dsp:nvSpPr>
        <dsp:cNvPr id="0" name=""/>
        <dsp:cNvSpPr/>
      </dsp:nvSpPr>
      <dsp:spPr>
        <a:xfrm>
          <a:off x="5813850" y="141"/>
          <a:ext cx="2501758" cy="15010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The compiler can automatically infer data type of the variable based on the value assigned to it.</a:t>
          </a:r>
          <a:endParaRPr lang="en-US" sz="1800" b="1" kern="1200" dirty="0"/>
        </a:p>
      </dsp:txBody>
      <dsp:txXfrm>
        <a:off x="5813850" y="141"/>
        <a:ext cx="2501758" cy="1501054"/>
      </dsp:txXfrm>
    </dsp:sp>
    <dsp:sp modelId="{7FDC9ECD-580B-4FB1-B86F-7DAEC61AF20B}">
      <dsp:nvSpPr>
        <dsp:cNvPr id="0" name=""/>
        <dsp:cNvSpPr/>
      </dsp:nvSpPr>
      <dsp:spPr>
        <a:xfrm>
          <a:off x="309982" y="1751372"/>
          <a:ext cx="2501758" cy="15010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The Type System represents the different types of values supported by the language. </a:t>
          </a:r>
          <a:endParaRPr lang="en-US" sz="1800" b="1" kern="1200" dirty="0"/>
        </a:p>
      </dsp:txBody>
      <dsp:txXfrm>
        <a:off x="309982" y="1751372"/>
        <a:ext cx="2501758" cy="1501054"/>
      </dsp:txXfrm>
    </dsp:sp>
    <dsp:sp modelId="{FAE30594-A6DB-4B15-8C90-EDF7E3217EE6}">
      <dsp:nvSpPr>
        <dsp:cNvPr id="0" name=""/>
        <dsp:cNvSpPr/>
      </dsp:nvSpPr>
      <dsp:spPr>
        <a:xfrm>
          <a:off x="3061916" y="1751372"/>
          <a:ext cx="2501758" cy="15010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The </a:t>
          </a:r>
          <a:r>
            <a:rPr lang="en-US" sz="1800" b="0" i="0" kern="1200" dirty="0"/>
            <a:t>Type System checks validity of the supplied values, before they are stored or manipulated by the program. </a:t>
          </a:r>
          <a:endParaRPr lang="en-US" sz="1800" b="1" kern="1200" dirty="0"/>
        </a:p>
      </dsp:txBody>
      <dsp:txXfrm>
        <a:off x="3061916" y="1751372"/>
        <a:ext cx="2501758" cy="1501054"/>
      </dsp:txXfrm>
    </dsp:sp>
    <dsp:sp modelId="{EBC4BACF-72C6-4193-AFB3-FB13907CC5BB}">
      <dsp:nvSpPr>
        <dsp:cNvPr id="0" name=""/>
        <dsp:cNvSpPr/>
      </dsp:nvSpPr>
      <dsp:spPr>
        <a:xfrm>
          <a:off x="5813850" y="1751372"/>
          <a:ext cx="2501758" cy="15010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This ensures that the code behaves as expected. </a:t>
          </a:r>
          <a:endParaRPr lang="en-US" sz="1800" b="1" kern="1200" dirty="0"/>
        </a:p>
      </dsp:txBody>
      <dsp:txXfrm>
        <a:off x="5813850" y="1751372"/>
        <a:ext cx="2501758" cy="1501054"/>
      </dsp:txXfrm>
    </dsp:sp>
    <dsp:sp modelId="{277978A6-0C3B-44AA-ADDC-4AB3023D5D24}">
      <dsp:nvSpPr>
        <dsp:cNvPr id="0" name=""/>
        <dsp:cNvSpPr/>
      </dsp:nvSpPr>
      <dsp:spPr>
        <a:xfrm>
          <a:off x="3061916" y="3502602"/>
          <a:ext cx="2501758" cy="15010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The </a:t>
          </a:r>
          <a:r>
            <a:rPr lang="en-US" sz="1800" b="0" i="0" kern="1200" dirty="0"/>
            <a:t>Type System further allows for richer code hinting and automated documentation too.</a:t>
          </a:r>
          <a:endParaRPr lang="en-US" sz="1800" b="1" kern="1200" dirty="0"/>
        </a:p>
      </dsp:txBody>
      <dsp:txXfrm>
        <a:off x="3061916" y="3502602"/>
        <a:ext cx="2501758" cy="15010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7DE67F-32B1-4DF3-AB85-10E30FE8CE34}">
      <dsp:nvSpPr>
        <dsp:cNvPr id="0" name=""/>
        <dsp:cNvSpPr/>
      </dsp:nvSpPr>
      <dsp:spPr>
        <a:xfrm>
          <a:off x="0" y="149515"/>
          <a:ext cx="8625591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Rust has four primary scalar types.</a:t>
          </a:r>
          <a:endParaRPr lang="en-US" sz="2800" b="1" kern="1200" dirty="0"/>
        </a:p>
      </dsp:txBody>
      <dsp:txXfrm>
        <a:off x="59399" y="208914"/>
        <a:ext cx="8506793" cy="1098002"/>
      </dsp:txXfrm>
    </dsp:sp>
    <dsp:sp modelId="{0F8EF2D8-0CAC-422E-9963-20467178D162}">
      <dsp:nvSpPr>
        <dsp:cNvPr id="0" name=""/>
        <dsp:cNvSpPr/>
      </dsp:nvSpPr>
      <dsp:spPr>
        <a:xfrm>
          <a:off x="0" y="1553515"/>
          <a:ext cx="8625591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A scalar type represents a single value. For example, 10,3.14,'c'. </a:t>
          </a:r>
          <a:endParaRPr lang="en-US" sz="2800" b="1" kern="1200" dirty="0"/>
        </a:p>
      </dsp:txBody>
      <dsp:txXfrm>
        <a:off x="59399" y="1612914"/>
        <a:ext cx="8506793" cy="1098002"/>
      </dsp:txXfrm>
    </dsp:sp>
    <dsp:sp modelId="{04568099-34BE-4FD8-B2A7-1439E1267536}">
      <dsp:nvSpPr>
        <dsp:cNvPr id="0" name=""/>
        <dsp:cNvSpPr/>
      </dsp:nvSpPr>
      <dsp:spPr>
        <a:xfrm>
          <a:off x="0" y="2770316"/>
          <a:ext cx="8625591" cy="1749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3863" tIns="35560" rIns="199136" bIns="3556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0" i="0" kern="1200" dirty="0"/>
            <a:t>Integer</a:t>
          </a:r>
          <a:endParaRPr lang="en-US" sz="2800" b="1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0" i="0" kern="1200" dirty="0"/>
            <a:t>Floating-point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0" i="0" kern="1200"/>
            <a:t>Booleans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0" i="0" kern="1200" dirty="0"/>
            <a:t>Characters</a:t>
          </a:r>
        </a:p>
      </dsp:txBody>
      <dsp:txXfrm>
        <a:off x="0" y="2770316"/>
        <a:ext cx="8625591" cy="174915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7DE67F-32B1-4DF3-AB85-10E30FE8CE34}">
      <dsp:nvSpPr>
        <dsp:cNvPr id="0" name=""/>
        <dsp:cNvSpPr/>
      </dsp:nvSpPr>
      <dsp:spPr>
        <a:xfrm>
          <a:off x="0" y="54113"/>
          <a:ext cx="8625591" cy="7155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An integer is a number without a fractional component. Simply put, the integer data type is used to represent whole numbers.</a:t>
          </a:r>
          <a:endParaRPr lang="en-US" sz="2000" b="1" kern="1200" dirty="0"/>
        </a:p>
      </dsp:txBody>
      <dsp:txXfrm>
        <a:off x="34930" y="89043"/>
        <a:ext cx="8555731" cy="645686"/>
      </dsp:txXfrm>
    </dsp:sp>
    <dsp:sp modelId="{60B5E3E0-DF57-4799-9863-C87373AA2402}">
      <dsp:nvSpPr>
        <dsp:cNvPr id="0" name=""/>
        <dsp:cNvSpPr/>
      </dsp:nvSpPr>
      <dsp:spPr>
        <a:xfrm>
          <a:off x="0" y="895437"/>
          <a:ext cx="8625591" cy="963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Integers can be further classified as Signed and Unsigned. Signed integers can store both negative and positive values. Unsigned integers can only store positive values. </a:t>
          </a:r>
        </a:p>
      </dsp:txBody>
      <dsp:txXfrm>
        <a:off x="47023" y="942460"/>
        <a:ext cx="8531545" cy="8692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7DE67F-32B1-4DF3-AB85-10E30FE8CE34}">
      <dsp:nvSpPr>
        <dsp:cNvPr id="0" name=""/>
        <dsp:cNvSpPr/>
      </dsp:nvSpPr>
      <dsp:spPr>
        <a:xfrm>
          <a:off x="0" y="0"/>
          <a:ext cx="8625591" cy="8666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Float data type in Rust can be classified as </a:t>
          </a:r>
          <a:r>
            <a:rPr lang="en-US" sz="2000" b="1" i="0" kern="1200" dirty="0">
              <a:solidFill>
                <a:srgbClr val="FFFF00"/>
              </a:solidFill>
            </a:rPr>
            <a:t>f32</a:t>
          </a:r>
          <a:r>
            <a:rPr lang="en-US" sz="2000" b="0" i="0" kern="1200" dirty="0">
              <a:solidFill>
                <a:srgbClr val="FFFF00"/>
              </a:solidFill>
            </a:rPr>
            <a:t> </a:t>
          </a:r>
          <a:r>
            <a:rPr lang="en-US" sz="2000" b="0" i="0" kern="1200" dirty="0"/>
            <a:t>and </a:t>
          </a:r>
          <a:r>
            <a:rPr lang="en-US" sz="2000" b="1" i="0" kern="1200" dirty="0">
              <a:solidFill>
                <a:srgbClr val="FFFF00"/>
              </a:solidFill>
            </a:rPr>
            <a:t>f64</a:t>
          </a:r>
          <a:r>
            <a:rPr lang="en-US" sz="2000" b="0" i="0" kern="1200" dirty="0"/>
            <a:t>. </a:t>
          </a:r>
          <a:endParaRPr lang="en-US" sz="2000" b="1" kern="1200" dirty="0">
            <a:solidFill>
              <a:srgbClr val="FFFF00"/>
            </a:solidFill>
          </a:endParaRPr>
        </a:p>
      </dsp:txBody>
      <dsp:txXfrm>
        <a:off x="42305" y="42305"/>
        <a:ext cx="8540981" cy="782004"/>
      </dsp:txXfrm>
    </dsp:sp>
    <dsp:sp modelId="{224CBD49-B31B-48D9-9687-534AE3A96F7D}">
      <dsp:nvSpPr>
        <dsp:cNvPr id="0" name=""/>
        <dsp:cNvSpPr/>
      </dsp:nvSpPr>
      <dsp:spPr>
        <a:xfrm>
          <a:off x="0" y="1034234"/>
          <a:ext cx="8625591" cy="973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The </a:t>
          </a:r>
          <a:r>
            <a:rPr lang="en-US" sz="2000" b="1" i="0" kern="1200" dirty="0">
              <a:solidFill>
                <a:srgbClr val="FFFF00"/>
              </a:solidFill>
            </a:rPr>
            <a:t>f32</a:t>
          </a:r>
          <a:r>
            <a:rPr lang="en-US" sz="2000" b="0" i="0" kern="1200" dirty="0"/>
            <a:t> type is a single-precision float, and f64 has double precision. The default type is </a:t>
          </a:r>
          <a:r>
            <a:rPr lang="en-US" sz="2000" b="1" i="0" kern="1200" dirty="0">
              <a:solidFill>
                <a:srgbClr val="FFFF00"/>
              </a:solidFill>
            </a:rPr>
            <a:t>f64</a:t>
          </a:r>
          <a:endParaRPr lang="en-US" sz="2000" b="1" kern="1200" dirty="0">
            <a:solidFill>
              <a:srgbClr val="FFFF00"/>
            </a:solidFill>
          </a:endParaRPr>
        </a:p>
      </dsp:txBody>
      <dsp:txXfrm>
        <a:off x="47519" y="1081753"/>
        <a:ext cx="8530553" cy="87840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7DE67F-32B1-4DF3-AB85-10E30FE8CE34}">
      <dsp:nvSpPr>
        <dsp:cNvPr id="0" name=""/>
        <dsp:cNvSpPr/>
      </dsp:nvSpPr>
      <dsp:spPr>
        <a:xfrm>
          <a:off x="0" y="0"/>
          <a:ext cx="8625591" cy="859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Boolean types have two possible values – </a:t>
          </a:r>
          <a:r>
            <a:rPr lang="en-US" sz="2000" b="0" i="1" kern="1200" dirty="0"/>
            <a:t>true</a:t>
          </a:r>
          <a:r>
            <a:rPr lang="en-US" sz="2000" b="0" i="0" kern="1200" dirty="0"/>
            <a:t> or </a:t>
          </a:r>
          <a:r>
            <a:rPr lang="en-US" sz="2000" b="0" i="1" kern="1200" dirty="0"/>
            <a:t>false</a:t>
          </a:r>
          <a:r>
            <a:rPr lang="en-US" sz="2000" b="0" i="0" kern="1200" dirty="0"/>
            <a:t>. Use the </a:t>
          </a:r>
          <a:r>
            <a:rPr lang="en-US" sz="2000" b="1" i="0" kern="1200" dirty="0"/>
            <a:t>bool</a:t>
          </a:r>
          <a:r>
            <a:rPr lang="en-US" sz="2000" b="0" i="0" kern="1200" dirty="0"/>
            <a:t> keyword to declare a </a:t>
          </a:r>
          <a:r>
            <a:rPr lang="en-US" sz="2000" b="0" i="0" kern="1200" dirty="0" err="1"/>
            <a:t>boolean</a:t>
          </a:r>
          <a:r>
            <a:rPr lang="en-US" sz="2000" b="0" i="0" kern="1200" dirty="0"/>
            <a:t> variable.</a:t>
          </a:r>
          <a:endParaRPr lang="en-US" sz="2000" b="1" kern="1200" dirty="0">
            <a:solidFill>
              <a:srgbClr val="FFFF00"/>
            </a:solidFill>
          </a:endParaRPr>
        </a:p>
      </dsp:txBody>
      <dsp:txXfrm>
        <a:off x="41979" y="41979"/>
        <a:ext cx="8541633" cy="77599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7DE67F-32B1-4DF3-AB85-10E30FE8CE34}">
      <dsp:nvSpPr>
        <dsp:cNvPr id="0" name=""/>
        <dsp:cNvSpPr/>
      </dsp:nvSpPr>
      <dsp:spPr>
        <a:xfrm>
          <a:off x="0" y="0"/>
          <a:ext cx="8625591" cy="12659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The character data type in Rust supports numbers, alphabets and special characters. Use the </a:t>
          </a:r>
          <a:r>
            <a:rPr lang="en-US" sz="2000" b="1" i="0" kern="1200" dirty="0"/>
            <a:t>char</a:t>
          </a:r>
          <a:r>
            <a:rPr lang="en-US" sz="2000" b="0" i="0" kern="1200" dirty="0"/>
            <a:t> keyword to declare a variable of character data type. Rust’s char type represents a lot more than just ASCII. </a:t>
          </a:r>
          <a:endParaRPr lang="en-US" sz="2000" b="1" kern="1200" dirty="0">
            <a:solidFill>
              <a:srgbClr val="FFFF00"/>
            </a:solidFill>
          </a:endParaRPr>
        </a:p>
      </dsp:txBody>
      <dsp:txXfrm>
        <a:off x="61799" y="61799"/>
        <a:ext cx="8501993" cy="114236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7DE67F-32B1-4DF3-AB85-10E30FE8CE34}">
      <dsp:nvSpPr>
        <dsp:cNvPr id="0" name=""/>
        <dsp:cNvSpPr/>
      </dsp:nvSpPr>
      <dsp:spPr>
        <a:xfrm>
          <a:off x="0" y="0"/>
          <a:ext cx="8625591" cy="60180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Automatic type casting is not allowed in Rust. Consider the following code snippet. An integer value is assigned to the float variable </a:t>
          </a:r>
          <a:r>
            <a:rPr lang="en-US" sz="1800" b="1" i="1" kern="1200" dirty="0"/>
            <a:t>interest</a:t>
          </a:r>
          <a:r>
            <a:rPr lang="en-US" sz="1800" b="0" i="0" kern="1200" dirty="0"/>
            <a:t>.</a:t>
          </a:r>
          <a:endParaRPr lang="en-US" sz="1800" b="1" kern="1200" dirty="0">
            <a:solidFill>
              <a:srgbClr val="FFFF00"/>
            </a:solidFill>
          </a:endParaRPr>
        </a:p>
      </dsp:txBody>
      <dsp:txXfrm>
        <a:off x="29378" y="29378"/>
        <a:ext cx="8566835" cy="54305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7DE67F-32B1-4DF3-AB85-10E30FE8CE34}">
      <dsp:nvSpPr>
        <dsp:cNvPr id="0" name=""/>
        <dsp:cNvSpPr/>
      </dsp:nvSpPr>
      <dsp:spPr>
        <a:xfrm>
          <a:off x="0" y="0"/>
          <a:ext cx="8625591" cy="859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For easy readability of large numbers, we can use a visual separator _ underscore to separate digits. That is 50,000 can be written as 50_000 .</a:t>
          </a:r>
          <a:endParaRPr lang="en-US" sz="2000" b="1" kern="1200" dirty="0">
            <a:solidFill>
              <a:srgbClr val="FFFF00"/>
            </a:solidFill>
          </a:endParaRPr>
        </a:p>
      </dsp:txBody>
      <dsp:txXfrm>
        <a:off x="41979" y="41979"/>
        <a:ext cx="8541633" cy="77599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7DE67F-32B1-4DF3-AB85-10E30FE8CE34}">
      <dsp:nvSpPr>
        <dsp:cNvPr id="0" name=""/>
        <dsp:cNvSpPr/>
      </dsp:nvSpPr>
      <dsp:spPr>
        <a:xfrm>
          <a:off x="0" y="0"/>
          <a:ext cx="8625591" cy="6457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By default, variables are immutable − read only in Rust. In other words, the variable's value cannot be changed once a value is bound to a variable name.</a:t>
          </a:r>
          <a:endParaRPr lang="en-US" sz="1800" b="1" kern="1200" dirty="0">
            <a:solidFill>
              <a:srgbClr val="FFFF00"/>
            </a:solidFill>
          </a:endParaRPr>
        </a:p>
      </dsp:txBody>
      <dsp:txXfrm>
        <a:off x="31522" y="31522"/>
        <a:ext cx="8562547" cy="58269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1AABDD-F088-47C3-B108-BE452D06DE1E}">
      <dsp:nvSpPr>
        <dsp:cNvPr id="0" name=""/>
        <dsp:cNvSpPr/>
      </dsp:nvSpPr>
      <dsp:spPr>
        <a:xfrm>
          <a:off x="0" y="187"/>
          <a:ext cx="8447913" cy="607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To make a variable mutable, prefix the variable name with </a:t>
          </a:r>
          <a:r>
            <a:rPr lang="en-US" sz="2000" b="1" i="0" kern="1200" dirty="0" err="1">
              <a:solidFill>
                <a:srgbClr val="FFFF00"/>
              </a:solidFill>
            </a:rPr>
            <a:t>mut</a:t>
          </a:r>
          <a:r>
            <a:rPr lang="en-US" sz="2000" b="0" i="0" kern="1200" dirty="0"/>
            <a:t> keyword. The value of a mutable variable can be changed.</a:t>
          </a:r>
          <a:endParaRPr lang="en-US" sz="2000" kern="1200" dirty="0"/>
        </a:p>
      </dsp:txBody>
      <dsp:txXfrm>
        <a:off x="29671" y="29858"/>
        <a:ext cx="8388571" cy="5484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87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793300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3495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a6f4160a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a6f4160a7f_0_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a6f4160a7f_0_0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6406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a6f4160a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a6f4160a7f_0_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a6f4160a7f_0_0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2726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a6f4160a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a6f4160a7f_0_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a6f4160a7f_0_0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5439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a6f4160a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a6f4160a7f_0_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a6f4160a7f_0_0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07972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a6f4160a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a6f4160a7f_0_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a6f4160a7f_0_0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0370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a6f4160a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a6f4160a7f_0_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a6f4160a7f_0_0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6215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a6f4160a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a6f4160a7f_0_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a6f4160a7f_0_0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7290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a6f4160a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a6f4160a7f_0_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a6f4160a7f_0_0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246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a6f4160a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a6f4160a7f_0_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a6f4160a7f_0_0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22022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a6f4160a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a6f4160a7f_0_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a6f4160a7f_0_0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00543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a6f4160a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a6f4160a7f_0_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a6f4160a7f_0_0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6346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a6f4160a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a6f4160a7f_0_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a6f4160a7f_0_0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37972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a6f4160a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a6f4160a7f_0_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a6f4160a7f_0_0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03481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a6f4160a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a6f4160a7f_0_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a6f4160a7f_0_0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52092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a6f4160a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a6f4160a7f_0_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a6f4160a7f_0_0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85635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a6f4160a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a6f4160a7f_0_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a6f4160a7f_0_0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52198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a6f4160a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a6f4160a7f_0_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a6f4160a7f_0_0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0693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a6f4160a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a6f4160a7f_0_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a6f4160a7f_0_0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25803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a6f4160a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a6f4160a7f_0_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a6f4160a7f_0_0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69213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a6f4160a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a6f4160a7f_0_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a6f4160a7f_0_0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6767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 rot="10800000" flipH="1">
            <a:off x="0" y="-2"/>
            <a:ext cx="9144000" cy="4953001"/>
          </a:xfrm>
          <a:prstGeom prst="rect">
            <a:avLst/>
          </a:prstGeom>
          <a:solidFill>
            <a:srgbClr val="000F2E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685800" y="13716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371600" y="3127375"/>
            <a:ext cx="64008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b="1">
                <a:solidFill>
                  <a:schemeClr val="lt1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A9C"/>
              </a:buClr>
              <a:buSzPts val="2800"/>
              <a:buNone/>
              <a:defRPr>
                <a:solidFill>
                  <a:srgbClr val="888A9C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A9C"/>
              </a:buClr>
              <a:buSzPts val="2400"/>
              <a:buNone/>
              <a:defRPr>
                <a:solidFill>
                  <a:srgbClr val="888A9C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>
                <a:solidFill>
                  <a:srgbClr val="888A9C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>
                <a:solidFill>
                  <a:srgbClr val="888A9C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>
                <a:solidFill>
                  <a:srgbClr val="888A9C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>
                <a:solidFill>
                  <a:srgbClr val="888A9C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>
                <a:solidFill>
                  <a:srgbClr val="888A9C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>
                <a:solidFill>
                  <a:srgbClr val="888A9C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30414" y="5281369"/>
            <a:ext cx="2843999" cy="1104862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000F2E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274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Title and Content">
    <p:bg>
      <p:bgRef idx="1001">
        <a:schemeClr val="bg1"/>
      </p:bgRef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000F2E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 rot="10800000" flipH="1">
            <a:off x="-2458" y="1143000"/>
            <a:ext cx="9144000" cy="228600"/>
          </a:xfrm>
          <a:prstGeom prst="rect">
            <a:avLst/>
          </a:prstGeom>
          <a:solidFill>
            <a:srgbClr val="000F2E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body" idx="1"/>
          </p:nvPr>
        </p:nvSpPr>
        <p:spPr>
          <a:xfrm>
            <a:off x="457200" y="1524000"/>
            <a:ext cx="8229600" cy="494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30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Google Shape;29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pic>
        <p:nvPicPr>
          <p:cNvPr id="30" name="Google Shape;30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04167" y="6400800"/>
            <a:ext cx="365760" cy="405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4295" y="6466175"/>
            <a:ext cx="245505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 txBox="1">
            <a:spLocks noGrp="1"/>
          </p:cNvSpPr>
          <p:nvPr>
            <p:ph type="sldNum" idx="12"/>
          </p:nvPr>
        </p:nvSpPr>
        <p:spPr>
          <a:xfrm>
            <a:off x="4296547" y="64008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100" b="1" i="0" u="none" strike="noStrike" cap="none">
                <a:solidFill>
                  <a:srgbClr val="000F2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1100" b="1" i="0" u="none" strike="noStrike" cap="none">
                <a:solidFill>
                  <a:srgbClr val="000F2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1100" b="1" i="0" u="none" strike="noStrike" cap="none">
                <a:solidFill>
                  <a:srgbClr val="000F2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1100" b="1" i="0" u="none" strike="noStrike" cap="none">
                <a:solidFill>
                  <a:srgbClr val="000F2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1100" b="1" i="0" u="none" strike="noStrike" cap="none">
                <a:solidFill>
                  <a:srgbClr val="000F2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1100" b="1" i="0" u="none" strike="noStrike" cap="none">
                <a:solidFill>
                  <a:srgbClr val="000F2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1100" b="1" i="0" u="none" strike="noStrike" cap="none">
                <a:solidFill>
                  <a:srgbClr val="000F2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1100" b="1" i="0" u="none" strike="noStrike" cap="none">
                <a:solidFill>
                  <a:srgbClr val="000F2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1100" b="1" i="0" u="none" strike="noStrike" cap="none">
                <a:solidFill>
                  <a:srgbClr val="000F2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74" r="49256"/>
          <a:stretch/>
        </p:blipFill>
        <p:spPr>
          <a:xfrm>
            <a:off x="6183389" y="1378424"/>
            <a:ext cx="2960611" cy="546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7762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 sz="2000">
                <a:solidFill>
                  <a:srgbClr val="888A9C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A9C"/>
              </a:buClr>
              <a:buSzPts val="1800"/>
              <a:buNone/>
              <a:defRPr sz="1800">
                <a:solidFill>
                  <a:srgbClr val="888A9C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A9C"/>
              </a:buClr>
              <a:buSzPts val="1600"/>
              <a:buNone/>
              <a:defRPr sz="1600">
                <a:solidFill>
                  <a:srgbClr val="888A9C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A9C"/>
              </a:buClr>
              <a:buSzPts val="1400"/>
              <a:buNone/>
              <a:defRPr sz="1400">
                <a:solidFill>
                  <a:srgbClr val="888A9C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A9C"/>
              </a:buClr>
              <a:buSzPts val="1400"/>
              <a:buNone/>
              <a:defRPr sz="1400">
                <a:solidFill>
                  <a:srgbClr val="888A9C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A9C"/>
              </a:buClr>
              <a:buSzPts val="1400"/>
              <a:buNone/>
              <a:defRPr sz="1400">
                <a:solidFill>
                  <a:srgbClr val="888A9C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A9C"/>
              </a:buClr>
              <a:buSzPts val="1400"/>
              <a:buNone/>
              <a:defRPr sz="1400">
                <a:solidFill>
                  <a:srgbClr val="888A9C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A9C"/>
              </a:buClr>
              <a:buSzPts val="1400"/>
              <a:buNone/>
              <a:defRPr sz="1400">
                <a:solidFill>
                  <a:srgbClr val="888A9C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A9C"/>
              </a:buClr>
              <a:buSzPts val="1400"/>
              <a:buNone/>
              <a:defRPr sz="1400">
                <a:solidFill>
                  <a:srgbClr val="888A9C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6" name="Google Shape;3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37" name="Google Shape;3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38" name="Google Shape;3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88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3" name="Google Shape;4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44" name="Google Shape;4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74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2" name="Google Shape;5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3" name="Google Shape;5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4" name="Google Shape;5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792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8" name="Google Shape;5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036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62" name="Google Shape;6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871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768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76" name="Google Shape;7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896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1" name="Google Shape;8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2" name="Google Shape;8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72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7" name="Google Shape;8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8" name="Google Shape;8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9" name="Google Shape;8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692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53640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17.pn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7.xml"/><Relationship Id="rId3" Type="http://schemas.openxmlformats.org/officeDocument/2006/relationships/image" Target="../media/image18.png"/><Relationship Id="rId7" Type="http://schemas.openxmlformats.org/officeDocument/2006/relationships/diagramQuickStyle" Target="../diagrams/quickStyle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7.xml"/><Relationship Id="rId5" Type="http://schemas.openxmlformats.org/officeDocument/2006/relationships/diagramData" Target="../diagrams/data7.xml"/><Relationship Id="rId4" Type="http://schemas.openxmlformats.org/officeDocument/2006/relationships/image" Target="../media/image19.png"/><Relationship Id="rId9" Type="http://schemas.microsoft.com/office/2007/relationships/diagramDrawing" Target="../diagrams/drawing7.xm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20.png"/><Relationship Id="rId7" Type="http://schemas.openxmlformats.org/officeDocument/2006/relationships/diagramColors" Target="../diagrams/colors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Relationship Id="rId9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Relationship Id="rId9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openxmlformats.org/officeDocument/2006/relationships/image" Target="../media/image25.png"/><Relationship Id="rId7" Type="http://schemas.openxmlformats.org/officeDocument/2006/relationships/diagramColors" Target="../diagrams/colors1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Relationship Id="rId9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2.xml"/><Relationship Id="rId3" Type="http://schemas.openxmlformats.org/officeDocument/2006/relationships/image" Target="../media/image27.png"/><Relationship Id="rId7" Type="http://schemas.openxmlformats.org/officeDocument/2006/relationships/diagramQuickStyle" Target="../diagrams/quickStyle1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2.xml"/><Relationship Id="rId5" Type="http://schemas.openxmlformats.org/officeDocument/2006/relationships/diagramData" Target="../diagrams/data12.xml"/><Relationship Id="rId4" Type="http://schemas.openxmlformats.org/officeDocument/2006/relationships/image" Target="../media/image28.png"/><Relationship Id="rId9" Type="http://schemas.microsoft.com/office/2007/relationships/diagramDrawing" Target="../diagrams/drawing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>
            <a:spLocks noGrp="1"/>
          </p:cNvSpPr>
          <p:nvPr>
            <p:ph type="ctrTitle"/>
          </p:nvPr>
        </p:nvSpPr>
        <p:spPr>
          <a:xfrm>
            <a:off x="0" y="1065670"/>
            <a:ext cx="9144001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4000" dirty="0"/>
              <a:t>Rust Cargo &amp; Data Types</a:t>
            </a:r>
            <a:br>
              <a:rPr lang="en-US" sz="4000" b="1" dirty="0"/>
            </a:br>
            <a:endParaRPr sz="4000" dirty="0"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1"/>
          </p:nvPr>
        </p:nvSpPr>
        <p:spPr>
          <a:xfrm>
            <a:off x="1371600" y="2535695"/>
            <a:ext cx="64008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b="1" i="1" dirty="0"/>
              <a:t>Week 3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What is Cargo?</a:t>
            </a:r>
            <a:endParaRPr lang="en-GB" sz="4000" dirty="0"/>
          </a:p>
        </p:txBody>
      </p: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972840991"/>
              </p:ext>
            </p:extLst>
          </p:nvPr>
        </p:nvGraphicFramePr>
        <p:xfrm>
          <a:off x="503296" y="1596736"/>
          <a:ext cx="8183504" cy="46689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9028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F8EF2D8-0CAC-422E-9963-20467178D1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0F8EF2D8-0CAC-422E-9963-20467178D1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0F8EF2D8-0CAC-422E-9963-20467178D1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0E3567A-AD90-41BC-8F9D-90A54862E8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graphicEl>
                                              <a:dgm id="{E0E3567A-AD90-41BC-8F9D-90A54862E8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graphicEl>
                                              <a:dgm id="{E0E3567A-AD90-41BC-8F9D-90A54862E8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B0600FC-D430-41C0-82E9-5B32F17177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graphicEl>
                                              <a:dgm id="{1B0600FC-D430-41C0-82E9-5B32F17177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graphicEl>
                                              <a:dgm id="{1B0600FC-D430-41C0-82E9-5B32F17177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68F33CA-042D-457D-B8F4-6240CB339C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A68F33CA-042D-457D-B8F4-6240CB339C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A68F33CA-042D-457D-B8F4-6240CB339C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58C654B-9C50-4995-A6B9-9B752E6B93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graphicEl>
                                              <a:dgm id="{558C654B-9C50-4995-A6B9-9B752E6B93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graphicEl>
                                              <a:dgm id="{558C654B-9C50-4995-A6B9-9B752E6B93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070796F-F0F0-41E0-A9A1-2B0F44962D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graphicEl>
                                              <a:dgm id="{5070796F-F0F0-41E0-A9A1-2B0F44962D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graphicEl>
                                              <a:dgm id="{5070796F-F0F0-41E0-A9A1-2B0F44962D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Project with Cargo</a:t>
            </a:r>
          </a:p>
        </p:txBody>
      </p: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969983655"/>
              </p:ext>
            </p:extLst>
          </p:nvPr>
        </p:nvGraphicFramePr>
        <p:xfrm>
          <a:off x="503296" y="1684626"/>
          <a:ext cx="8183504" cy="15759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8"/>
          <a:srcRect l="8047" t="13731" r="42793" b="56534"/>
          <a:stretch/>
        </p:blipFill>
        <p:spPr>
          <a:xfrm>
            <a:off x="503295" y="3582264"/>
            <a:ext cx="8288159" cy="281853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3295" y="4502729"/>
            <a:ext cx="6798050" cy="2632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7300635" y="4641722"/>
            <a:ext cx="44863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49271" y="4461613"/>
            <a:ext cx="1394729" cy="307777"/>
          </a:xfrm>
          <a:prstGeom prst="rect">
            <a:avLst/>
          </a:prstGeom>
          <a:solidFill>
            <a:srgbClr val="003300">
              <a:alpha val="67451"/>
            </a:srgb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Create Project </a:t>
            </a:r>
          </a:p>
        </p:txBody>
      </p:sp>
    </p:spTree>
    <p:extLst>
      <p:ext uri="{BB962C8B-B14F-4D97-AF65-F5344CB8AC3E}">
        <p14:creationId xmlns:p14="http://schemas.microsoft.com/office/powerpoint/2010/main" val="1829905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F8EF2D8-0CAC-422E-9963-20467178D1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0F8EF2D8-0CAC-422E-9963-20467178D1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0F8EF2D8-0CAC-422E-9963-20467178D1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74A56EA-6475-4676-9C5C-1FFEC20158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graphicEl>
                                              <a:dgm id="{074A56EA-6475-4676-9C5C-1FFEC20158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graphicEl>
                                              <a:dgm id="{074A56EA-6475-4676-9C5C-1FFEC20158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Project with Cargo</a:t>
            </a:r>
          </a:p>
        </p:txBody>
      </p: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2721" t="19224" r="43399" b="41761"/>
          <a:stretch/>
        </p:blipFill>
        <p:spPr>
          <a:xfrm>
            <a:off x="457200" y="1482436"/>
            <a:ext cx="7010400" cy="285403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2027865" y="3505202"/>
            <a:ext cx="4918364" cy="5264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166" t="8428" r="38820" b="67140"/>
          <a:stretch/>
        </p:blipFill>
        <p:spPr>
          <a:xfrm>
            <a:off x="457200" y="4523509"/>
            <a:ext cx="7938654" cy="178723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4509654"/>
            <a:ext cx="1570665" cy="3255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4913074" y="3089564"/>
            <a:ext cx="44863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61709" y="2909454"/>
            <a:ext cx="3491346" cy="369332"/>
          </a:xfrm>
          <a:prstGeom prst="rect">
            <a:avLst/>
          </a:prstGeom>
          <a:solidFill>
            <a:srgbClr val="003300">
              <a:alpha val="67451"/>
            </a:srgb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FF00"/>
                </a:solidFill>
              </a:rPr>
              <a:t>Open practice_1 folder created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2031329" y="4627420"/>
            <a:ext cx="44863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479963" y="4447310"/>
            <a:ext cx="5514109" cy="646331"/>
          </a:xfrm>
          <a:prstGeom prst="rect">
            <a:avLst/>
          </a:prstGeom>
          <a:solidFill>
            <a:srgbClr val="003300">
              <a:alpha val="67451"/>
            </a:srgb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FF00"/>
                </a:solidFill>
              </a:rPr>
              <a:t>Open the </a:t>
            </a:r>
            <a:r>
              <a:rPr lang="en-US" sz="1800" dirty="0" err="1">
                <a:solidFill>
                  <a:srgbClr val="FFFF00"/>
                </a:solidFill>
              </a:rPr>
              <a:t>Cargo.toml</a:t>
            </a:r>
            <a:r>
              <a:rPr lang="en-US" sz="1800" dirty="0">
                <a:solidFill>
                  <a:srgbClr val="FFFF00"/>
                </a:solidFill>
              </a:rPr>
              <a:t> file with notepad </a:t>
            </a:r>
          </a:p>
          <a:p>
            <a:r>
              <a:rPr lang="en-US" sz="1800" dirty="0">
                <a:solidFill>
                  <a:srgbClr val="FFFF00"/>
                </a:solidFill>
              </a:rPr>
              <a:t>(The </a:t>
            </a:r>
            <a:r>
              <a:rPr lang="en-US" sz="1800" b="1" i="1" dirty="0">
                <a:solidFill>
                  <a:schemeClr val="bg1"/>
                </a:solidFill>
              </a:rPr>
              <a:t>.</a:t>
            </a:r>
            <a:r>
              <a:rPr lang="en-US" sz="1800" b="1" i="1" dirty="0" err="1">
                <a:solidFill>
                  <a:schemeClr val="bg1"/>
                </a:solidFill>
              </a:rPr>
              <a:t>toml</a:t>
            </a:r>
            <a:r>
              <a:rPr lang="en-US" sz="1800" b="1" i="1" dirty="0">
                <a:solidFill>
                  <a:schemeClr val="bg1"/>
                </a:solidFill>
              </a:rPr>
              <a:t> </a:t>
            </a:r>
            <a:r>
              <a:rPr lang="en-US" sz="1800" dirty="0">
                <a:solidFill>
                  <a:srgbClr val="FFFF00"/>
                </a:solidFill>
              </a:rPr>
              <a:t>file is a Rust configuration file)</a:t>
            </a:r>
          </a:p>
        </p:txBody>
      </p:sp>
    </p:spTree>
    <p:extLst>
      <p:ext uri="{BB962C8B-B14F-4D97-AF65-F5344CB8AC3E}">
        <p14:creationId xmlns:p14="http://schemas.microsoft.com/office/powerpoint/2010/main" val="1176833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Project with Cargo</a:t>
            </a:r>
          </a:p>
        </p:txBody>
      </p: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027865" y="3505202"/>
            <a:ext cx="4918364" cy="5264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11773" t="16193" r="20078" b="46307"/>
          <a:stretch/>
        </p:blipFill>
        <p:spPr>
          <a:xfrm>
            <a:off x="138545" y="1492829"/>
            <a:ext cx="8866909" cy="27432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l="17205" t="5019" r="38542" b="77368"/>
          <a:stretch/>
        </p:blipFill>
        <p:spPr>
          <a:xfrm>
            <a:off x="138546" y="4447310"/>
            <a:ext cx="8729684" cy="195349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63236" y="4598844"/>
            <a:ext cx="1570665" cy="3255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2239147" y="3685312"/>
            <a:ext cx="44863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687782" y="3505202"/>
            <a:ext cx="2632364" cy="369332"/>
          </a:xfrm>
          <a:prstGeom prst="rect">
            <a:avLst/>
          </a:prstGeom>
          <a:solidFill>
            <a:srgbClr val="003300">
              <a:alpha val="67451"/>
            </a:srgb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FF00"/>
                </a:solidFill>
              </a:rPr>
              <a:t>Open the </a:t>
            </a:r>
            <a:r>
              <a:rPr lang="en-US" sz="1800" b="1" i="1" dirty="0">
                <a:solidFill>
                  <a:schemeClr val="bg1"/>
                </a:solidFill>
              </a:rPr>
              <a:t>main.rs</a:t>
            </a:r>
            <a:r>
              <a:rPr lang="en-US" sz="1800" dirty="0">
                <a:solidFill>
                  <a:srgbClr val="FFFF00"/>
                </a:solidFill>
              </a:rPr>
              <a:t> file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4228912" y="5404102"/>
            <a:ext cx="448635" cy="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677547" y="5219436"/>
            <a:ext cx="3327641" cy="369332"/>
          </a:xfrm>
          <a:prstGeom prst="rect">
            <a:avLst/>
          </a:prstGeom>
          <a:solidFill>
            <a:srgbClr val="003300">
              <a:alpha val="67451"/>
            </a:srgb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FF00"/>
                </a:solidFill>
              </a:rPr>
              <a:t>Code created automatically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299" y="2918115"/>
            <a:ext cx="4294720" cy="3498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5204019" y="3078725"/>
            <a:ext cx="44863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52654" y="2898615"/>
            <a:ext cx="1939637" cy="369332"/>
          </a:xfrm>
          <a:prstGeom prst="rect">
            <a:avLst/>
          </a:prstGeom>
          <a:solidFill>
            <a:srgbClr val="003300">
              <a:alpha val="67451"/>
            </a:srgb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FF00"/>
                </a:solidFill>
              </a:rPr>
              <a:t>Open </a:t>
            </a:r>
            <a:r>
              <a:rPr lang="en-US" sz="1800" b="1" i="1" dirty="0" err="1">
                <a:solidFill>
                  <a:schemeClr val="bg1"/>
                </a:solidFill>
              </a:rPr>
              <a:t>src</a:t>
            </a:r>
            <a:r>
              <a:rPr lang="en-US" sz="1800" dirty="0">
                <a:solidFill>
                  <a:srgbClr val="FFFF00"/>
                </a:solidFill>
              </a:rPr>
              <a:t> folder </a:t>
            </a:r>
          </a:p>
        </p:txBody>
      </p:sp>
    </p:spTree>
    <p:extLst>
      <p:ext uri="{BB962C8B-B14F-4D97-AF65-F5344CB8AC3E}">
        <p14:creationId xmlns:p14="http://schemas.microsoft.com/office/powerpoint/2010/main" val="3325677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Cargo Project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8047" t="14110" r="37408" b="39110"/>
          <a:stretch/>
        </p:blipFill>
        <p:spPr>
          <a:xfrm>
            <a:off x="166914" y="1644365"/>
            <a:ext cx="8810171" cy="4248144"/>
          </a:xfrm>
          <a:prstGeom prst="rect">
            <a:avLst/>
          </a:prstGeom>
        </p:spPr>
      </p:pic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66912" y="3430612"/>
            <a:ext cx="6727373" cy="2788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7201725" y="3945949"/>
            <a:ext cx="1622961" cy="338554"/>
          </a:xfrm>
          <a:prstGeom prst="rect">
            <a:avLst/>
          </a:prstGeom>
          <a:solidFill>
            <a:srgbClr val="003300">
              <a:alpha val="67451"/>
            </a:srgb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FF00"/>
                </a:solidFill>
              </a:rPr>
              <a:t>Build Project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6913" y="2449776"/>
            <a:ext cx="6393543" cy="3498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6588813" y="2610386"/>
            <a:ext cx="44863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037449" y="2430276"/>
            <a:ext cx="1787238" cy="338554"/>
          </a:xfrm>
          <a:prstGeom prst="rect">
            <a:avLst/>
          </a:prstGeom>
          <a:solidFill>
            <a:srgbClr val="003300">
              <a:alpha val="67451"/>
            </a:srgb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FF00"/>
                </a:solidFill>
              </a:rPr>
              <a:t>Create Project 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5899384" y="3201185"/>
            <a:ext cx="44863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48019" y="3021075"/>
            <a:ext cx="2338781" cy="338554"/>
          </a:xfrm>
          <a:prstGeom prst="rect">
            <a:avLst/>
          </a:prstGeom>
          <a:solidFill>
            <a:srgbClr val="003300">
              <a:alpha val="67451"/>
            </a:srgb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FF00"/>
                </a:solidFill>
              </a:rPr>
              <a:t>Change to Directory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6913" y="3035380"/>
            <a:ext cx="5732471" cy="3498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Elbow Connector 6"/>
          <p:cNvCxnSpPr>
            <a:stCxn id="8" idx="3"/>
            <a:endCxn id="13" idx="1"/>
          </p:cNvCxnSpPr>
          <p:nvPr/>
        </p:nvCxnSpPr>
        <p:spPr>
          <a:xfrm>
            <a:off x="6894285" y="3570045"/>
            <a:ext cx="307440" cy="545181"/>
          </a:xfrm>
          <a:prstGeom prst="bentConnector3">
            <a:avLst>
              <a:gd name="adj1" fmla="val 50000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26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8057" t="14237" r="37679" b="34771"/>
          <a:stretch/>
        </p:blipFill>
        <p:spPr>
          <a:xfrm>
            <a:off x="166911" y="1644365"/>
            <a:ext cx="8783125" cy="46403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a Cargo Project</a:t>
            </a:r>
          </a:p>
        </p:txBody>
      </p: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6912" y="4175920"/>
            <a:ext cx="6727373" cy="2788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201725" y="4691257"/>
            <a:ext cx="1622961" cy="338554"/>
          </a:xfrm>
          <a:prstGeom prst="rect">
            <a:avLst/>
          </a:prstGeom>
          <a:solidFill>
            <a:srgbClr val="003300">
              <a:alpha val="67451"/>
            </a:srgb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FF00"/>
                </a:solidFill>
              </a:rPr>
              <a:t>Run Project</a:t>
            </a:r>
          </a:p>
        </p:txBody>
      </p:sp>
      <p:cxnSp>
        <p:nvCxnSpPr>
          <p:cNvPr id="22" name="Elbow Connector 21"/>
          <p:cNvCxnSpPr>
            <a:stCxn id="15" idx="3"/>
            <a:endCxn id="16" idx="1"/>
          </p:cNvCxnSpPr>
          <p:nvPr/>
        </p:nvCxnSpPr>
        <p:spPr>
          <a:xfrm>
            <a:off x="6894285" y="4315353"/>
            <a:ext cx="307440" cy="545181"/>
          </a:xfrm>
          <a:prstGeom prst="bentConnector3">
            <a:avLst>
              <a:gd name="adj1" fmla="val 50000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684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0069" t="16003" r="23446" b="18656"/>
          <a:stretch/>
        </p:blipFill>
        <p:spPr>
          <a:xfrm>
            <a:off x="241607" y="1620981"/>
            <a:ext cx="8650526" cy="477981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 Compiled Files</a:t>
            </a:r>
          </a:p>
        </p:txBody>
      </p: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828800" y="5071376"/>
            <a:ext cx="5065485" cy="2945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400380" y="5007806"/>
            <a:ext cx="1230999" cy="338554"/>
          </a:xfrm>
          <a:prstGeom prst="rect">
            <a:avLst/>
          </a:prstGeom>
          <a:solidFill>
            <a:srgbClr val="003300">
              <a:alpha val="67451"/>
            </a:srgb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chemeClr val="bg1"/>
                </a:solidFill>
              </a:rPr>
              <a:t>.exe </a:t>
            </a:r>
            <a:r>
              <a:rPr lang="en-US" sz="1600" b="1" dirty="0">
                <a:solidFill>
                  <a:srgbClr val="FFFF00"/>
                </a:solidFill>
              </a:rPr>
              <a:t>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3184" y="3063480"/>
            <a:ext cx="5488562" cy="3170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6894285" y="5168530"/>
            <a:ext cx="44863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76440" y="3041955"/>
            <a:ext cx="1230999" cy="338554"/>
          </a:xfrm>
          <a:prstGeom prst="rect">
            <a:avLst/>
          </a:prstGeom>
          <a:solidFill>
            <a:srgbClr val="003300">
              <a:alpha val="67451"/>
            </a:srgb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chemeClr val="bg1"/>
                </a:solidFill>
              </a:rPr>
              <a:t>Track </a:t>
            </a:r>
            <a:r>
              <a:rPr lang="en-US" sz="1600" b="1" dirty="0">
                <a:solidFill>
                  <a:srgbClr val="FFFF00"/>
                </a:solidFill>
              </a:rPr>
              <a:t>file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6698055" y="3202679"/>
            <a:ext cx="44863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655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What is a Data Type?</a:t>
            </a:r>
            <a:endParaRPr lang="en-GB" sz="4000" dirty="0"/>
          </a:p>
        </p:txBody>
      </p: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834363561"/>
              </p:ext>
            </p:extLst>
          </p:nvPr>
        </p:nvGraphicFramePr>
        <p:xfrm>
          <a:off x="259204" y="1397001"/>
          <a:ext cx="8625591" cy="500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53EB005-09A0-46F0-A27D-FF5EB29884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153EB005-09A0-46F0-A27D-FF5EB29884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153EB005-09A0-46F0-A27D-FF5EB29884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E082A5A-8B2E-4002-8B5D-03D3E7BC63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graphicEl>
                                              <a:dgm id="{5E082A5A-8B2E-4002-8B5D-03D3E7BC63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graphicEl>
                                              <a:dgm id="{5E082A5A-8B2E-4002-8B5D-03D3E7BC63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7358841-34A5-4573-BF55-0D6DB98B4A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graphicEl>
                                              <a:dgm id="{57358841-34A5-4573-BF55-0D6DB98B4A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graphicEl>
                                              <a:dgm id="{57358841-34A5-4573-BF55-0D6DB98B4A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FDC9ECD-580B-4FB1-B86F-7DAEC61AF2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7FDC9ECD-580B-4FB1-B86F-7DAEC61AF2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7FDC9ECD-580B-4FB1-B86F-7DAEC61AF2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AE30594-A6DB-4B15-8C90-EDF7E3217E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graphicEl>
                                              <a:dgm id="{FAE30594-A6DB-4B15-8C90-EDF7E3217E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graphicEl>
                                              <a:dgm id="{FAE30594-A6DB-4B15-8C90-EDF7E3217E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BC4BACF-72C6-4193-AFB3-FB13907CC5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graphicEl>
                                              <a:dgm id="{EBC4BACF-72C6-4193-AFB3-FB13907CC5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graphicEl>
                                              <a:dgm id="{EBC4BACF-72C6-4193-AFB3-FB13907CC5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77978A6-0C3B-44AA-ADDC-4AB3023D5D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277978A6-0C3B-44AA-ADDC-4AB3023D5D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277978A6-0C3B-44AA-ADDC-4AB3023D5D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Rust Data (Scalar) Type?</a:t>
            </a:r>
            <a:endParaRPr lang="en-GB" sz="4000" dirty="0"/>
          </a:p>
        </p:txBody>
      </p: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554248878"/>
              </p:ext>
            </p:extLst>
          </p:nvPr>
        </p:nvGraphicFramePr>
        <p:xfrm>
          <a:off x="259204" y="1513609"/>
          <a:ext cx="8625591" cy="4668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88533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77DE67F-32B1-4DF3-AB85-10E30FE8C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E77DE67F-32B1-4DF3-AB85-10E30FE8C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E77DE67F-32B1-4DF3-AB85-10E30FE8C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F8EF2D8-0CAC-422E-9963-20467178D1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graphicEl>
                                              <a:dgm id="{0F8EF2D8-0CAC-422E-9963-20467178D1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graphicEl>
                                              <a:dgm id="{0F8EF2D8-0CAC-422E-9963-20467178D1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4568099-34BE-4FD8-B2A7-1439E12675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graphicEl>
                                              <a:dgm id="{04568099-34BE-4FD8-B2A7-1439E12675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graphicEl>
                                              <a:dgm id="{04568099-34BE-4FD8-B2A7-1439E12675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Declare Variables</a:t>
            </a:r>
            <a:endParaRPr lang="en-GB" sz="4000" dirty="0"/>
          </a:p>
        </p:txBody>
      </p: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17097" t="5208" r="22315" b="59943"/>
          <a:stretch/>
        </p:blipFill>
        <p:spPr>
          <a:xfrm>
            <a:off x="122974" y="1378946"/>
            <a:ext cx="7883237" cy="25492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5768" y="1081073"/>
            <a:ext cx="4992708" cy="4286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i="1" dirty="0"/>
              <a:t>Practice 1: </a:t>
            </a:r>
            <a:r>
              <a:rPr lang="en-US" sz="1600" b="1" i="1" dirty="0">
                <a:solidFill>
                  <a:srgbClr val="FFFF00"/>
                </a:solidFill>
              </a:rPr>
              <a:t>week-3/practice_1/src/main.rs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2974" y="4507455"/>
            <a:ext cx="1154244" cy="36244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i="1" dirty="0">
                <a:solidFill>
                  <a:schemeClr val="bg1"/>
                </a:solidFill>
              </a:rPr>
              <a:t>Output: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8152" t="16661" r="30620" b="50663"/>
          <a:stretch/>
        </p:blipFill>
        <p:spPr>
          <a:xfrm>
            <a:off x="122974" y="4170218"/>
            <a:ext cx="7966363" cy="239032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22974" y="3928182"/>
            <a:ext cx="1154244" cy="36244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i="1" dirty="0">
                <a:solidFill>
                  <a:schemeClr val="bg1"/>
                </a:solidFill>
              </a:rPr>
              <a:t>Output: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768" y="4302076"/>
            <a:ext cx="6393543" cy="2867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6513814" y="4399618"/>
            <a:ext cx="44863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962449" y="4219508"/>
            <a:ext cx="1787238" cy="338554"/>
          </a:xfrm>
          <a:prstGeom prst="rect">
            <a:avLst/>
          </a:prstGeom>
          <a:solidFill>
            <a:srgbClr val="003300">
              <a:alpha val="67451"/>
            </a:srgb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FF00"/>
                </a:solidFill>
              </a:rPr>
              <a:t>Build Project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768" y="4923574"/>
            <a:ext cx="6393543" cy="2867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6513814" y="5021116"/>
            <a:ext cx="44863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962449" y="4841006"/>
            <a:ext cx="1787238" cy="338554"/>
          </a:xfrm>
          <a:prstGeom prst="rect">
            <a:avLst/>
          </a:prstGeom>
          <a:solidFill>
            <a:srgbClr val="003300">
              <a:alpha val="67451"/>
            </a:srgb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FF00"/>
                </a:solidFill>
              </a:rPr>
              <a:t>Run Project </a:t>
            </a:r>
          </a:p>
        </p:txBody>
      </p:sp>
    </p:spTree>
    <p:extLst>
      <p:ext uri="{BB962C8B-B14F-4D97-AF65-F5344CB8AC3E}">
        <p14:creationId xmlns:p14="http://schemas.microsoft.com/office/powerpoint/2010/main" val="111851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Integer Data Type</a:t>
            </a:r>
            <a:endParaRPr lang="en-GB" sz="4000" dirty="0"/>
          </a:p>
        </p:txBody>
      </p: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27043918"/>
              </p:ext>
            </p:extLst>
          </p:nvPr>
        </p:nvGraphicFramePr>
        <p:xfrm>
          <a:off x="259204" y="1449821"/>
          <a:ext cx="8625591" cy="2025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923028"/>
              </p:ext>
            </p:extLst>
          </p:nvPr>
        </p:nvGraphicFramePr>
        <p:xfrm>
          <a:off x="457199" y="3657917"/>
          <a:ext cx="8229600" cy="256032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69935027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3835615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9543504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8096299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dirty="0">
                          <a:effectLst/>
                        </a:rPr>
                        <a:t>Sr. No.</a:t>
                      </a:r>
                    </a:p>
                  </a:txBody>
                  <a:tcPr marL="76200" marR="76200" marT="76200" marB="762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dirty="0">
                          <a:effectLst/>
                        </a:rPr>
                        <a:t>Size</a:t>
                      </a:r>
                    </a:p>
                  </a:txBody>
                  <a:tcPr marL="76200" marR="76200" marT="76200" marB="762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dirty="0">
                          <a:effectLst/>
                        </a:rPr>
                        <a:t>Signed</a:t>
                      </a:r>
                    </a:p>
                  </a:txBody>
                  <a:tcPr marL="76200" marR="76200" marT="76200" marB="762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dirty="0">
                          <a:effectLst/>
                        </a:rPr>
                        <a:t>Unsigned</a:t>
                      </a:r>
                    </a:p>
                  </a:txBody>
                  <a:tcPr marL="76200" marR="76200" marT="76200" marB="7620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141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</a:rPr>
                        <a:t>8 bit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</a:rPr>
                        <a:t>i8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u8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24443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2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16 bit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</a:rPr>
                        <a:t>i16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u16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74084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3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32 bit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</a:rPr>
                        <a:t>i32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u32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869602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4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64 bit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</a:rPr>
                        <a:t>i64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</a:rPr>
                        <a:t>u64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61682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5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128 bit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i128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</a:rPr>
                        <a:t>u128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686182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14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77DE67F-32B1-4DF3-AB85-10E30FE8C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E77DE67F-32B1-4DF3-AB85-10E30FE8C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E77DE67F-32B1-4DF3-AB85-10E30FE8C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0B5E3E0-DF57-4799-9863-C87373AA24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graphicEl>
                                              <a:dgm id="{60B5E3E0-DF57-4799-9863-C87373AA24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graphicEl>
                                              <a:dgm id="{60B5E3E0-DF57-4799-9863-C87373AA24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17097" t="5398" r="15918" b="65996"/>
          <a:stretch/>
        </p:blipFill>
        <p:spPr>
          <a:xfrm>
            <a:off x="137687" y="1869819"/>
            <a:ext cx="8715368" cy="20925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Declare Variables</a:t>
            </a:r>
            <a:endParaRPr lang="en-GB" sz="40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/>
          <a:srcRect l="8152" t="16761" r="24857" b="51610"/>
          <a:stretch/>
        </p:blipFill>
        <p:spPr>
          <a:xfrm>
            <a:off x="122974" y="4293528"/>
            <a:ext cx="8716226" cy="2313710"/>
          </a:xfrm>
          <a:prstGeom prst="rect">
            <a:avLst/>
          </a:prstGeom>
        </p:spPr>
      </p:pic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24909" y="1543987"/>
            <a:ext cx="5347636" cy="4286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i="1" dirty="0"/>
              <a:t>Practice 2: </a:t>
            </a:r>
            <a:r>
              <a:rPr lang="en-US" sz="1600" b="1" i="1" dirty="0">
                <a:solidFill>
                  <a:srgbClr val="FFFF00"/>
                </a:solidFill>
              </a:rPr>
              <a:t>week-3/practice_2/src/main.rs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2974" y="4051590"/>
            <a:ext cx="1154244" cy="36244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i="1" dirty="0">
                <a:solidFill>
                  <a:schemeClr val="bg1"/>
                </a:solidFill>
              </a:rPr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050029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7202" t="5018" r="29874" b="68420"/>
          <a:stretch/>
        </p:blipFill>
        <p:spPr>
          <a:xfrm>
            <a:off x="276951" y="4053523"/>
            <a:ext cx="8626978" cy="24343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Float Data Type</a:t>
            </a:r>
            <a:endParaRPr lang="en-GB" sz="4000" dirty="0"/>
          </a:p>
        </p:txBody>
      </p: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086290896"/>
              </p:ext>
            </p:extLst>
          </p:nvPr>
        </p:nvGraphicFramePr>
        <p:xfrm>
          <a:off x="276951" y="1529632"/>
          <a:ext cx="8625591" cy="2025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4699" y="3777272"/>
            <a:ext cx="6189228" cy="4286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i="1" dirty="0"/>
              <a:t>Practice 3: </a:t>
            </a:r>
            <a:r>
              <a:rPr lang="en-US" sz="1600" b="1" i="1" dirty="0">
                <a:solidFill>
                  <a:srgbClr val="FFFF00"/>
                </a:solidFill>
              </a:rPr>
              <a:t>week-3/practice_3/src/main.rs</a:t>
            </a:r>
          </a:p>
        </p:txBody>
      </p:sp>
    </p:spTree>
    <p:extLst>
      <p:ext uri="{BB962C8B-B14F-4D97-AF65-F5344CB8AC3E}">
        <p14:creationId xmlns:p14="http://schemas.microsoft.com/office/powerpoint/2010/main" val="2161625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77DE67F-32B1-4DF3-AB85-10E30FE8C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E77DE67F-32B1-4DF3-AB85-10E30FE8C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E77DE67F-32B1-4DF3-AB85-10E30FE8C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24CBD49-B31B-48D9-9687-534AE3A96F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graphicEl>
                                              <a:dgm id="{224CBD49-B31B-48D9-9687-534AE3A96F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graphicEl>
                                              <a:dgm id="{224CBD49-B31B-48D9-9687-534AE3A96F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Boolean Data Type</a:t>
            </a:r>
            <a:endParaRPr lang="en-GB" sz="4000" dirty="0"/>
          </a:p>
        </p:txBody>
      </p: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l="8046" t="16382" r="26255" b="56913"/>
          <a:stretch/>
        </p:blipFill>
        <p:spPr>
          <a:xfrm>
            <a:off x="276951" y="4447309"/>
            <a:ext cx="8548255" cy="195349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/>
          <a:srcRect l="17204" t="5398" r="17522" b="76988"/>
          <a:stretch/>
        </p:blipFill>
        <p:spPr>
          <a:xfrm>
            <a:off x="276951" y="2906266"/>
            <a:ext cx="8492976" cy="1288473"/>
          </a:xfrm>
          <a:prstGeom prst="rect">
            <a:avLst/>
          </a:prstGeom>
        </p:spPr>
      </p:pic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899748009"/>
              </p:ext>
            </p:extLst>
          </p:nvPr>
        </p:nvGraphicFramePr>
        <p:xfrm>
          <a:off x="249242" y="1463815"/>
          <a:ext cx="8625591" cy="2025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76951" y="2542117"/>
            <a:ext cx="5209449" cy="4286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i="1" dirty="0"/>
              <a:t>Practice 4: </a:t>
            </a:r>
            <a:r>
              <a:rPr lang="en-US" sz="1600" b="1" i="1" dirty="0">
                <a:solidFill>
                  <a:srgbClr val="FFFF00"/>
                </a:solidFill>
              </a:rPr>
              <a:t>week-3/practice_4/src/main.rs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9242" y="4238377"/>
            <a:ext cx="1154244" cy="36244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i="1" dirty="0">
                <a:solidFill>
                  <a:schemeClr val="bg1"/>
                </a:solidFill>
              </a:rPr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964404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77DE67F-32B1-4DF3-AB85-10E30FE8C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E77DE67F-32B1-4DF3-AB85-10E30FE8C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E77DE67F-32B1-4DF3-AB85-10E30FE8C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Character &amp; String Data Type</a:t>
            </a:r>
            <a:endParaRPr lang="en-GB" sz="4000" dirty="0"/>
          </a:p>
        </p:txBody>
      </p: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16991" t="5019" r="25508" b="59943"/>
          <a:stretch/>
        </p:blipFill>
        <p:spPr>
          <a:xfrm>
            <a:off x="249243" y="3241289"/>
            <a:ext cx="8498443" cy="2911451"/>
          </a:xfrm>
          <a:prstGeom prst="rect">
            <a:avLst/>
          </a:prstGeom>
        </p:spPr>
      </p:pic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997656831"/>
              </p:ext>
            </p:extLst>
          </p:nvPr>
        </p:nvGraphicFramePr>
        <p:xfrm>
          <a:off x="249242" y="1463815"/>
          <a:ext cx="8625591" cy="2025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49241" y="2924120"/>
            <a:ext cx="5112467" cy="4286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i="1" dirty="0"/>
              <a:t>Practice 5: </a:t>
            </a:r>
            <a:r>
              <a:rPr lang="en-US" sz="1600" b="1" i="1" dirty="0">
                <a:solidFill>
                  <a:srgbClr val="FFFF00"/>
                </a:solidFill>
              </a:rPr>
              <a:t>week-3/practice_5/src/main.rs</a:t>
            </a:r>
          </a:p>
        </p:txBody>
      </p:sp>
    </p:spTree>
    <p:extLst>
      <p:ext uri="{BB962C8B-B14F-4D97-AF65-F5344CB8AC3E}">
        <p14:creationId xmlns:p14="http://schemas.microsoft.com/office/powerpoint/2010/main" val="3733796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77DE67F-32B1-4DF3-AB85-10E30FE8C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E77DE67F-32B1-4DF3-AB85-10E30FE8C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E77DE67F-32B1-4DF3-AB85-10E30FE8C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Type Casting</a:t>
            </a:r>
            <a:endParaRPr lang="en-GB" sz="4000" dirty="0"/>
          </a:p>
        </p:txBody>
      </p: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499060869"/>
              </p:ext>
            </p:extLst>
          </p:nvPr>
        </p:nvGraphicFramePr>
        <p:xfrm>
          <a:off x="276951" y="1383452"/>
          <a:ext cx="8625591" cy="2025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8"/>
          <a:srcRect l="17095" t="5019" r="21037" b="75284"/>
          <a:stretch/>
        </p:blipFill>
        <p:spPr>
          <a:xfrm>
            <a:off x="276950" y="2423929"/>
            <a:ext cx="8049631" cy="144087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6951" y="2126472"/>
            <a:ext cx="3592651" cy="4286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i="1" dirty="0"/>
              <a:t>Practice 6: </a:t>
            </a:r>
            <a:r>
              <a:rPr lang="en-US" sz="1600" b="1" i="1" dirty="0">
                <a:solidFill>
                  <a:srgbClr val="FFFF00"/>
                </a:solidFill>
              </a:rPr>
              <a:t>week-3/practice_6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9"/>
          <a:srcRect l="8046" t="16382" r="29981" b="50456"/>
          <a:stretch/>
        </p:blipFill>
        <p:spPr>
          <a:xfrm>
            <a:off x="276951" y="4039165"/>
            <a:ext cx="8063346" cy="242580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76949" y="3864803"/>
            <a:ext cx="1154244" cy="36244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i="1" dirty="0">
                <a:solidFill>
                  <a:schemeClr val="bg1"/>
                </a:solidFill>
              </a:rPr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899910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77DE67F-32B1-4DF3-AB85-10E30FE8C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E77DE67F-32B1-4DF3-AB85-10E30FE8C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E77DE67F-32B1-4DF3-AB85-10E30FE8C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Number Separator</a:t>
            </a:r>
            <a:endParaRPr lang="en-GB" sz="4000" dirty="0"/>
          </a:p>
        </p:txBody>
      </p: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220732188"/>
              </p:ext>
            </p:extLst>
          </p:nvPr>
        </p:nvGraphicFramePr>
        <p:xfrm>
          <a:off x="249242" y="1463815"/>
          <a:ext cx="8625591" cy="2025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8"/>
          <a:srcRect l="8152" t="16572" r="26360" b="58312"/>
          <a:stretch/>
        </p:blipFill>
        <p:spPr>
          <a:xfrm>
            <a:off x="249242" y="4643726"/>
            <a:ext cx="8520685" cy="183728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9"/>
          <a:srcRect l="16991" t="5587" r="17736" b="71875"/>
          <a:stretch/>
        </p:blipFill>
        <p:spPr>
          <a:xfrm>
            <a:off x="304662" y="2759065"/>
            <a:ext cx="8492836" cy="16486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6951" y="2431277"/>
            <a:ext cx="5569667" cy="4286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i="1" dirty="0"/>
              <a:t>Practice 7: </a:t>
            </a:r>
            <a:r>
              <a:rPr lang="en-US" sz="1600" b="1" i="1" dirty="0">
                <a:solidFill>
                  <a:srgbClr val="FFFF00"/>
                </a:solidFill>
              </a:rPr>
              <a:t>week-3/practice_7/src/main.rs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9242" y="4421612"/>
            <a:ext cx="1154244" cy="36244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i="1" dirty="0">
                <a:solidFill>
                  <a:schemeClr val="bg1"/>
                </a:solidFill>
              </a:rPr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568027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77DE67F-32B1-4DF3-AB85-10E30FE8C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E77DE67F-32B1-4DF3-AB85-10E30FE8C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E77DE67F-32B1-4DF3-AB85-10E30FE8C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Variables and Mutability</a:t>
            </a:r>
            <a:endParaRPr lang="en-GB" sz="4000" dirty="0"/>
          </a:p>
        </p:txBody>
      </p: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17097" t="5207" r="18162" b="73055"/>
          <a:stretch/>
        </p:blipFill>
        <p:spPr>
          <a:xfrm>
            <a:off x="297802" y="2330678"/>
            <a:ext cx="8423564" cy="1590158"/>
          </a:xfrm>
          <a:prstGeom prst="rect">
            <a:avLst/>
          </a:prstGeom>
        </p:spPr>
      </p:pic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486657144"/>
              </p:ext>
            </p:extLst>
          </p:nvPr>
        </p:nvGraphicFramePr>
        <p:xfrm>
          <a:off x="249242" y="1380689"/>
          <a:ext cx="8625591" cy="646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9"/>
          <a:srcRect l="8259" t="16950" r="27266" b="48298"/>
          <a:stretch/>
        </p:blipFill>
        <p:spPr>
          <a:xfrm>
            <a:off x="311657" y="4073226"/>
            <a:ext cx="8388998" cy="254208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117133" y="2156825"/>
            <a:ext cx="5569667" cy="4286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i="1" dirty="0"/>
              <a:t>Practice 8: </a:t>
            </a:r>
            <a:r>
              <a:rPr lang="en-US" sz="1600" b="1" i="1" dirty="0">
                <a:solidFill>
                  <a:srgbClr val="FFFF00"/>
                </a:solidFill>
              </a:rPr>
              <a:t>week-3/practice_8/src/main.rs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32556" y="3948546"/>
            <a:ext cx="1154244" cy="36244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i="1" dirty="0">
                <a:solidFill>
                  <a:schemeClr val="bg1"/>
                </a:solidFill>
              </a:rPr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844558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77DE67F-32B1-4DF3-AB85-10E30FE8C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E77DE67F-32B1-4DF3-AB85-10E30FE8C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E77DE67F-32B1-4DF3-AB85-10E30FE8C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Variables and Mutability</a:t>
            </a:r>
            <a:endParaRPr lang="en-GB" sz="4000" dirty="0"/>
          </a:p>
        </p:txBody>
      </p: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8080" t="16721" r="27336" b="59376"/>
          <a:stretch/>
        </p:blipFill>
        <p:spPr>
          <a:xfrm>
            <a:off x="259737" y="4524052"/>
            <a:ext cx="8403000" cy="17485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l="16990" t="5019" r="18162" b="71686"/>
          <a:stretch/>
        </p:blipFill>
        <p:spPr>
          <a:xfrm>
            <a:off x="259737" y="2451153"/>
            <a:ext cx="8437418" cy="170411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59737" y="2133338"/>
            <a:ext cx="5569667" cy="4286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i="1" dirty="0"/>
              <a:t>Practice 9: </a:t>
            </a:r>
            <a:r>
              <a:rPr lang="en-US" sz="1600" b="1" i="1" dirty="0">
                <a:solidFill>
                  <a:srgbClr val="FFFF00"/>
                </a:solidFill>
              </a:rPr>
              <a:t>week-3/practice_9/src/main.rs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9242" y="4301940"/>
            <a:ext cx="1154244" cy="36244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i="1" dirty="0">
                <a:solidFill>
                  <a:schemeClr val="bg1"/>
                </a:solidFill>
              </a:rPr>
              <a:t>Output:</a:t>
            </a:r>
          </a:p>
        </p:txBody>
      </p: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2638579080"/>
              </p:ext>
            </p:extLst>
          </p:nvPr>
        </p:nvGraphicFramePr>
        <p:xfrm>
          <a:off x="249242" y="1460460"/>
          <a:ext cx="8447913" cy="608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108973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Debug the program</a:t>
            </a:r>
            <a:endParaRPr lang="en-GB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7203" t="5098" r="24438" b="37665"/>
          <a:stretch/>
        </p:blipFill>
        <p:spPr>
          <a:xfrm>
            <a:off x="262735" y="1888465"/>
            <a:ext cx="8183186" cy="4512335"/>
          </a:xfrm>
          <a:prstGeom prst="rect">
            <a:avLst/>
          </a:prstGeom>
        </p:spPr>
      </p:pic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62735" y="1459811"/>
            <a:ext cx="5569667" cy="4286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i="1" dirty="0"/>
              <a:t>Practice 10:</a:t>
            </a:r>
            <a:endParaRPr lang="en-US" sz="1600" b="1" i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8845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333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ST-Theme3">
  <a:themeElements>
    <a:clrScheme name="Custom 1">
      <a:dk1>
        <a:srgbClr val="002060"/>
      </a:dk1>
      <a:lt1>
        <a:srgbClr val="FFFFFF"/>
      </a:lt1>
      <a:dk2>
        <a:srgbClr val="09055B"/>
      </a:dk2>
      <a:lt2>
        <a:srgbClr val="FFFFFF"/>
      </a:lt2>
      <a:accent1>
        <a:srgbClr val="002060"/>
      </a:accent1>
      <a:accent2>
        <a:srgbClr val="002060"/>
      </a:accent2>
      <a:accent3>
        <a:srgbClr val="97BAFF"/>
      </a:accent3>
      <a:accent4>
        <a:srgbClr val="D5E3FF"/>
      </a:accent4>
      <a:accent5>
        <a:srgbClr val="002060"/>
      </a:accent5>
      <a:accent6>
        <a:srgbClr val="002060"/>
      </a:accent6>
      <a:hlink>
        <a:srgbClr val="DB5353"/>
      </a:hlink>
      <a:folHlink>
        <a:srgbClr val="90363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ST-Theme3" id="{19FA4AEF-6FF8-4EA7-B305-9BE5D4ECCCA5}" vid="{A328A429-1CDE-49DF-A990-0DFEB0585E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SST-Theme3</Template>
  <TotalTime>18963</TotalTime>
  <Words>668</Words>
  <Application>Microsoft Office PowerPoint</Application>
  <PresentationFormat>On-screen Show (4:3)</PresentationFormat>
  <Paragraphs>152</Paragraphs>
  <Slides>22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SST-Theme3</vt:lpstr>
      <vt:lpstr>Rust Cargo &amp; Data Types </vt:lpstr>
      <vt:lpstr>What is Cargo?</vt:lpstr>
      <vt:lpstr>Creating a Project with Cargo</vt:lpstr>
      <vt:lpstr>Creating a Project with Cargo</vt:lpstr>
      <vt:lpstr>Creating a Project with Cargo</vt:lpstr>
      <vt:lpstr>Building a Cargo Project</vt:lpstr>
      <vt:lpstr>Run a Cargo Project</vt:lpstr>
      <vt:lpstr>Track Compiled Files</vt:lpstr>
      <vt:lpstr>What is a Data Type?</vt:lpstr>
      <vt:lpstr>Rust Data (Scalar) Type?</vt:lpstr>
      <vt:lpstr>Declare Variables</vt:lpstr>
      <vt:lpstr>Integer Data Type</vt:lpstr>
      <vt:lpstr>Declare Variables</vt:lpstr>
      <vt:lpstr>Float Data Type</vt:lpstr>
      <vt:lpstr>Boolean Data Type</vt:lpstr>
      <vt:lpstr>Character &amp; String Data Type</vt:lpstr>
      <vt:lpstr>Type Casting</vt:lpstr>
      <vt:lpstr>Number Separator</vt:lpstr>
      <vt:lpstr>Variables and Mutability</vt:lpstr>
      <vt:lpstr>Variables and Mutability</vt:lpstr>
      <vt:lpstr>Debug the program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Moruson</dc:creator>
  <cp:lastModifiedBy>Moruson</cp:lastModifiedBy>
  <cp:revision>199</cp:revision>
  <dcterms:modified xsi:type="dcterms:W3CDTF">2025-10-25T16:43:10Z</dcterms:modified>
</cp:coreProperties>
</file>